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99" r:id="rId2"/>
    <p:sldId id="303" r:id="rId3"/>
    <p:sldId id="300" r:id="rId4"/>
    <p:sldId id="301" r:id="rId5"/>
    <p:sldId id="275" r:id="rId6"/>
    <p:sldId id="276" r:id="rId7"/>
    <p:sldId id="279" r:id="rId8"/>
    <p:sldId id="295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94660"/>
  </p:normalViewPr>
  <p:slideViewPr>
    <p:cSldViewPr snapToGrid="0">
      <p:cViewPr varScale="1">
        <p:scale>
          <a:sx n="88" d="100"/>
          <a:sy n="88" d="100"/>
        </p:scale>
        <p:origin x="225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07A57-47BC-45C1-B9EB-906F4463B0AB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838D7-8F53-414D-A178-F59763C42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873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4540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610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71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65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437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29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95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618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05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047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47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09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aiyon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172557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ECE4078  Intelligent robotics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E73F0-7AA3-4E8C-BC34-28C4D2A791F6}"/>
              </a:ext>
            </a:extLst>
          </p:cNvPr>
          <p:cNvSpPr txBox="1"/>
          <p:nvPr/>
        </p:nvSpPr>
        <p:spPr>
          <a:xfrm>
            <a:off x="735188" y="6316111"/>
            <a:ext cx="1072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Lab 4-2: Auto Navigation</a:t>
            </a:r>
            <a:endParaRPr lang="en-AU" dirty="0"/>
          </a:p>
        </p:txBody>
      </p:sp>
      <p:pic>
        <p:nvPicPr>
          <p:cNvPr id="2" name="Picture 1" descr="A robot standing in a store&#10;&#10;Description automatically generated">
            <a:extLst>
              <a:ext uri="{FF2B5EF4-FFF2-40B4-BE49-F238E27FC236}">
                <a16:creationId xmlns:a16="http://schemas.microsoft.com/office/drawing/2014/main" id="{1E81932C-8517-2D4E-1E2B-26EC22116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345" y="1138645"/>
            <a:ext cx="4580709" cy="4580709"/>
          </a:xfrm>
          <a:prstGeom prst="rect">
            <a:avLst/>
          </a:prstGeom>
        </p:spPr>
      </p:pic>
      <p:sp>
        <p:nvSpPr>
          <p:cNvPr id="3" name="CustomShape 2">
            <a:extLst>
              <a:ext uri="{FF2B5EF4-FFF2-40B4-BE49-F238E27FC236}">
                <a16:creationId xmlns:a16="http://schemas.microsoft.com/office/drawing/2014/main" id="{D4B20FBA-41A7-167C-7A9B-53316EF443B4}"/>
              </a:ext>
            </a:extLst>
          </p:cNvPr>
          <p:cNvSpPr/>
          <p:nvPr/>
        </p:nvSpPr>
        <p:spPr>
          <a:xfrm>
            <a:off x="735120" y="5730008"/>
            <a:ext cx="10721160" cy="4530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</a:rPr>
              <a:t>AI art generated by </a:t>
            </a: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  <a:hlinkClick r:id="rId3"/>
              </a:rPr>
              <a:t>https://www.craiyon.com/</a:t>
            </a:r>
            <a:endParaRPr lang="en-AU" sz="1200" b="0" strike="noStrike" spc="-1" dirty="0">
              <a:solidFill>
                <a:srgbClr val="FFFFFF"/>
              </a:solidFill>
              <a:latin typeface="Century Schoolbook"/>
            </a:endParaRPr>
          </a:p>
          <a:p>
            <a:pPr algn="ctr">
              <a:lnSpc>
                <a:spcPct val="100000"/>
              </a:lnSpc>
            </a:pP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</a:rPr>
              <a:t>(prompt: “</a:t>
            </a:r>
            <a:r>
              <a:rPr lang="en-GB" sz="1200" b="0" strike="noStrike" spc="-1" dirty="0">
                <a:solidFill>
                  <a:srgbClr val="FFFFFF"/>
                </a:solidFill>
                <a:latin typeface="Century Schoolbook"/>
              </a:rPr>
              <a:t>a penguin robot shopping for fruits and vegetables in a supermarket</a:t>
            </a: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</a:rPr>
              <a:t>”)</a:t>
            </a:r>
            <a:endParaRPr lang="en-AU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5987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5C07E8-772F-9D72-4AE8-D721B4BD09C4}"/>
              </a:ext>
            </a:extLst>
          </p:cNvPr>
          <p:cNvGraphicFramePr>
            <a:graphicFrameLocks/>
          </p:cNvGraphicFramePr>
          <p:nvPr/>
        </p:nvGraphicFramePr>
        <p:xfrm>
          <a:off x="1819740" y="1449174"/>
          <a:ext cx="8552520" cy="4511040"/>
        </p:xfrm>
        <a:graphic>
          <a:graphicData uri="http://schemas.openxmlformats.org/drawingml/2006/table">
            <a:tbl>
              <a:tblPr/>
              <a:tblGrid>
                <a:gridCol w="126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AU" sz="1600" b="1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Week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AU" sz="1600" b="1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Objectives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AU" sz="1600" b="1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Milestones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1: C1-1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Introduction and setup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dirty="0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2: M1-1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Calibration, ARUCO markers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C1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3: M1-2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SLAM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4: M1-3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SLAM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5: M2-1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Object recognition &amp; localisation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M1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6: M2-2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Object recognition &amp; localisation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dirty="0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7: M3-1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Navigation &amp; Planning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M2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8: M3-2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Navigation &amp; Planning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9: C2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Integration &amp; Improvement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M3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10: Final</a:t>
                      </a:r>
                      <a:endParaRPr lang="en-AU" sz="1600" b="0" strike="noStrike" spc="-1" dirty="0">
                        <a:latin typeface="+mn-lt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algn="ctr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Trial run of final demo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algn="ctr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+mn-lt"/>
                        </a:rPr>
                        <a:t>C2 due</a:t>
                      </a:r>
                      <a:endParaRPr lang="en-AU" sz="1600" b="0" strike="noStrike" spc="-1">
                        <a:latin typeface="+mn-lt"/>
                      </a:endParaRPr>
                    </a:p>
                  </a:txBody>
                  <a:tcPr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3148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11: Final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Final demo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Final demo due</a:t>
                      </a: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AU" sz="1600" b="0" strike="noStrike" spc="-1" dirty="0">
                        <a:latin typeface="+mn-lt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12: No lab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N/A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N/A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AB5ED37-806E-6906-72E2-8D9E8083C18F}"/>
              </a:ext>
            </a:extLst>
          </p:cNvPr>
          <p:cNvSpPr txBox="1"/>
          <p:nvPr/>
        </p:nvSpPr>
        <p:spPr>
          <a:xfrm>
            <a:off x="478180" y="172557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ECE4078  Intelligent robotics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9D2CD-BB9B-0B1D-2C9B-9759B04D5781}"/>
              </a:ext>
            </a:extLst>
          </p:cNvPr>
          <p:cNvSpPr txBox="1"/>
          <p:nvPr/>
        </p:nvSpPr>
        <p:spPr>
          <a:xfrm>
            <a:off x="1474591" y="4222794"/>
            <a:ext cx="325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D49F87-8011-D4FB-044B-BD613AFB7574}"/>
              </a:ext>
            </a:extLst>
          </p:cNvPr>
          <p:cNvCxnSpPr/>
          <p:nvPr/>
        </p:nvCxnSpPr>
        <p:spPr>
          <a:xfrm>
            <a:off x="1637548" y="1894540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8926AA-6B94-387D-18BD-387DA6C31572}"/>
              </a:ext>
            </a:extLst>
          </p:cNvPr>
          <p:cNvCxnSpPr/>
          <p:nvPr/>
        </p:nvCxnSpPr>
        <p:spPr>
          <a:xfrm>
            <a:off x="1640174" y="2267658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6F1A18-F69A-D271-AE41-57CE0A0E4F7D}"/>
              </a:ext>
            </a:extLst>
          </p:cNvPr>
          <p:cNvCxnSpPr/>
          <p:nvPr/>
        </p:nvCxnSpPr>
        <p:spPr>
          <a:xfrm>
            <a:off x="1637184" y="2635206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0474AE-EDFC-2229-5C82-1CE39EA0EC0C}"/>
              </a:ext>
            </a:extLst>
          </p:cNvPr>
          <p:cNvCxnSpPr/>
          <p:nvPr/>
        </p:nvCxnSpPr>
        <p:spPr>
          <a:xfrm>
            <a:off x="1658471" y="3037772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E2A225-4215-B7F2-A004-5B71FBA917E9}"/>
              </a:ext>
            </a:extLst>
          </p:cNvPr>
          <p:cNvCxnSpPr/>
          <p:nvPr/>
        </p:nvCxnSpPr>
        <p:spPr>
          <a:xfrm>
            <a:off x="1637184" y="3429000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A0C45A-827D-D2B5-1A59-756467452AED}"/>
              </a:ext>
            </a:extLst>
          </p:cNvPr>
          <p:cNvCxnSpPr/>
          <p:nvPr/>
        </p:nvCxnSpPr>
        <p:spPr>
          <a:xfrm>
            <a:off x="1637184" y="3768142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AD6670-A7BA-BC54-5EA9-0556084E8F87}"/>
              </a:ext>
            </a:extLst>
          </p:cNvPr>
          <p:cNvCxnSpPr/>
          <p:nvPr/>
        </p:nvCxnSpPr>
        <p:spPr>
          <a:xfrm>
            <a:off x="1637184" y="4075818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58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Navigation and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M3 focuses on navigation and planning</a:t>
            </a:r>
          </a:p>
          <a:p>
            <a:r>
              <a:rPr lang="en-US" dirty="0"/>
              <a:t>	</a:t>
            </a:r>
            <a:r>
              <a:rPr lang="en-US" dirty="0" err="1"/>
              <a:t>PenguinPi</a:t>
            </a:r>
            <a:r>
              <a:rPr lang="en-US" dirty="0"/>
              <a:t> now knows where things are and needs to plan its way around the supermarket and get 	</a:t>
            </a:r>
            <a:r>
              <a:rPr lang="en-US" dirty="0" err="1"/>
              <a:t>fruits&amp;vegs</a:t>
            </a:r>
            <a:r>
              <a:rPr lang="en-US" dirty="0"/>
              <a:t> on its shopping list</a:t>
            </a:r>
          </a:p>
          <a:p>
            <a:endParaRPr lang="en-US" dirty="0"/>
          </a:p>
          <a:p>
            <a:r>
              <a:rPr lang="en-US" dirty="0"/>
              <a:t>	Your task will be to semi OR fully autonomously navigate and path plan around the arena to targets 	in a specified order. For level 4, you do not need to follow the specified order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The arena will always contain:</a:t>
            </a:r>
          </a:p>
          <a:p>
            <a:r>
              <a:rPr lang="en-US" dirty="0"/>
              <a:t>	10 </a:t>
            </a:r>
            <a:r>
              <a:rPr lang="en-US" dirty="0" err="1"/>
              <a:t>ArUco</a:t>
            </a:r>
            <a:r>
              <a:rPr lang="en-US" dirty="0"/>
              <a:t> markers</a:t>
            </a:r>
          </a:p>
          <a:p>
            <a:r>
              <a:rPr lang="en-US" dirty="0"/>
              <a:t>	10 </a:t>
            </a:r>
            <a:r>
              <a:rPr lang="en-US" dirty="0" err="1"/>
              <a:t>Fruits&amp;Vegs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Groundtruth</a:t>
            </a:r>
            <a:r>
              <a:rPr lang="en-US" dirty="0"/>
              <a:t> maps are given for M4 ONLY (practice map in repo)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will be given a shopping list that contains 5 targets in the order for the robot to navigate to</a:t>
            </a:r>
          </a:p>
          <a:p>
            <a:r>
              <a:rPr lang="en-US" dirty="0"/>
              <a:t>	The 5 targets will be unique, the 5 obstacles may contain duplicates of other types</a:t>
            </a:r>
          </a:p>
          <a:p>
            <a:endParaRPr lang="en-US" dirty="0"/>
          </a:p>
          <a:p>
            <a:r>
              <a:rPr lang="en-US" dirty="0"/>
              <a:t>	To “pick up” a target you must stop the robot for 2 seconds (doesn’t need to be exact) whilst being 	</a:t>
            </a:r>
            <a:r>
              <a:rPr lang="en-US"/>
              <a:t>within 0.3m </a:t>
            </a:r>
            <a:r>
              <a:rPr lang="en-US" dirty="0"/>
              <a:t>of the target. Intention of picking up the fruit needs to be shown in the GUI or terminal.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232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auto nav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1: </a:t>
            </a:r>
          </a:p>
          <a:p>
            <a:r>
              <a:rPr lang="en-US" dirty="0"/>
              <a:t>	semi-auto navigation with manually given waypoints and known</a:t>
            </a:r>
          </a:p>
          <a:p>
            <a:endParaRPr lang="en-US" dirty="0"/>
          </a:p>
          <a:p>
            <a:r>
              <a:rPr lang="en-US" dirty="0"/>
              <a:t>Level 2: </a:t>
            </a:r>
          </a:p>
          <a:p>
            <a:r>
              <a:rPr lang="en-US" dirty="0"/>
              <a:t>	auto navigation with known map (waypoints produced by your path planer)</a:t>
            </a:r>
          </a:p>
          <a:p>
            <a:endParaRPr lang="en-US" dirty="0"/>
          </a:p>
          <a:p>
            <a:r>
              <a:rPr lang="en-US" dirty="0"/>
              <a:t>Level 3: </a:t>
            </a:r>
          </a:p>
          <a:p>
            <a:r>
              <a:rPr lang="en-US" dirty="0"/>
              <a:t>	auto nav with partially known map (use M3 to detect obstacles and replan once an obstacle is seen)</a:t>
            </a:r>
          </a:p>
          <a:p>
            <a:endParaRPr lang="en-US" dirty="0"/>
          </a:p>
          <a:p>
            <a:r>
              <a:rPr lang="en-US" dirty="0"/>
              <a:t>Level 4:</a:t>
            </a:r>
          </a:p>
          <a:p>
            <a:r>
              <a:rPr lang="en-US" dirty="0"/>
              <a:t>	auto nav with partially known map (use M3 to detect targets/obstacles and replan once those objects are seen). You will also need to explore the arena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do this by modifying “</a:t>
            </a:r>
            <a:r>
              <a:rPr lang="en-US" i="1" dirty="0"/>
              <a:t>auto_fruit_search.py</a:t>
            </a:r>
            <a:r>
              <a:rPr lang="en-US" dirty="0"/>
              <a:t>” or write your own scripts</a:t>
            </a:r>
          </a:p>
        </p:txBody>
      </p:sp>
    </p:spTree>
    <p:extLst>
      <p:ext uri="{BB962C8B-B14F-4D97-AF65-F5344CB8AC3E}">
        <p14:creationId xmlns:p14="http://schemas.microsoft.com/office/powerpoint/2010/main" val="420905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Occupancy 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order for our robot to autonomously plan a path it first needs to build an occupancy map</a:t>
            </a:r>
          </a:p>
          <a:p>
            <a:r>
              <a:rPr lang="en-US" dirty="0"/>
              <a:t>To do this we can </a:t>
            </a:r>
            <a:r>
              <a:rPr lang="en-US" dirty="0" err="1"/>
              <a:t>voxelise</a:t>
            </a:r>
            <a:r>
              <a:rPr lang="en-US" dirty="0"/>
              <a:t> the true map given to us where a 0 represents a free space and 1 an obstacle </a:t>
            </a:r>
          </a:p>
          <a:p>
            <a:endParaRPr lang="en-US" dirty="0"/>
          </a:p>
          <a:p>
            <a:r>
              <a:rPr lang="en-US" dirty="0"/>
              <a:t>Using the OpenCV cv2.circle() function we can draw obstacles with a given safety radius</a:t>
            </a:r>
          </a:p>
          <a:p>
            <a:endParaRPr lang="en-US" dirty="0"/>
          </a:p>
          <a:p>
            <a:r>
              <a:rPr lang="en-US" dirty="0"/>
              <a:t>Below is an example, note that different fruits are used in this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6D69E8-5612-08F7-51DB-BBC26C5D5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" t="337" r="67082"/>
          <a:stretch/>
        </p:blipFill>
        <p:spPr>
          <a:xfrm>
            <a:off x="7328431" y="3088393"/>
            <a:ext cx="2872369" cy="288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EFF8B2-BA00-20B9-E24F-B2EEAD686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1" t="1519" r="1265" b="939"/>
          <a:stretch/>
        </p:blipFill>
        <p:spPr>
          <a:xfrm>
            <a:off x="2006415" y="3088393"/>
            <a:ext cx="2891413" cy="288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30EB13-1DB1-35D4-E538-2ABB7A7370ED}"/>
              </a:ext>
            </a:extLst>
          </p:cNvPr>
          <p:cNvSpPr txBox="1"/>
          <p:nvPr/>
        </p:nvSpPr>
        <p:spPr>
          <a:xfrm>
            <a:off x="3064701" y="5881896"/>
            <a:ext cx="98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1F81B-FCDB-8103-2837-91B520811DD1}"/>
              </a:ext>
            </a:extLst>
          </p:cNvPr>
          <p:cNvSpPr txBox="1"/>
          <p:nvPr/>
        </p:nvSpPr>
        <p:spPr>
          <a:xfrm>
            <a:off x="7970075" y="5881896"/>
            <a:ext cx="210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Occupancy 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0EBC5-CC5F-383D-C2B1-CEB9EE21CB81}"/>
              </a:ext>
            </a:extLst>
          </p:cNvPr>
          <p:cNvSpPr txBox="1"/>
          <p:nvPr/>
        </p:nvSpPr>
        <p:spPr>
          <a:xfrm>
            <a:off x="5683752" y="3253170"/>
            <a:ext cx="15064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Apple is the goal therefore not counted as an obstacle</a:t>
            </a:r>
            <a:endParaRPr lang="en-AU" sz="1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C1C9DE-DFF8-BE07-4AE9-975D83FEF641}"/>
              </a:ext>
            </a:extLst>
          </p:cNvPr>
          <p:cNvCxnSpPr>
            <a:cxnSpLocks/>
          </p:cNvCxnSpPr>
          <p:nvPr/>
        </p:nvCxnSpPr>
        <p:spPr>
          <a:xfrm flipV="1">
            <a:off x="6884894" y="3273737"/>
            <a:ext cx="515825" cy="1388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59448F8-A8FE-FB35-BB81-1FF56A86EC7F}"/>
              </a:ext>
            </a:extLst>
          </p:cNvPr>
          <p:cNvSpPr txBox="1"/>
          <p:nvPr/>
        </p:nvSpPr>
        <p:spPr>
          <a:xfrm>
            <a:off x="478179" y="6315505"/>
            <a:ext cx="11527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Be careful when selecting the radius of the circles, too small and you run the risk of crashing into obstacles while too large can make some areas of the map unreachable</a:t>
            </a:r>
          </a:p>
        </p:txBody>
      </p:sp>
    </p:spTree>
    <p:extLst>
      <p:ext uri="{BB962C8B-B14F-4D97-AF65-F5344CB8AC3E}">
        <p14:creationId xmlns:p14="http://schemas.microsoft.com/office/powerpoint/2010/main" val="3633391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Path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an occupancy map is created you can then implement a path planning algorithm of your choice</a:t>
            </a:r>
          </a:p>
          <a:p>
            <a:endParaRPr lang="en-US" dirty="0"/>
          </a:p>
          <a:p>
            <a:r>
              <a:rPr lang="en-US" dirty="0"/>
              <a:t>If you want to generate the shortest path possible then you can use Dijkstra algorithm</a:t>
            </a:r>
          </a:p>
          <a:p>
            <a:r>
              <a:rPr lang="en-US" dirty="0"/>
              <a:t>	Step 1: Generate a distance map from the goal point</a:t>
            </a:r>
          </a:p>
          <a:p>
            <a:r>
              <a:rPr lang="en-US" dirty="0"/>
              <a:t>	       Starting from the goal location, propagate the distance from the goal until </a:t>
            </a:r>
          </a:p>
          <a:p>
            <a:r>
              <a:rPr lang="en-US" dirty="0"/>
              <a:t>		the whole map is filled</a:t>
            </a:r>
          </a:p>
          <a:p>
            <a:endParaRPr lang="en-US" dirty="0"/>
          </a:p>
          <a:p>
            <a:r>
              <a:rPr lang="en-US" dirty="0"/>
              <a:t>		Selecting any point in this image will tell you the shortest distance to the</a:t>
            </a:r>
          </a:p>
          <a:p>
            <a:r>
              <a:rPr lang="en-US" dirty="0"/>
              <a:t>		goal point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Step 2: Generate the shortest path</a:t>
            </a:r>
          </a:p>
          <a:p>
            <a:r>
              <a:rPr lang="en-US" dirty="0"/>
              <a:t>		Select a starting point on the image, look at the point’s nearest neighbors</a:t>
            </a:r>
          </a:p>
          <a:p>
            <a:r>
              <a:rPr lang="en-US" dirty="0"/>
              <a:t>		and then select the neighbor with the smallest distance value.</a:t>
            </a:r>
          </a:p>
          <a:p>
            <a:endParaRPr lang="en-US" dirty="0"/>
          </a:p>
          <a:p>
            <a:r>
              <a:rPr lang="en-US" dirty="0"/>
              <a:t>		Continue selecting the nearest neighbors with the smallest distance value</a:t>
            </a:r>
          </a:p>
          <a:p>
            <a:r>
              <a:rPr lang="en-US" dirty="0"/>
              <a:t>		until you reach the goal point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34D674-BC2E-5075-BB92-226D62719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78" t="690" r="33832" b="1"/>
          <a:stretch/>
        </p:blipFill>
        <p:spPr>
          <a:xfrm>
            <a:off x="9520519" y="1756769"/>
            <a:ext cx="2330824" cy="2348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9A5DBC-D59F-05BB-DA87-A7019B1EB6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78" t="690" r="33832" b="1"/>
          <a:stretch/>
        </p:blipFill>
        <p:spPr>
          <a:xfrm>
            <a:off x="9520519" y="4440470"/>
            <a:ext cx="2330824" cy="2348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B668AB-47DF-E6EC-CFE8-AD898B1BD3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9500378" y="4440470"/>
            <a:ext cx="2350965" cy="234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Path Following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that we have generated a path, how do we get the robot to follow it?</a:t>
            </a:r>
          </a:p>
          <a:p>
            <a:r>
              <a:rPr lang="en-US" dirty="0"/>
              <a:t>We can copy what we did in “auto_fruit_search.py” and set waypoints along the generated path</a:t>
            </a:r>
          </a:p>
          <a:p>
            <a:endParaRPr lang="en-US" dirty="0"/>
          </a:p>
          <a:p>
            <a:r>
              <a:rPr lang="en-US" dirty="0"/>
              <a:t>Dijkstra algorithm may generate the shortest path to goal, however it may not be the easiest and reliable path to follow</a:t>
            </a:r>
          </a:p>
          <a:p>
            <a:endParaRPr lang="en-US" dirty="0"/>
          </a:p>
          <a:p>
            <a:r>
              <a:rPr lang="en-US" dirty="0"/>
              <a:t>Getting the robot to follow curves is difficult, ideally the most optimal path to follow in terms of reliability is one that uses the minimum amount of strait lines.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make the path following aspect easier by:</a:t>
            </a:r>
          </a:p>
          <a:p>
            <a:r>
              <a:rPr lang="en-US" dirty="0"/>
              <a:t>	- Generate the occupancy map with cv2.rectangle() instead of cv2.circle() </a:t>
            </a:r>
          </a:p>
          <a:p>
            <a:r>
              <a:rPr lang="en-US" dirty="0"/>
              <a:t>	- Simplify the curve by using cv2.approxPolyDP()</a:t>
            </a:r>
          </a:p>
          <a:p>
            <a:r>
              <a:rPr lang="en-US" dirty="0"/>
              <a:t>	- Use rapidly-exploring random tree (RRT) instead of Dijkstra to generate straight </a:t>
            </a:r>
            <a:br>
              <a:rPr lang="en-US" dirty="0"/>
            </a:br>
            <a:r>
              <a:rPr lang="en-US" dirty="0"/>
              <a:t>	line paths only (however RRT may use many zig-zagged strait lines to get to the goal)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59830-775D-F909-5DA0-517B5A246D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47" r="66730"/>
          <a:stretch/>
        </p:blipFill>
        <p:spPr>
          <a:xfrm>
            <a:off x="10402852" y="3173506"/>
            <a:ext cx="1789148" cy="1800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D59E3DD-4E8C-650B-D471-4AC2ABEE8747}"/>
              </a:ext>
            </a:extLst>
          </p:cNvPr>
          <p:cNvGrpSpPr/>
          <p:nvPr/>
        </p:nvGrpSpPr>
        <p:grpSpPr>
          <a:xfrm>
            <a:off x="10392000" y="5050621"/>
            <a:ext cx="1800000" cy="1800000"/>
            <a:chOff x="4710381" y="1991387"/>
            <a:chExt cx="4006258" cy="40597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2CCF64D-35F3-D9FC-3825-DAA6CE4BC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775" t="2456" r="33365"/>
            <a:stretch/>
          </p:blipFill>
          <p:spPr>
            <a:xfrm>
              <a:off x="4710382" y="1991387"/>
              <a:ext cx="4006257" cy="405971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D04DF3A-11ED-6B84-EE51-3732096EF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70000"/>
            </a:blip>
            <a:srcRect l="67140" t="2455"/>
            <a:stretch/>
          </p:blipFill>
          <p:spPr>
            <a:xfrm>
              <a:off x="4710381" y="1991387"/>
              <a:ext cx="4006257" cy="40597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947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Live demo marking in wk9 using new arena</a:t>
            </a:r>
          </a:p>
          <a:p>
            <a:endParaRPr lang="en-US" dirty="0"/>
          </a:p>
          <a:p>
            <a:r>
              <a:rPr lang="en-US" dirty="0"/>
              <a:t>Each of the 3 levels have different marks associated</a:t>
            </a:r>
          </a:p>
          <a:p>
            <a:r>
              <a:rPr lang="en-US" b="1" dirty="0"/>
              <a:t>	Level 1</a:t>
            </a:r>
            <a:r>
              <a:rPr lang="en-US" dirty="0"/>
              <a:t>: (Total marks: 50pt)</a:t>
            </a:r>
          </a:p>
          <a:p>
            <a:r>
              <a:rPr lang="en-US" dirty="0"/>
              <a:t>		For each successful navigation in order +10pts</a:t>
            </a:r>
          </a:p>
          <a:p>
            <a:endParaRPr lang="en-US" dirty="0"/>
          </a:p>
          <a:p>
            <a:r>
              <a:rPr lang="en-US" b="1" dirty="0"/>
              <a:t>	Level 2</a:t>
            </a:r>
            <a:r>
              <a:rPr lang="en-US" dirty="0"/>
              <a:t>: (Total marks: 20pt)</a:t>
            </a:r>
          </a:p>
          <a:p>
            <a:r>
              <a:rPr lang="en-US" dirty="0"/>
              <a:t>		You get the Lv1 50pt if you can </a:t>
            </a:r>
            <a:r>
              <a:rPr lang="en-US" b="1" dirty="0"/>
              <a:t>achieve a qualified run </a:t>
            </a:r>
            <a:r>
              <a:rPr lang="en-US" dirty="0"/>
              <a:t>in Lv2</a:t>
            </a:r>
          </a:p>
          <a:p>
            <a:r>
              <a:rPr lang="en-US" dirty="0"/>
              <a:t>		For each successful navigation in order +4pts</a:t>
            </a:r>
          </a:p>
          <a:p>
            <a:endParaRPr lang="en-US" dirty="0"/>
          </a:p>
          <a:p>
            <a:r>
              <a:rPr lang="en-US" b="1" dirty="0"/>
              <a:t>	Level 3</a:t>
            </a:r>
            <a:r>
              <a:rPr lang="en-US" dirty="0"/>
              <a:t>: (Total marks: 15pt)</a:t>
            </a:r>
          </a:p>
          <a:p>
            <a:r>
              <a:rPr lang="en-US" dirty="0"/>
              <a:t>		You get the Lv1+Lv2 70pt if you can </a:t>
            </a:r>
            <a:r>
              <a:rPr lang="en-US" b="1" dirty="0"/>
              <a:t>achieve a qualified run </a:t>
            </a:r>
            <a:r>
              <a:rPr lang="en-US" dirty="0"/>
              <a:t>in Lv3</a:t>
            </a:r>
          </a:p>
          <a:p>
            <a:r>
              <a:rPr lang="en-US" dirty="0"/>
              <a:t>		For each successful navigation in order +3pts</a:t>
            </a:r>
          </a:p>
          <a:p>
            <a:endParaRPr lang="en-US" dirty="0"/>
          </a:p>
          <a:p>
            <a:r>
              <a:rPr lang="en-US" b="1" dirty="0"/>
              <a:t>	Level 4</a:t>
            </a:r>
            <a:r>
              <a:rPr lang="en-US" dirty="0"/>
              <a:t>: (Total marks: 15pt)</a:t>
            </a:r>
          </a:p>
          <a:p>
            <a:r>
              <a:rPr lang="en-US" dirty="0"/>
              <a:t>		You get the Lv1+Lv2+Lv3 85pt if you can </a:t>
            </a:r>
            <a:r>
              <a:rPr lang="en-US" b="1" dirty="0"/>
              <a:t>achieve a qualified run </a:t>
            </a:r>
            <a:r>
              <a:rPr lang="en-US" dirty="0"/>
              <a:t>in Lv4</a:t>
            </a:r>
          </a:p>
          <a:p>
            <a:r>
              <a:rPr lang="en-US" dirty="0"/>
              <a:t>		For each successful navigation in order +3pts</a:t>
            </a:r>
          </a:p>
          <a:p>
            <a:r>
              <a:rPr lang="en-US" dirty="0"/>
              <a:t>You will receive penalties if:</a:t>
            </a:r>
          </a:p>
          <a:p>
            <a:r>
              <a:rPr lang="en-US" dirty="0"/>
              <a:t>	Robot collides with marker/object (-5pt)</a:t>
            </a:r>
          </a:p>
          <a:p>
            <a:r>
              <a:rPr lang="en-US" dirty="0"/>
              <a:t>	Robot touches the  arena boundaries (-5pt)</a:t>
            </a:r>
          </a:p>
          <a:p>
            <a:r>
              <a:rPr lang="en-US" dirty="0"/>
              <a:t>	Max 5 penalties allowed: Fifth time a penalty happens that run is stopped</a:t>
            </a:r>
          </a:p>
        </p:txBody>
      </p:sp>
    </p:spTree>
    <p:extLst>
      <p:ext uri="{BB962C8B-B14F-4D97-AF65-F5344CB8AC3E}">
        <p14:creationId xmlns:p14="http://schemas.microsoft.com/office/powerpoint/2010/main" val="2366890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Marking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697267"/>
            <a:ext cx="1152700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(see M3_marking.md for more info)</a:t>
            </a:r>
          </a:p>
          <a:p>
            <a:endParaRPr lang="en-US" dirty="0"/>
          </a:p>
          <a:p>
            <a:r>
              <a:rPr lang="en-US" dirty="0"/>
              <a:t>No more than 5 penalties (collision) applied in a run and no more than 5 penalties allowed. After the 5</a:t>
            </a:r>
            <a:r>
              <a:rPr lang="en-US" baseline="30000" dirty="0"/>
              <a:t>th</a:t>
            </a:r>
            <a:r>
              <a:rPr lang="en-US" dirty="0"/>
              <a:t> time, the run is stopped and marks are awarded if run is qualified.</a:t>
            </a:r>
          </a:p>
          <a:p>
            <a:endParaRPr lang="en-US" dirty="0"/>
          </a:p>
          <a:p>
            <a:r>
              <a:rPr lang="en-US" dirty="0"/>
              <a:t>End condition to achieve a qualified run: Your robot attempts to navigate to (stop past within 0.5m radius) 3/4 targets in order (skips allowed) for lvl2/lvl3 and 5 targets in any order for lv4. (You will only get marks for targets navigated in order and if it is a qualified run or level 1) </a:t>
            </a:r>
          </a:p>
          <a:p>
            <a:r>
              <a:rPr lang="en-US" dirty="0"/>
              <a:t>You have to show a qualified Lv2/Lv3/Lv4 run to get marked by the Lv2/Lv3/Lv4 formula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entire </a:t>
            </a:r>
            <a:r>
              <a:rPr lang="en-US" dirty="0"/>
              <a:t>robot needs to </a:t>
            </a:r>
            <a:r>
              <a:rPr lang="en-US" b="1" dirty="0"/>
              <a:t>stop </a:t>
            </a:r>
            <a:r>
              <a:rPr lang="en-US" dirty="0"/>
              <a:t>within the 0.3m radius to count as successful navigation to that target</a:t>
            </a:r>
          </a:p>
          <a:p>
            <a:endParaRPr lang="en-US" dirty="0"/>
          </a:p>
          <a:p>
            <a:r>
              <a:rPr lang="en-US" dirty="0"/>
              <a:t>If we don’t see appropriate implementation of navigation and path planning in your codes for the level you are attempting you’ll get 0pt for M3</a:t>
            </a:r>
          </a:p>
          <a:p>
            <a:endParaRPr lang="en-US" dirty="0"/>
          </a:p>
          <a:p>
            <a:r>
              <a:rPr lang="en-US" dirty="0"/>
              <a:t>If we find that your Level 3 (auto nav with partial map) made use of the full map you’ll get 0pt for M4. The same goes for level 4.</a:t>
            </a:r>
          </a:p>
          <a:p>
            <a:endParaRPr lang="en-US" dirty="0"/>
          </a:p>
          <a:p>
            <a:r>
              <a:rPr lang="en-US" dirty="0"/>
              <a:t>You are only allowed ONE COMMAND to launch auto nav in Lv2&amp;Lv3&amp;Lv4. No teleoperation allowed in any levels (you’ll get 0pt for M4 if you are suspected of teleoperating during the demo). Once you have a qualified run, you are allowed to stop the robot at any time.</a:t>
            </a:r>
          </a:p>
          <a:p>
            <a:r>
              <a:rPr lang="en-US" dirty="0"/>
              <a:t>Successful navigation / collision avoidance by luck will not give you marks for those targets</a:t>
            </a:r>
          </a:p>
        </p:txBody>
      </p:sp>
    </p:spTree>
    <p:extLst>
      <p:ext uri="{BB962C8B-B14F-4D97-AF65-F5344CB8AC3E}">
        <p14:creationId xmlns:p14="http://schemas.microsoft.com/office/powerpoint/2010/main" val="98795188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3577</TotalTime>
  <Words>1354</Words>
  <Application>Microsoft Office PowerPoint</Application>
  <PresentationFormat>Widescreen</PresentationFormat>
  <Paragraphs>151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</dc:creator>
  <cp:lastModifiedBy>Morris Gu</cp:lastModifiedBy>
  <cp:revision>366</cp:revision>
  <dcterms:created xsi:type="dcterms:W3CDTF">2020-08-07T03:38:28Z</dcterms:created>
  <dcterms:modified xsi:type="dcterms:W3CDTF">2025-09-18T01:11:54Z</dcterms:modified>
</cp:coreProperties>
</file>