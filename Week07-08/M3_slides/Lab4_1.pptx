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99" r:id="rId2"/>
    <p:sldId id="302" r:id="rId3"/>
    <p:sldId id="275" r:id="rId4"/>
    <p:sldId id="294" r:id="rId5"/>
    <p:sldId id="293" r:id="rId6"/>
    <p:sldId id="265" r:id="rId7"/>
    <p:sldId id="300" r:id="rId8"/>
    <p:sldId id="295" r:id="rId9"/>
    <p:sldId id="303" r:id="rId10"/>
    <p:sldId id="30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2" y="-1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407A57-47BC-45C1-B9EB-906F4463B0AB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7838D7-8F53-414D-A178-F59763C4260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3873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87D78-2EE9-41F4-B16B-B1F9C18C70C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4424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D87D78-2EE9-41F4-B16B-B1F9C18C70C2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076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04540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610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77718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7658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24378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7529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67953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61842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02053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047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647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205BC88-DBF0-4610-A802-A09E0A6ECD22}" type="datetimeFigureOut">
              <a:rPr lang="en-AU" smtClean="0"/>
              <a:t>18/09/2025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66E8694-4F18-4E32-9A46-A94098D129B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8094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raiyon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172557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ECE4078  Intelligent robotics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DE73F0-7AA3-4E8C-BC34-28C4D2A791F6}"/>
              </a:ext>
            </a:extLst>
          </p:cNvPr>
          <p:cNvSpPr txBox="1"/>
          <p:nvPr/>
        </p:nvSpPr>
        <p:spPr>
          <a:xfrm>
            <a:off x="735188" y="6316111"/>
            <a:ext cx="10721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Lab 4-1: Semi-Auto Navigation</a:t>
            </a:r>
            <a:endParaRPr lang="en-AU" dirty="0"/>
          </a:p>
        </p:txBody>
      </p:sp>
      <p:pic>
        <p:nvPicPr>
          <p:cNvPr id="2" name="Picture 1" descr="A robot standing in a store&#10;&#10;Description automatically generated">
            <a:extLst>
              <a:ext uri="{FF2B5EF4-FFF2-40B4-BE49-F238E27FC236}">
                <a16:creationId xmlns:a16="http://schemas.microsoft.com/office/drawing/2014/main" id="{1E81932C-8517-2D4E-1E2B-26EC22116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5345" y="1138645"/>
            <a:ext cx="4580709" cy="4580709"/>
          </a:xfrm>
          <a:prstGeom prst="rect">
            <a:avLst/>
          </a:prstGeom>
        </p:spPr>
      </p:pic>
      <p:sp>
        <p:nvSpPr>
          <p:cNvPr id="3" name="CustomShape 2">
            <a:extLst>
              <a:ext uri="{FF2B5EF4-FFF2-40B4-BE49-F238E27FC236}">
                <a16:creationId xmlns:a16="http://schemas.microsoft.com/office/drawing/2014/main" id="{D4B20FBA-41A7-167C-7A9B-53316EF443B4}"/>
              </a:ext>
            </a:extLst>
          </p:cNvPr>
          <p:cNvSpPr/>
          <p:nvPr/>
        </p:nvSpPr>
        <p:spPr>
          <a:xfrm>
            <a:off x="735120" y="5730008"/>
            <a:ext cx="10721160" cy="45307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</a:pP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AI art generated by </a:t>
            </a: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  <a:hlinkClick r:id="rId3"/>
              </a:rPr>
              <a:t>https://www.craiyon.com/</a:t>
            </a:r>
            <a:endParaRPr lang="en-AU" sz="1200" b="0" strike="noStrike" spc="-1" dirty="0">
              <a:solidFill>
                <a:srgbClr val="FFFFFF"/>
              </a:solidFill>
              <a:latin typeface="Century Schoolbook"/>
            </a:endParaRPr>
          </a:p>
          <a:p>
            <a:pPr algn="ctr">
              <a:lnSpc>
                <a:spcPct val="100000"/>
              </a:lnSpc>
            </a:pP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(prompt: “</a:t>
            </a:r>
            <a:r>
              <a:rPr lang="en-GB" sz="1200" b="0" strike="noStrike" spc="-1" dirty="0">
                <a:solidFill>
                  <a:srgbClr val="FFFFFF"/>
                </a:solidFill>
                <a:latin typeface="Century Schoolbook"/>
              </a:rPr>
              <a:t>a penguin robot shopping for fruits and vegetables in a supermarket</a:t>
            </a:r>
            <a:r>
              <a:rPr lang="en-AU" sz="1200" b="0" strike="noStrike" spc="-1" dirty="0">
                <a:solidFill>
                  <a:srgbClr val="FFFFFF"/>
                </a:solidFill>
                <a:latin typeface="Century Schoolbook"/>
              </a:rPr>
              <a:t>”)</a:t>
            </a:r>
            <a:endParaRPr lang="en-AU" sz="12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5987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5C07E8-772F-9D72-4AE8-D721B4BD09C4}"/>
              </a:ext>
            </a:extLst>
          </p:cNvPr>
          <p:cNvGraphicFramePr>
            <a:graphicFrameLocks/>
          </p:cNvGraphicFramePr>
          <p:nvPr/>
        </p:nvGraphicFramePr>
        <p:xfrm>
          <a:off x="1819740" y="1449174"/>
          <a:ext cx="8552520" cy="4511040"/>
        </p:xfrm>
        <a:graphic>
          <a:graphicData uri="http://schemas.openxmlformats.org/drawingml/2006/table">
            <a:tbl>
              <a:tblPr/>
              <a:tblGrid>
                <a:gridCol w="126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02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Week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Objectives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en-AU" sz="1600" b="1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Milestones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1: C1-1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Introduction and setup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dirty="0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2: M1-1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Calibration, ARUCO markers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C1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3: M1-2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SLAM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4: M1-3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SLAM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5: M2-1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Object recognition &amp; localisation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M1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6: M2-2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Object recognition &amp; localisation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 dirty="0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7: M3-1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Century Schoolbook"/>
                        </a:rPr>
                        <a:t>Navigation &amp; Planning</a:t>
                      </a:r>
                      <a:endParaRPr lang="en-AU" sz="1600" b="0" strike="noStrike" spc="-1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M2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8: M3-2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Navigation &amp; Planning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endParaRPr lang="en-US"/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9: C2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Integration &amp; Improvement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M3 due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10: Final</a:t>
                      </a:r>
                      <a:endParaRPr lang="en-AU" sz="1600" b="0" strike="noStrike" spc="-1" dirty="0">
                        <a:latin typeface="+mn-lt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Trial run of final demo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>
                          <a:solidFill>
                            <a:srgbClr val="000000"/>
                          </a:solidFill>
                          <a:latin typeface="+mn-lt"/>
                        </a:rPr>
                        <a:t>C2 due</a:t>
                      </a:r>
                      <a:endParaRPr lang="en-AU" sz="1600" b="0" strike="noStrike" spc="-1">
                        <a:latin typeface="+mn-lt"/>
                      </a:endParaRPr>
                    </a:p>
                  </a:txBody>
                  <a:tcPr>
                    <a:lnL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73148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11: Final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Final demo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Final demo due</a:t>
                      </a: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Arial"/>
                        </a:rPr>
                        <a:t> </a:t>
                      </a:r>
                      <a:endParaRPr lang="en-AU" sz="1600" b="0" strike="noStrike" spc="-1" dirty="0">
                        <a:latin typeface="+mn-lt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E7E7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5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12: No lab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N/A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defRPr/>
                      </a:pPr>
                      <a:r>
                        <a:rPr lang="en-AU" sz="1600" b="0" strike="noStrike" spc="-1" dirty="0">
                          <a:solidFill>
                            <a:srgbClr val="000000"/>
                          </a:solidFill>
                          <a:latin typeface="Century Schoolbook"/>
                        </a:rPr>
                        <a:t>N/A</a:t>
                      </a:r>
                      <a:endParaRPr lang="en-AU" sz="1600" b="0" strike="noStrike" spc="-1" dirty="0">
                        <a:latin typeface="Arial"/>
                      </a:endParaRPr>
                    </a:p>
                  </a:txBody>
                  <a:tcPr>
                    <a:lnL w="12240" algn="ctr">
                      <a:solidFill>
                        <a:srgbClr val="000000"/>
                      </a:solidFill>
                    </a:lnL>
                    <a:lnR w="12240" algn="ctr">
                      <a:solidFill>
                        <a:srgbClr val="000000"/>
                      </a:solidFill>
                    </a:lnR>
                    <a:lnT w="12240" algn="ctr">
                      <a:solidFill>
                        <a:srgbClr val="000000"/>
                      </a:solidFill>
                    </a:lnT>
                    <a:lnB w="12240" algn="ctr">
                      <a:solidFill>
                        <a:srgbClr val="000000"/>
                      </a:solidFill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AB5ED37-806E-6906-72E2-8D9E8083C18F}"/>
              </a:ext>
            </a:extLst>
          </p:cNvPr>
          <p:cNvSpPr txBox="1"/>
          <p:nvPr/>
        </p:nvSpPr>
        <p:spPr>
          <a:xfrm>
            <a:off x="478180" y="172557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ECE4078  Intelligent robotics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9D2CD-BB9B-0B1D-2C9B-9759B04D5781}"/>
              </a:ext>
            </a:extLst>
          </p:cNvPr>
          <p:cNvSpPr txBox="1"/>
          <p:nvPr/>
        </p:nvSpPr>
        <p:spPr>
          <a:xfrm>
            <a:off x="1474591" y="3899311"/>
            <a:ext cx="32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D49F87-8011-D4FB-044B-BD613AFB7574}"/>
              </a:ext>
            </a:extLst>
          </p:cNvPr>
          <p:cNvCxnSpPr/>
          <p:nvPr/>
        </p:nvCxnSpPr>
        <p:spPr>
          <a:xfrm>
            <a:off x="1637548" y="1894540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8926AA-6B94-387D-18BD-387DA6C31572}"/>
              </a:ext>
            </a:extLst>
          </p:cNvPr>
          <p:cNvCxnSpPr/>
          <p:nvPr/>
        </p:nvCxnSpPr>
        <p:spPr>
          <a:xfrm>
            <a:off x="1640174" y="2267658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6F1A18-F69A-D271-AE41-57CE0A0E4F7D}"/>
              </a:ext>
            </a:extLst>
          </p:cNvPr>
          <p:cNvCxnSpPr/>
          <p:nvPr/>
        </p:nvCxnSpPr>
        <p:spPr>
          <a:xfrm>
            <a:off x="1637184" y="2635206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30474AE-EDFC-2229-5C82-1CE39EA0EC0C}"/>
              </a:ext>
            </a:extLst>
          </p:cNvPr>
          <p:cNvCxnSpPr/>
          <p:nvPr/>
        </p:nvCxnSpPr>
        <p:spPr>
          <a:xfrm>
            <a:off x="1658471" y="3037772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BE2A225-4215-B7F2-A004-5B71FBA917E9}"/>
              </a:ext>
            </a:extLst>
          </p:cNvPr>
          <p:cNvCxnSpPr/>
          <p:nvPr/>
        </p:nvCxnSpPr>
        <p:spPr>
          <a:xfrm>
            <a:off x="1637184" y="3429000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4A0C45A-827D-D2B5-1A59-756467452AED}"/>
              </a:ext>
            </a:extLst>
          </p:cNvPr>
          <p:cNvCxnSpPr/>
          <p:nvPr/>
        </p:nvCxnSpPr>
        <p:spPr>
          <a:xfrm>
            <a:off x="1637184" y="3768142"/>
            <a:ext cx="887505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1578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Navigation and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M3 focuses on navigation and planning</a:t>
            </a:r>
          </a:p>
          <a:p>
            <a:r>
              <a:rPr lang="en-US" dirty="0"/>
              <a:t>	</a:t>
            </a:r>
            <a:r>
              <a:rPr lang="en-US" dirty="0" err="1"/>
              <a:t>PenguinPi</a:t>
            </a:r>
            <a:r>
              <a:rPr lang="en-US" dirty="0"/>
              <a:t> now knows where things are and needs to plan its way around the supermarket and get 	</a:t>
            </a:r>
            <a:r>
              <a:rPr lang="en-US" dirty="0" err="1"/>
              <a:t>fruits&amp;vegs</a:t>
            </a:r>
            <a:r>
              <a:rPr lang="en-US" dirty="0"/>
              <a:t> on its shopping list</a:t>
            </a:r>
          </a:p>
          <a:p>
            <a:endParaRPr lang="en-US" dirty="0"/>
          </a:p>
          <a:p>
            <a:r>
              <a:rPr lang="en-US" dirty="0"/>
              <a:t>	Your task will be to semi OR fully autonomously navigate and path plan around the arena to targets 	in a specified order. For level 4, you do not need to follow the specified order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The arena will always contain:</a:t>
            </a:r>
          </a:p>
          <a:p>
            <a:r>
              <a:rPr lang="en-US" dirty="0"/>
              <a:t>	10 </a:t>
            </a:r>
            <a:r>
              <a:rPr lang="en-US" dirty="0" err="1"/>
              <a:t>ArUco</a:t>
            </a:r>
            <a:r>
              <a:rPr lang="en-US" dirty="0"/>
              <a:t> markers</a:t>
            </a:r>
          </a:p>
          <a:p>
            <a:r>
              <a:rPr lang="en-US" dirty="0"/>
              <a:t>	10 </a:t>
            </a:r>
            <a:r>
              <a:rPr lang="en-US" dirty="0" err="1"/>
              <a:t>Fruits&amp;Vegs</a:t>
            </a:r>
            <a:endParaRPr lang="en-US" dirty="0"/>
          </a:p>
          <a:p>
            <a:r>
              <a:rPr lang="en-US" dirty="0"/>
              <a:t>	</a:t>
            </a:r>
            <a:r>
              <a:rPr lang="en-US" dirty="0" err="1"/>
              <a:t>Groundtruth</a:t>
            </a:r>
            <a:r>
              <a:rPr lang="en-US" dirty="0"/>
              <a:t> maps are given for M3 ONLY (practice map in repo)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will be given a shopping list that contains 5 targets in the order for the robot to navigate to</a:t>
            </a:r>
          </a:p>
          <a:p>
            <a:r>
              <a:rPr lang="en-US" dirty="0"/>
              <a:t>	The 5 targets will be unique, the 5 obstacles may contain duplicates of other types</a:t>
            </a:r>
          </a:p>
          <a:p>
            <a:endParaRPr lang="en-US" dirty="0"/>
          </a:p>
          <a:p>
            <a:r>
              <a:rPr lang="en-US" dirty="0"/>
              <a:t>	To “pick up” a target you must stop the robot for 2 seconds (doesn’t need to be exact) whilst being 	within 0.3m of the target. Intention of picking up the fruit needs to be shown in the GUI or terminal.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391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Navigation and Planning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20545" y="806896"/>
            <a:ext cx="11642277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There are 4 levels of difficulties which you can choose to complete the task in:</a:t>
            </a:r>
          </a:p>
          <a:p>
            <a:br>
              <a:rPr lang="en-US" sz="1600" dirty="0"/>
            </a:br>
            <a:r>
              <a:rPr lang="en-US" sz="1600" b="1" dirty="0"/>
              <a:t>Level 1</a:t>
            </a:r>
            <a:r>
              <a:rPr lang="en-US" sz="1600" dirty="0"/>
              <a:t>: Semi-auto navigation + known map</a:t>
            </a:r>
          </a:p>
          <a:p>
            <a:r>
              <a:rPr lang="en-US" sz="1600" dirty="0"/>
              <a:t>	- You will be provided with the location of all objects within the arena </a:t>
            </a:r>
          </a:p>
          <a:p>
            <a:r>
              <a:rPr lang="en-US" sz="1600" dirty="0"/>
              <a:t>	- You may control the robot by inputting “waypoints” for the robot to travel to </a:t>
            </a:r>
          </a:p>
          <a:p>
            <a:r>
              <a:rPr lang="en-US" sz="1600" dirty="0"/>
              <a:t>	- You can NOT teleoperate the robot (you can’t use keyboard inputs to drive the robot like in M2/M3)</a:t>
            </a:r>
          </a:p>
          <a:p>
            <a:endParaRPr lang="en-US" sz="1600" dirty="0"/>
          </a:p>
          <a:p>
            <a:r>
              <a:rPr lang="en-US" sz="1600" b="1" dirty="0"/>
              <a:t>Level 2</a:t>
            </a:r>
            <a:r>
              <a:rPr lang="en-US" sz="1600" dirty="0"/>
              <a:t>: Fully autonomous navigation + known map</a:t>
            </a:r>
          </a:p>
          <a:p>
            <a:r>
              <a:rPr lang="en-US" sz="1600" dirty="0"/>
              <a:t>	- You will be provided with the location of all objects within the arena </a:t>
            </a:r>
          </a:p>
          <a:p>
            <a:r>
              <a:rPr lang="en-US" sz="1600" dirty="0"/>
              <a:t>	- You are only allowed to enter a single command to start the robot</a:t>
            </a:r>
          </a:p>
          <a:p>
            <a:r>
              <a:rPr lang="en-US" sz="1600" dirty="0"/>
              <a:t>	- The robot should autonomously complete the task </a:t>
            </a:r>
            <a:r>
              <a:rPr lang="en-US" sz="1600" b="1" dirty="0"/>
              <a:t>without human intervention</a:t>
            </a:r>
          </a:p>
          <a:p>
            <a:endParaRPr lang="en-US" sz="1600" dirty="0"/>
          </a:p>
          <a:p>
            <a:r>
              <a:rPr lang="en-US" sz="1600" b="1" dirty="0"/>
              <a:t>Level 3</a:t>
            </a:r>
            <a:r>
              <a:rPr lang="en-US" sz="1600" dirty="0"/>
              <a:t>: Fully autonomous navigation + partially known map</a:t>
            </a:r>
          </a:p>
          <a:p>
            <a:r>
              <a:rPr lang="en-US" sz="1600" dirty="0"/>
              <a:t>	- You will be provided with the location of all objects EXCEPT the 5 obstacle </a:t>
            </a:r>
            <a:r>
              <a:rPr lang="en-US" sz="1600" dirty="0" err="1"/>
              <a:t>fruits&amp;vegs</a:t>
            </a:r>
            <a:endParaRPr lang="en-US" sz="200" dirty="0"/>
          </a:p>
          <a:p>
            <a:r>
              <a:rPr lang="en-US" sz="1600" dirty="0"/>
              <a:t>	- These unknown obstacles are strategically placed such that there is a high probability that your 		   generated path will intersect them. You will have to use your M3 to detect the obstacle fruit</a:t>
            </a:r>
          </a:p>
          <a:p>
            <a:r>
              <a:rPr lang="en-US" sz="1600" dirty="0"/>
              <a:t>	-You are only allowed to enter a single command to start the robot</a:t>
            </a:r>
          </a:p>
          <a:p>
            <a:r>
              <a:rPr lang="en-US" sz="1600" dirty="0"/>
              <a:t>	-The robot should autonomously complete the task </a:t>
            </a:r>
            <a:r>
              <a:rPr lang="en-US" sz="1600" b="1" dirty="0"/>
              <a:t>without human intervention</a:t>
            </a:r>
          </a:p>
          <a:p>
            <a:endParaRPr lang="en-US" sz="1600" b="1" dirty="0"/>
          </a:p>
          <a:p>
            <a:r>
              <a:rPr lang="en-US" sz="1600" dirty="0"/>
              <a:t>Level 4: Fully autonomous navigation + minimal known map</a:t>
            </a:r>
          </a:p>
          <a:p>
            <a:r>
              <a:rPr lang="en-US" sz="1600" dirty="0"/>
              <a:t>	- You will only be provided with the location of </a:t>
            </a:r>
            <a:r>
              <a:rPr lang="en-US" sz="1600" dirty="0" err="1"/>
              <a:t>ArUco</a:t>
            </a:r>
            <a:r>
              <a:rPr lang="en-US" sz="1600" dirty="0"/>
              <a:t> markers (no target or obstacles)</a:t>
            </a:r>
          </a:p>
          <a:p>
            <a:r>
              <a:rPr lang="en-US" sz="200" dirty="0"/>
              <a:t>	-</a:t>
            </a:r>
          </a:p>
          <a:p>
            <a:r>
              <a:rPr lang="en-US" sz="1600" dirty="0"/>
              <a:t>	- You need to navigate to any of the target fruits in any order – you must provide an intention that you are 	“collecting” the target by printing it on the GUI or terminal</a:t>
            </a:r>
          </a:p>
        </p:txBody>
      </p:sp>
    </p:spTree>
    <p:extLst>
      <p:ext uri="{BB962C8B-B14F-4D97-AF65-F5344CB8AC3E}">
        <p14:creationId xmlns:p14="http://schemas.microsoft.com/office/powerpoint/2010/main" val="3298381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semi-auto waypoint nav (wk7)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1: semi-auto navigation with manually given waypoints</a:t>
            </a:r>
          </a:p>
          <a:p>
            <a:endParaRPr lang="en-US" dirty="0"/>
          </a:p>
          <a:p>
            <a:r>
              <a:rPr lang="en-US" dirty="0"/>
              <a:t>You can do this by modifying the skeleton code “</a:t>
            </a:r>
            <a:r>
              <a:rPr lang="en-US" i="1" dirty="0"/>
              <a:t>auto_fruit_search.py</a:t>
            </a:r>
            <a:r>
              <a:rPr lang="en-US" dirty="0"/>
              <a:t>” provided to you</a:t>
            </a:r>
          </a:p>
          <a:p>
            <a:endParaRPr lang="en-US" dirty="0"/>
          </a:p>
          <a:p>
            <a:r>
              <a:rPr lang="en-US" dirty="0"/>
              <a:t>	The skeleton code works by:	</a:t>
            </a:r>
          </a:p>
          <a:p>
            <a:pPr lvl="1"/>
            <a:r>
              <a:rPr lang="en-US" dirty="0"/>
              <a:t>	1: Receiving a waypoint that are inputted by the user</a:t>
            </a:r>
          </a:p>
          <a:p>
            <a:pPr lvl="1"/>
            <a:r>
              <a:rPr lang="en-US" dirty="0"/>
              <a:t>	2: Navigate the robot to the waypoint based on the estimated time it needs to turn and drive 	(implemented by you)</a:t>
            </a:r>
          </a:p>
          <a:p>
            <a:pPr lvl="1"/>
            <a:r>
              <a:rPr lang="en-US" dirty="0"/>
              <a:t>	3: Repeat step 1&amp;2 until task is complete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There are 3 things you need to change </a:t>
            </a:r>
          </a:p>
          <a:p>
            <a:pPr lvl="1"/>
            <a:r>
              <a:rPr lang="en-US" dirty="0"/>
              <a:t>	1: Calculate the time required to turn (in </a:t>
            </a:r>
            <a:r>
              <a:rPr lang="en-US" i="1" dirty="0" err="1"/>
              <a:t>drive_to_point</a:t>
            </a:r>
            <a:r>
              <a:rPr lang="en-US" dirty="0"/>
              <a:t> function)</a:t>
            </a:r>
          </a:p>
          <a:p>
            <a:pPr lvl="1"/>
            <a:r>
              <a:rPr lang="en-US" dirty="0"/>
              <a:t>	2: Calculate the time required to drive forward (in </a:t>
            </a:r>
            <a:r>
              <a:rPr lang="en-US" i="1" dirty="0" err="1"/>
              <a:t>drive_to_point</a:t>
            </a:r>
            <a:r>
              <a:rPr lang="en-US" i="1" dirty="0"/>
              <a:t> </a:t>
            </a:r>
            <a:r>
              <a:rPr lang="en-US" dirty="0"/>
              <a:t>function)</a:t>
            </a:r>
          </a:p>
          <a:p>
            <a:pPr lvl="1"/>
            <a:r>
              <a:rPr lang="en-US" dirty="0"/>
              <a:t>	3: Calculate the new pose of the robot (in </a:t>
            </a:r>
            <a:r>
              <a:rPr lang="en-US" i="1" dirty="0" err="1"/>
              <a:t>get_robot_pose</a:t>
            </a:r>
            <a:r>
              <a:rPr lang="en-US" i="1" dirty="0"/>
              <a:t> </a:t>
            </a:r>
            <a:r>
              <a:rPr lang="en-US" dirty="0"/>
              <a:t>function)</a:t>
            </a:r>
          </a:p>
        </p:txBody>
      </p:sp>
    </p:spTree>
    <p:extLst>
      <p:ext uri="{BB962C8B-B14F-4D97-AF65-F5344CB8AC3E}">
        <p14:creationId xmlns:p14="http://schemas.microsoft.com/office/powerpoint/2010/main" val="39441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172557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Recommendations (optional)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3C81F35-1469-4804-9BCB-5A04321DD9C5}"/>
              </a:ext>
            </a:extLst>
          </p:cNvPr>
          <p:cNvSpPr txBox="1"/>
          <p:nvPr/>
        </p:nvSpPr>
        <p:spPr>
          <a:xfrm>
            <a:off x="430650" y="1021636"/>
            <a:ext cx="1180264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Visual </a:t>
            </a:r>
            <a:r>
              <a:rPr lang="en-US" dirty="0" err="1"/>
              <a:t>localisation</a:t>
            </a:r>
            <a:endParaRPr lang="en-US" dirty="0"/>
          </a:p>
          <a:p>
            <a:r>
              <a:rPr lang="en-US" dirty="0"/>
              <a:t>	The skeleton code does not use any visual features (</a:t>
            </a:r>
            <a:r>
              <a:rPr lang="en-US" dirty="0" err="1"/>
              <a:t>ArUco</a:t>
            </a:r>
            <a:r>
              <a:rPr lang="en-US" dirty="0"/>
              <a:t> markers) in estimating its current pose, 	relying solely on dynamics to estimate the robot’s current position in the arena. </a:t>
            </a:r>
          </a:p>
          <a:p>
            <a:endParaRPr lang="en-US" dirty="0"/>
          </a:p>
          <a:p>
            <a:r>
              <a:rPr lang="en-US" dirty="0"/>
              <a:t>	It is highly recommended that you implement a more robust </a:t>
            </a:r>
            <a:r>
              <a:rPr lang="en-US" dirty="0" err="1"/>
              <a:t>localisation</a:t>
            </a:r>
            <a:r>
              <a:rPr lang="en-US" dirty="0"/>
              <a:t> system that uses the </a:t>
            </a:r>
            <a:r>
              <a:rPr lang="en-US" dirty="0" err="1"/>
              <a:t>ArUco</a:t>
            </a:r>
            <a:r>
              <a:rPr lang="en-US" dirty="0"/>
              <a:t> 	markers like you did in M2. You do not have to generate / update the markers as the true location of the 	10 markers is given to you at the start   </a:t>
            </a:r>
          </a:p>
          <a:p>
            <a:endParaRPr lang="en-US" dirty="0"/>
          </a:p>
          <a:p>
            <a:r>
              <a:rPr lang="en-US" dirty="0"/>
              <a:t>- Controller based waypoint navigation</a:t>
            </a:r>
          </a:p>
          <a:p>
            <a:r>
              <a:rPr lang="en-US" dirty="0"/>
              <a:t>	By default, the skeleton code travels to waypoints based on an initial time estimate.</a:t>
            </a:r>
          </a:p>
          <a:p>
            <a:r>
              <a:rPr lang="en-US" dirty="0"/>
              <a:t>	A small error in the initial rotation can cause a large error in the final position if traveling long distances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You can improve this by using a proportional controller to gently steer the robot so that it is always 	moving towards the waypoint given visual feedback on the robot’s pose     </a:t>
            </a:r>
          </a:p>
          <a:p>
            <a:endParaRPr lang="en-US" dirty="0"/>
          </a:p>
          <a:p>
            <a:r>
              <a:rPr lang="en-US" dirty="0"/>
              <a:t>- Better GUI</a:t>
            </a:r>
          </a:p>
          <a:p>
            <a:r>
              <a:rPr lang="en-US" dirty="0"/>
              <a:t>	Manually inputting coordinates by hand is slow and prone to error, an interactive map to click on to 	create new waypoints would be more efficient</a:t>
            </a:r>
          </a:p>
          <a:p>
            <a:r>
              <a:rPr lang="en-US" dirty="0"/>
              <a:t>	It is also difficult to tell if the robot is within 0.5m of a target or if the robot’s pose estimation has drifted 	without any graphical feedback, therefore this should be included in the GUI as well</a:t>
            </a:r>
          </a:p>
        </p:txBody>
      </p:sp>
    </p:spTree>
    <p:extLst>
      <p:ext uri="{BB962C8B-B14F-4D97-AF65-F5344CB8AC3E}">
        <p14:creationId xmlns:p14="http://schemas.microsoft.com/office/powerpoint/2010/main" val="48861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auto nav (wk8)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Level 2: </a:t>
            </a:r>
          </a:p>
          <a:p>
            <a:r>
              <a:rPr lang="en-US" dirty="0"/>
              <a:t>	auto navigation with known map (waypoints produced by your path planner)</a:t>
            </a:r>
          </a:p>
          <a:p>
            <a:r>
              <a:rPr lang="en-US" dirty="0"/>
              <a:t>Level 3: </a:t>
            </a:r>
          </a:p>
          <a:p>
            <a:r>
              <a:rPr lang="en-US" dirty="0"/>
              <a:t>	auto nav with partially known map (use M3 to detect obstacles and replan once an obstacle is seen)</a:t>
            </a:r>
          </a:p>
          <a:p>
            <a:r>
              <a:rPr lang="en-US" dirty="0"/>
              <a:t>Level 4:</a:t>
            </a:r>
          </a:p>
          <a:p>
            <a:r>
              <a:rPr lang="en-US" dirty="0"/>
              <a:t>	auto nav with partially known map (use M3 to detect targets/obstacles and replan once those objects are seen). You will also need to explore the arena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You can do this by modifying “</a:t>
            </a:r>
            <a:r>
              <a:rPr lang="en-US" i="1" dirty="0"/>
              <a:t>auto_fruit_search.py</a:t>
            </a:r>
            <a:r>
              <a:rPr lang="en-US" dirty="0"/>
              <a:t>” or write your own scripts</a:t>
            </a:r>
          </a:p>
          <a:p>
            <a:endParaRPr lang="en-US" dirty="0"/>
          </a:p>
          <a:p>
            <a:r>
              <a:rPr lang="en-US" dirty="0"/>
              <a:t>Will talk about these more next week</a:t>
            </a:r>
          </a:p>
        </p:txBody>
      </p:sp>
    </p:spTree>
    <p:extLst>
      <p:ext uri="{BB962C8B-B14F-4D97-AF65-F5344CB8AC3E}">
        <p14:creationId xmlns:p14="http://schemas.microsoft.com/office/powerpoint/2010/main" val="420905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Box 49">
            <a:extLst>
              <a:ext uri="{FF2B5EF4-FFF2-40B4-BE49-F238E27FC236}">
                <a16:creationId xmlns:a16="http://schemas.microsoft.com/office/drawing/2014/main" id="{BF948A99-782B-4139-A61F-6C2663DAEB76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M3: 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0B27D3-7B85-4485-A10E-AAC012A9B3BB}"/>
              </a:ext>
            </a:extLst>
          </p:cNvPr>
          <p:cNvSpPr txBox="1"/>
          <p:nvPr/>
        </p:nvSpPr>
        <p:spPr>
          <a:xfrm>
            <a:off x="478180" y="806896"/>
            <a:ext cx="11527007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Live demo marking in wk9 using new arena</a:t>
            </a:r>
          </a:p>
          <a:p>
            <a:endParaRPr lang="en-US" dirty="0"/>
          </a:p>
          <a:p>
            <a:r>
              <a:rPr lang="en-US" dirty="0"/>
              <a:t>Each of the 3 levels have different marks associated</a:t>
            </a:r>
          </a:p>
          <a:p>
            <a:r>
              <a:rPr lang="en-US" b="1" dirty="0"/>
              <a:t>	Level 1</a:t>
            </a:r>
            <a:r>
              <a:rPr lang="en-US" dirty="0"/>
              <a:t>: (Total marks: 50pt)</a:t>
            </a:r>
          </a:p>
          <a:p>
            <a:r>
              <a:rPr lang="en-US" dirty="0"/>
              <a:t>		For each successful navigation in order +10pts</a:t>
            </a:r>
          </a:p>
          <a:p>
            <a:endParaRPr lang="en-US" dirty="0"/>
          </a:p>
          <a:p>
            <a:r>
              <a:rPr lang="en-US" b="1" dirty="0"/>
              <a:t>	Level 2</a:t>
            </a:r>
            <a:r>
              <a:rPr lang="en-US" dirty="0"/>
              <a:t>: (Total marks: 20pt)</a:t>
            </a:r>
          </a:p>
          <a:p>
            <a:r>
              <a:rPr lang="en-US" dirty="0"/>
              <a:t>		You get the Lv1 50pt if you can </a:t>
            </a:r>
            <a:r>
              <a:rPr lang="en-US" b="1" dirty="0"/>
              <a:t>achieve a qualified run </a:t>
            </a:r>
            <a:r>
              <a:rPr lang="en-US" dirty="0"/>
              <a:t>in Lv2</a:t>
            </a:r>
          </a:p>
          <a:p>
            <a:r>
              <a:rPr lang="en-US" dirty="0"/>
              <a:t>		For each successful navigation in order +4pts</a:t>
            </a:r>
          </a:p>
          <a:p>
            <a:endParaRPr lang="en-US" dirty="0"/>
          </a:p>
          <a:p>
            <a:r>
              <a:rPr lang="en-US" b="1" dirty="0"/>
              <a:t>	Level 3</a:t>
            </a:r>
            <a:r>
              <a:rPr lang="en-US" dirty="0"/>
              <a:t>: (Total marks: 15pt)</a:t>
            </a:r>
          </a:p>
          <a:p>
            <a:r>
              <a:rPr lang="en-US" dirty="0"/>
              <a:t>		You get the Lv1+Lv2 70pt if you can </a:t>
            </a:r>
            <a:r>
              <a:rPr lang="en-US" b="1" dirty="0"/>
              <a:t>achieve a qualified run </a:t>
            </a:r>
            <a:r>
              <a:rPr lang="en-US" dirty="0"/>
              <a:t>in Lv3</a:t>
            </a:r>
          </a:p>
          <a:p>
            <a:r>
              <a:rPr lang="en-US" dirty="0"/>
              <a:t>		For each successful navigation in order +3pts</a:t>
            </a:r>
          </a:p>
          <a:p>
            <a:endParaRPr lang="en-US" dirty="0"/>
          </a:p>
          <a:p>
            <a:r>
              <a:rPr lang="en-US" b="1" dirty="0"/>
              <a:t>	Level 4</a:t>
            </a:r>
            <a:r>
              <a:rPr lang="en-US" dirty="0"/>
              <a:t>: (Total marks: 15pt)</a:t>
            </a:r>
          </a:p>
          <a:p>
            <a:r>
              <a:rPr lang="en-US" dirty="0"/>
              <a:t>		You get the Lv1+Lv2+Lv3 85pt if you can </a:t>
            </a:r>
            <a:r>
              <a:rPr lang="en-US" b="1" dirty="0"/>
              <a:t>achieve a qualified run </a:t>
            </a:r>
            <a:r>
              <a:rPr lang="en-US" dirty="0"/>
              <a:t>in Lv4</a:t>
            </a:r>
          </a:p>
          <a:p>
            <a:r>
              <a:rPr lang="en-US" dirty="0"/>
              <a:t>		For each successful navigation in order +3pts</a:t>
            </a:r>
          </a:p>
          <a:p>
            <a:r>
              <a:rPr lang="en-US" dirty="0"/>
              <a:t>You will receive penalties if:</a:t>
            </a:r>
          </a:p>
          <a:p>
            <a:r>
              <a:rPr lang="en-US" dirty="0"/>
              <a:t>	Robot collides with marker/object (-5pt)</a:t>
            </a:r>
          </a:p>
          <a:p>
            <a:r>
              <a:rPr lang="en-US" dirty="0"/>
              <a:t>	Robot touches the  arena boundaries (-5pt)</a:t>
            </a:r>
          </a:p>
          <a:p>
            <a:r>
              <a:rPr lang="en-US" dirty="0"/>
              <a:t>	Max 5 penalties allowed: fifth time a penalty happens that run is disqualified and gets 0pt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890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8FF0BD57-9E99-4BD6-BD49-1CC2E16F74AC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M2: Marking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AA2EC5-F6D7-476E-88B1-D35DB39D8C08}"/>
              </a:ext>
            </a:extLst>
          </p:cNvPr>
          <p:cNvSpPr txBox="1"/>
          <p:nvPr/>
        </p:nvSpPr>
        <p:spPr>
          <a:xfrm>
            <a:off x="478180" y="838376"/>
            <a:ext cx="11527007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 performance:</a:t>
            </a:r>
          </a:p>
          <a:p>
            <a:r>
              <a:rPr lang="en-US" dirty="0"/>
              <a:t>	Classification performance of your trained YOLO on a set of 10 testing images. You will need to pass 	the testing images into your model using </a:t>
            </a:r>
            <a:r>
              <a:rPr lang="en-US" i="1" dirty="0"/>
              <a:t>detector.py </a:t>
            </a:r>
            <a:r>
              <a:rPr lang="en-US" dirty="0"/>
              <a:t>(inside YOLO folder)</a:t>
            </a:r>
          </a:p>
          <a:p>
            <a:r>
              <a:rPr lang="en-GB" dirty="0"/>
              <a:t>	</a:t>
            </a:r>
            <a:r>
              <a:rPr lang="en-GB" dirty="0" err="1">
                <a:solidFill>
                  <a:srgbClr val="FFFF00"/>
                </a:solidFill>
              </a:rPr>
              <a:t>detector_score</a:t>
            </a:r>
            <a:r>
              <a:rPr lang="en-GB" dirty="0">
                <a:solidFill>
                  <a:srgbClr val="FFFF00"/>
                </a:solidFill>
              </a:rPr>
              <a:t> = 3 x </a:t>
            </a:r>
            <a:r>
              <a:rPr lang="en-GB" dirty="0" err="1">
                <a:solidFill>
                  <a:srgbClr val="FFFF00"/>
                </a:solidFill>
              </a:rPr>
              <a:t>NumberOfCorrectPredictions</a:t>
            </a:r>
            <a:r>
              <a:rPr lang="en-GB" dirty="0">
                <a:solidFill>
                  <a:srgbClr val="FFFF00"/>
                </a:solidFill>
              </a:rPr>
              <a:t>						(0 ≤ </a:t>
            </a:r>
            <a:r>
              <a:rPr lang="en-GB" dirty="0" err="1">
                <a:solidFill>
                  <a:srgbClr val="FFFF00"/>
                </a:solidFill>
              </a:rPr>
              <a:t>detector_score</a:t>
            </a:r>
            <a:r>
              <a:rPr lang="en-GB" dirty="0">
                <a:solidFill>
                  <a:srgbClr val="FFFF00"/>
                </a:solidFill>
              </a:rPr>
              <a:t> ≤ 30</a:t>
            </a:r>
            <a:r>
              <a:rPr lang="en-GB" dirty="0"/>
              <a:t>)</a:t>
            </a:r>
            <a:endParaRPr lang="en-US" dirty="0"/>
          </a:p>
          <a:p>
            <a:endParaRPr lang="en-US" dirty="0"/>
          </a:p>
          <a:p>
            <a:r>
              <a:rPr lang="en-US" dirty="0"/>
              <a:t>Target map performance:</a:t>
            </a:r>
          </a:p>
          <a:p>
            <a:r>
              <a:rPr lang="en-US" dirty="0"/>
              <a:t>	Driving your robot around the arena to generate </a:t>
            </a:r>
            <a:r>
              <a:rPr lang="en-US" i="1" dirty="0"/>
              <a:t>slam.txt </a:t>
            </a:r>
            <a:r>
              <a:rPr lang="en-US" dirty="0"/>
              <a:t>and </a:t>
            </a:r>
            <a:r>
              <a:rPr lang="en-US" i="1" dirty="0"/>
              <a:t>targets.txt</a:t>
            </a:r>
            <a:r>
              <a:rPr lang="en-US" dirty="0"/>
              <a:t>, then </a:t>
            </a:r>
            <a:r>
              <a:rPr lang="en-US" i="1" dirty="0"/>
              <a:t>mapping_eval.py </a:t>
            </a:r>
            <a:r>
              <a:rPr lang="en-US" dirty="0"/>
              <a:t>will 	be used to </a:t>
            </a:r>
            <a:r>
              <a:rPr lang="en-GB" dirty="0"/>
              <a:t>calculate the estimation error. </a:t>
            </a:r>
          </a:p>
          <a:p>
            <a:r>
              <a:rPr lang="en-GB" i="1" dirty="0"/>
              <a:t>	mapping_eval.py </a:t>
            </a:r>
            <a:r>
              <a:rPr lang="en-GB" dirty="0"/>
              <a:t>takes your slam.txt to get the alignments for best SLAM, then the target positions 	from </a:t>
            </a:r>
            <a:r>
              <a:rPr lang="en-GB" i="1" dirty="0"/>
              <a:t>targets.txt </a:t>
            </a:r>
            <a:r>
              <a:rPr lang="en-GB" dirty="0"/>
              <a:t>are re-aligned accordingly.  The Euclidean distance between each target and its closest 	estimation is recorded as </a:t>
            </a:r>
            <a:r>
              <a:rPr lang="en-GB" dirty="0" err="1">
                <a:solidFill>
                  <a:srgbClr val="FFFF00"/>
                </a:solidFill>
              </a:rPr>
              <a:t>target_accuracy_rating</a:t>
            </a:r>
            <a:r>
              <a:rPr lang="en-GB" dirty="0"/>
              <a:t>. The object estimation score is calculated as:</a:t>
            </a:r>
          </a:p>
          <a:p>
            <a:endParaRPr lang="en-GB" dirty="0"/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target_accuracy_rating</a:t>
            </a:r>
            <a:r>
              <a:rPr lang="en-GB" dirty="0">
                <a:solidFill>
                  <a:srgbClr val="FFFF00"/>
                </a:solidFill>
              </a:rPr>
              <a:t>[object] = (0.5 - </a:t>
            </a:r>
            <a:r>
              <a:rPr lang="en-GB" dirty="0" err="1">
                <a:solidFill>
                  <a:srgbClr val="FFFF00"/>
                </a:solidFill>
              </a:rPr>
              <a:t>estimation_error</a:t>
            </a:r>
            <a:r>
              <a:rPr lang="en-GB" dirty="0">
                <a:solidFill>
                  <a:srgbClr val="FFFF00"/>
                </a:solidFill>
              </a:rPr>
              <a:t>[object])/(0.5-0.025) = TAR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en-GB" dirty="0" err="1">
                <a:solidFill>
                  <a:srgbClr val="FFFF00"/>
                </a:solidFill>
              </a:rPr>
              <a:t>target_est_score</a:t>
            </a:r>
            <a:r>
              <a:rPr lang="en-GB" dirty="0">
                <a:solidFill>
                  <a:srgbClr val="FFFF00"/>
                </a:solidFill>
              </a:rPr>
              <a:t> = (</a:t>
            </a:r>
            <a:r>
              <a:rPr lang="en-GB" dirty="0" err="1">
                <a:solidFill>
                  <a:srgbClr val="FFFF00"/>
                </a:solidFill>
              </a:rPr>
              <a:t>base^mean</a:t>
            </a:r>
            <a:r>
              <a:rPr lang="en-GB" dirty="0">
                <a:solidFill>
                  <a:srgbClr val="FFFF00"/>
                </a:solidFill>
              </a:rPr>
              <a:t>(TAR) – 1/(base – 1) * </a:t>
            </a:r>
            <a:r>
              <a:rPr lang="en-GB" dirty="0" err="1">
                <a:solidFill>
                  <a:srgbClr val="FFFF00"/>
                </a:solidFill>
              </a:rPr>
              <a:t>level_scale</a:t>
            </a:r>
            <a:r>
              <a:rPr lang="en-GB" dirty="0">
                <a:solidFill>
                  <a:srgbClr val="FFFF00"/>
                </a:solidFill>
              </a:rPr>
              <a:t> – 5 x </a:t>
            </a:r>
            <a:r>
              <a:rPr lang="en-GB" dirty="0" err="1">
                <a:solidFill>
                  <a:srgbClr val="FFFF00"/>
                </a:solidFill>
              </a:rPr>
              <a:t>NumberOfCollisions</a:t>
            </a:r>
            <a:r>
              <a:rPr lang="en-GB" dirty="0">
                <a:solidFill>
                  <a:srgbClr val="FFFF00"/>
                </a:solidFill>
              </a:rPr>
              <a:t>, base = 8</a:t>
            </a:r>
          </a:p>
          <a:p>
            <a:r>
              <a:rPr lang="en-GB" dirty="0">
                <a:solidFill>
                  <a:srgbClr val="FFFF00"/>
                </a:solidFill>
              </a:rPr>
              <a:t>		</a:t>
            </a:r>
          </a:p>
          <a:p>
            <a:r>
              <a:rPr lang="en-GB" dirty="0">
                <a:solidFill>
                  <a:srgbClr val="FFFF00"/>
                </a:solidFill>
              </a:rPr>
              <a:t>	0 ≤ </a:t>
            </a:r>
            <a:r>
              <a:rPr lang="en-GB" dirty="0" err="1">
                <a:solidFill>
                  <a:srgbClr val="FFFF00"/>
                </a:solidFill>
              </a:rPr>
              <a:t>target_est_score</a:t>
            </a:r>
            <a:r>
              <a:rPr lang="en-GB" dirty="0">
                <a:solidFill>
                  <a:srgbClr val="FFFF00"/>
                </a:solidFill>
              </a:rPr>
              <a:t> ≤ </a:t>
            </a:r>
            <a:r>
              <a:rPr lang="en-GB" dirty="0" err="1">
                <a:solidFill>
                  <a:srgbClr val="FFFF00"/>
                </a:solidFill>
              </a:rPr>
              <a:t>level_scale</a:t>
            </a:r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	</a:t>
            </a:r>
            <a:r>
              <a:rPr lang="fr-FR" dirty="0">
                <a:solidFill>
                  <a:srgbClr val="FFFF00"/>
                </a:solidFill>
              </a:rPr>
              <a:t>M2_score = </a:t>
            </a:r>
            <a:r>
              <a:rPr lang="fr-FR" dirty="0" err="1">
                <a:solidFill>
                  <a:srgbClr val="FFFF00"/>
                </a:solidFill>
              </a:rPr>
              <a:t>detector_score</a:t>
            </a:r>
            <a:r>
              <a:rPr lang="fr-FR" dirty="0">
                <a:solidFill>
                  <a:srgbClr val="FFFF00"/>
                </a:solidFill>
              </a:rPr>
              <a:t> + </a:t>
            </a:r>
            <a:r>
              <a:rPr lang="fr-FR" dirty="0" err="1">
                <a:solidFill>
                  <a:srgbClr val="FFFF00"/>
                </a:solidFill>
              </a:rPr>
              <a:t>target_est_score</a:t>
            </a:r>
            <a:r>
              <a:rPr lang="fr-FR" dirty="0">
                <a:solidFill>
                  <a:srgbClr val="FFFF00"/>
                </a:solidFill>
              </a:rPr>
              <a:t>, 0 ≤ M2_score ≤ 100</a:t>
            </a:r>
          </a:p>
          <a:p>
            <a:endParaRPr lang="fr-FR" dirty="0">
              <a:solidFill>
                <a:srgbClr val="FFFF00"/>
              </a:solidFill>
            </a:endParaRPr>
          </a:p>
          <a:p>
            <a:pPr algn="ctr"/>
            <a:r>
              <a:rPr lang="fr-FR" dirty="0"/>
              <a:t>At </a:t>
            </a:r>
            <a:r>
              <a:rPr lang="fr-FR" dirty="0" err="1"/>
              <a:t>level</a:t>
            </a:r>
            <a:r>
              <a:rPr lang="fr-FR" dirty="0"/>
              <a:t> 1 </a:t>
            </a:r>
            <a:r>
              <a:rPr lang="fr-FR" dirty="0" err="1"/>
              <a:t>scale</a:t>
            </a:r>
            <a:r>
              <a:rPr lang="fr-FR" dirty="0"/>
              <a:t> = 40, At </a:t>
            </a:r>
            <a:r>
              <a:rPr lang="fr-FR" dirty="0" err="1"/>
              <a:t>Level</a:t>
            </a:r>
            <a:r>
              <a:rPr lang="fr-FR" dirty="0"/>
              <a:t> 2 </a:t>
            </a:r>
            <a:r>
              <a:rPr lang="fr-FR" dirty="0" err="1"/>
              <a:t>scale</a:t>
            </a:r>
            <a:r>
              <a:rPr lang="fr-FR" dirty="0"/>
              <a:t> = 50, </a:t>
            </a:r>
            <a:r>
              <a:rPr lang="fr-FR" dirty="0" err="1"/>
              <a:t>Level</a:t>
            </a:r>
            <a:r>
              <a:rPr lang="fr-FR" dirty="0"/>
              <a:t> 3 </a:t>
            </a:r>
            <a:r>
              <a:rPr lang="fr-FR" dirty="0" err="1"/>
              <a:t>scale</a:t>
            </a:r>
            <a:r>
              <a:rPr lang="fr-FR" dirty="0"/>
              <a:t> = 70.</a:t>
            </a:r>
          </a:p>
        </p:txBody>
      </p:sp>
    </p:spTree>
    <p:extLst>
      <p:ext uri="{BB962C8B-B14F-4D97-AF65-F5344CB8AC3E}">
        <p14:creationId xmlns:p14="http://schemas.microsoft.com/office/powerpoint/2010/main" val="252356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extBox 61">
            <a:extLst>
              <a:ext uri="{FF2B5EF4-FFF2-40B4-BE49-F238E27FC236}">
                <a16:creationId xmlns:a16="http://schemas.microsoft.com/office/drawing/2014/main" id="{8FF0BD57-9E99-4BD6-BD49-1CC2E16F74AC}"/>
              </a:ext>
            </a:extLst>
          </p:cNvPr>
          <p:cNvSpPr txBox="1"/>
          <p:nvPr/>
        </p:nvSpPr>
        <p:spPr>
          <a:xfrm>
            <a:off x="478180" y="7379"/>
            <a:ext cx="117138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800" dirty="0"/>
              <a:t>M2: Marking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EAA2EC5-F6D7-476E-88B1-D35DB39D8C08}"/>
              </a:ext>
            </a:extLst>
          </p:cNvPr>
          <p:cNvSpPr txBox="1"/>
          <p:nvPr/>
        </p:nvSpPr>
        <p:spPr>
          <a:xfrm>
            <a:off x="478180" y="838376"/>
            <a:ext cx="1152700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Before the lab:</a:t>
            </a:r>
          </a:p>
          <a:p>
            <a:r>
              <a:rPr lang="en-US" dirty="0"/>
              <a:t>	</a:t>
            </a:r>
            <a:r>
              <a:rPr lang="en-GB" dirty="0"/>
              <a:t>Submit your code (link to BestYoLo.pt if too big)</a:t>
            </a:r>
          </a:p>
          <a:p>
            <a:endParaRPr lang="en-GB" dirty="0"/>
          </a:p>
          <a:p>
            <a:r>
              <a:rPr lang="en-GB" dirty="0"/>
              <a:t>Before marking:</a:t>
            </a:r>
          </a:p>
          <a:p>
            <a:r>
              <a:rPr lang="en-GB" dirty="0"/>
              <a:t>	Check the marking schedule</a:t>
            </a:r>
          </a:p>
          <a:p>
            <a:r>
              <a:rPr lang="en-GB" dirty="0"/>
              <a:t>	Download the detector testing image set of your lab on Moodle (this will only be available during your 	lab time)</a:t>
            </a:r>
          </a:p>
          <a:p>
            <a:endParaRPr lang="en-GB" dirty="0"/>
          </a:p>
          <a:p>
            <a:r>
              <a:rPr lang="en-GB" dirty="0"/>
              <a:t>During live demo:</a:t>
            </a:r>
          </a:p>
          <a:p>
            <a:r>
              <a:rPr lang="en-GB" dirty="0"/>
              <a:t>	Download and unzip submission</a:t>
            </a:r>
          </a:p>
          <a:p>
            <a:r>
              <a:rPr lang="en-GB" dirty="0"/>
              <a:t>	Demonstrate detector performance on marking set (show visualisation of bounding box and label)</a:t>
            </a:r>
          </a:p>
          <a:p>
            <a:r>
              <a:rPr lang="en-GB" dirty="0"/>
              <a:t>	Run operate.py to map the arena (run SLAM with ENTER and save </a:t>
            </a:r>
            <a:r>
              <a:rPr lang="en-GB" dirty="0" err="1"/>
              <a:t>pose+observation</a:t>
            </a:r>
            <a:r>
              <a:rPr lang="en-GB" dirty="0"/>
              <a:t> with “n”)</a:t>
            </a:r>
          </a:p>
          <a:p>
            <a:r>
              <a:rPr lang="en-GB" dirty="0"/>
              <a:t>	</a:t>
            </a:r>
            <a:r>
              <a:rPr lang="en-GB" b="1" dirty="0">
                <a:solidFill>
                  <a:srgbClr val="FFFF00"/>
                </a:solidFill>
              </a:rPr>
              <a:t>Generate targets.txt after a run with TargetPoseEst.py (save slam.txt and targets.txt with run ID </a:t>
            </a:r>
            <a:r>
              <a:rPr lang="en-GB" b="1" dirty="0" err="1">
                <a:solidFill>
                  <a:srgbClr val="FFFF00"/>
                </a:solidFill>
              </a:rPr>
              <a:t>ie</a:t>
            </a:r>
            <a:r>
              <a:rPr lang="en-GB" b="1" dirty="0">
                <a:solidFill>
                  <a:srgbClr val="FFFF00"/>
                </a:solidFill>
              </a:rPr>
              <a:t>. slam_2.txt and targets_2.txt if it is your second run)</a:t>
            </a:r>
          </a:p>
          <a:p>
            <a:r>
              <a:rPr lang="en-GB" b="1" dirty="0">
                <a:solidFill>
                  <a:srgbClr val="FFFF00"/>
                </a:solidFill>
              </a:rPr>
              <a:t>		The file name MUST contain the words “slam” and “targets” otherwise your milestone run might not be assessed.</a:t>
            </a:r>
            <a:endParaRPr lang="en-US" b="1" dirty="0">
              <a:solidFill>
                <a:srgbClr val="FFFF00"/>
              </a:solidFill>
            </a:endParaRPr>
          </a:p>
          <a:p>
            <a:r>
              <a:rPr lang="en-US" dirty="0"/>
              <a:t>	Submit slam.txt &amp; targets.txt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1494718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1756</TotalTime>
  <Words>1783</Words>
  <Application>Microsoft Office PowerPoint</Application>
  <PresentationFormat>Widescreen</PresentationFormat>
  <Paragraphs>178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Century Schoolbook</vt:lpstr>
      <vt:lpstr>Wingdings 2</vt:lpstr>
      <vt:lpstr>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</dc:creator>
  <cp:lastModifiedBy>Morris Gu</cp:lastModifiedBy>
  <cp:revision>304</cp:revision>
  <dcterms:created xsi:type="dcterms:W3CDTF">2020-08-07T03:38:28Z</dcterms:created>
  <dcterms:modified xsi:type="dcterms:W3CDTF">2025-09-18T01:12:31Z</dcterms:modified>
</cp:coreProperties>
</file>