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8" r:id="rId1"/>
  </p:sldMasterIdLst>
  <p:notesMasterIdLst>
    <p:notesMasterId r:id="rId13"/>
  </p:notesMasterIdLst>
  <p:sldIdLst>
    <p:sldId id="299" r:id="rId2"/>
    <p:sldId id="306" r:id="rId3"/>
    <p:sldId id="303" r:id="rId4"/>
    <p:sldId id="305" r:id="rId5"/>
    <p:sldId id="265" r:id="rId6"/>
    <p:sldId id="300" r:id="rId7"/>
    <p:sldId id="309" r:id="rId8"/>
    <p:sldId id="310" r:id="rId9"/>
    <p:sldId id="311" r:id="rId10"/>
    <p:sldId id="304" r:id="rId11"/>
    <p:sldId id="307" r:id="rId1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62" autoAdjust="0"/>
    <p:restoredTop sz="94660"/>
  </p:normalViewPr>
  <p:slideViewPr>
    <p:cSldViewPr snapToGrid="0">
      <p:cViewPr varScale="1">
        <p:scale>
          <a:sx n="74" d="100"/>
          <a:sy n="74" d="100"/>
        </p:scale>
        <p:origin x="352" y="10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microsoft.com/office/2016/11/relationships/changesInfo" Target="changesInfos/changesInfo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orris Gu" userId="69bc5ac2-d614-4924-b186-b5a72bcb1b0c" providerId="ADAL" clId="{C9BC9705-B297-4DBE-98C5-DC3A9E8CDA70}"/>
    <pc:docChg chg="undo modSld">
      <pc:chgData name="Morris Gu" userId="69bc5ac2-d614-4924-b186-b5a72bcb1b0c" providerId="ADAL" clId="{C9BC9705-B297-4DBE-98C5-DC3A9E8CDA70}" dt="2024-09-25T02:38:10.596" v="502" actId="20577"/>
      <pc:docMkLst>
        <pc:docMk/>
      </pc:docMkLst>
      <pc:sldChg chg="modSp">
        <pc:chgData name="Morris Gu" userId="69bc5ac2-d614-4924-b186-b5a72bcb1b0c" providerId="ADAL" clId="{C9BC9705-B297-4DBE-98C5-DC3A9E8CDA70}" dt="2024-09-25T01:20:20.250" v="1" actId="20577"/>
        <pc:sldMkLst>
          <pc:docMk/>
          <pc:sldMk cId="3633391282" sldId="275"/>
        </pc:sldMkLst>
        <pc:spChg chg="mod">
          <ac:chgData name="Morris Gu" userId="69bc5ac2-d614-4924-b186-b5a72bcb1b0c" providerId="ADAL" clId="{C9BC9705-B297-4DBE-98C5-DC3A9E8CDA70}" dt="2024-09-25T01:20:20.250" v="1" actId="20577"/>
          <ac:spMkLst>
            <pc:docMk/>
            <pc:sldMk cId="3633391282" sldId="275"/>
            <ac:spMk id="4" creationId="{CA0B27D3-7B85-4485-A10E-AAC012A9B3BB}"/>
          </ac:spMkLst>
        </pc:spChg>
      </pc:sldChg>
      <pc:sldChg chg="modSp">
        <pc:chgData name="Morris Gu" userId="69bc5ac2-d614-4924-b186-b5a72bcb1b0c" providerId="ADAL" clId="{C9BC9705-B297-4DBE-98C5-DC3A9E8CDA70}" dt="2024-09-25T02:38:10.596" v="502" actId="20577"/>
        <pc:sldMkLst>
          <pc:docMk/>
          <pc:sldMk cId="86247891" sldId="277"/>
        </pc:sldMkLst>
        <pc:spChg chg="mod">
          <ac:chgData name="Morris Gu" userId="69bc5ac2-d614-4924-b186-b5a72bcb1b0c" providerId="ADAL" clId="{C9BC9705-B297-4DBE-98C5-DC3A9E8CDA70}" dt="2024-09-25T02:38:10.596" v="502" actId="20577"/>
          <ac:spMkLst>
            <pc:docMk/>
            <pc:sldMk cId="86247891" sldId="277"/>
            <ac:spMk id="4" creationId="{CA0B27D3-7B85-4485-A10E-AAC012A9B3BB}"/>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9407A57-47BC-45C1-B9EB-906F4463B0AB}" type="datetimeFigureOut">
              <a:rPr lang="en-AU" smtClean="0"/>
              <a:t>7/10/2025</a:t>
            </a:fld>
            <a:endParaRPr lang="en-A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A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57838D7-8F53-414D-A178-F59763C42603}" type="slidenum">
              <a:rPr lang="en-AU" smtClean="0"/>
              <a:t>‹#›</a:t>
            </a:fld>
            <a:endParaRPr lang="en-AU"/>
          </a:p>
        </p:txBody>
      </p:sp>
    </p:spTree>
    <p:extLst>
      <p:ext uri="{BB962C8B-B14F-4D97-AF65-F5344CB8AC3E}">
        <p14:creationId xmlns:p14="http://schemas.microsoft.com/office/powerpoint/2010/main" val="2333873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bg2">
            <a:lumMod val="75000"/>
          </a:schemeClr>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261872" y="758952"/>
            <a:ext cx="9418320" cy="4041648"/>
          </a:xfrm>
        </p:spPr>
        <p:txBody>
          <a:bodyPr anchor="b">
            <a:normAutofit/>
          </a:bodyPr>
          <a:lstStyle>
            <a:lvl1pPr algn="l">
              <a:lnSpc>
                <a:spcPct val="85000"/>
              </a:lnSpc>
              <a:defRPr sz="7200" baseline="0">
                <a:solidFill>
                  <a:schemeClr val="tx1"/>
                </a:solidFill>
              </a:defRPr>
            </a:lvl1pPr>
          </a:lstStyle>
          <a:p>
            <a:r>
              <a:rPr lang="en-US"/>
              <a:t>Click to edit Master title style</a:t>
            </a:r>
            <a:endParaRPr lang="en-US" dirty="0"/>
          </a:p>
        </p:txBody>
      </p:sp>
      <p:sp>
        <p:nvSpPr>
          <p:cNvPr id="3" name="Subtitle 2"/>
          <p:cNvSpPr>
            <a:spLocks noGrp="1"/>
          </p:cNvSpPr>
          <p:nvPr>
            <p:ph type="subTitle" idx="1"/>
          </p:nvPr>
        </p:nvSpPr>
        <p:spPr>
          <a:xfrm>
            <a:off x="1261872" y="4800600"/>
            <a:ext cx="9418320" cy="1691640"/>
          </a:xfrm>
        </p:spPr>
        <p:txBody>
          <a:bodyPr>
            <a:normAutofit/>
          </a:bodyPr>
          <a:lstStyle>
            <a:lvl1pPr marL="0" indent="0" algn="l">
              <a:buNone/>
              <a:defRPr sz="2200" baseline="0">
                <a:solidFill>
                  <a:schemeClr val="tx1">
                    <a:lumMod val="75000"/>
                  </a:schemeClr>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solidFill>
                  <a:schemeClr val="tx1">
                    <a:lumMod val="50000"/>
                  </a:schemeClr>
                </a:solidFill>
              </a:defRPr>
            </a:lvl1pPr>
          </a:lstStyle>
          <a:p>
            <a:fld id="{1205BC88-DBF0-4610-A802-A09E0A6ECD22}" type="datetimeFigureOut">
              <a:rPr lang="en-AU" smtClean="0"/>
              <a:t>7/10/2025</a:t>
            </a:fld>
            <a:endParaRPr lang="en-AU"/>
          </a:p>
        </p:txBody>
      </p:sp>
      <p:sp>
        <p:nvSpPr>
          <p:cNvPr id="5" name="Footer Placeholder 4"/>
          <p:cNvSpPr>
            <a:spLocks noGrp="1"/>
          </p:cNvSpPr>
          <p:nvPr>
            <p:ph type="ftr" sz="quarter" idx="11"/>
          </p:nvPr>
        </p:nvSpPr>
        <p:spPr/>
        <p:txBody>
          <a:bodyPr/>
          <a:lstStyle>
            <a:lvl1pPr>
              <a:defRPr>
                <a:solidFill>
                  <a:schemeClr val="tx1">
                    <a:lumMod val="65000"/>
                  </a:schemeClr>
                </a:solidFill>
              </a:defRPr>
            </a:lvl1pPr>
          </a:lstStyle>
          <a:p>
            <a:endParaRPr lang="en-AU"/>
          </a:p>
        </p:txBody>
      </p:sp>
      <p:sp>
        <p:nvSpPr>
          <p:cNvPr id="6" name="Slide Number Placeholder 5"/>
          <p:cNvSpPr>
            <a:spLocks noGrp="1"/>
          </p:cNvSpPr>
          <p:nvPr>
            <p:ph type="sldNum" sz="quarter" idx="12"/>
          </p:nvPr>
        </p:nvSpPr>
        <p:spPr/>
        <p:txBody>
          <a:bodyPr/>
          <a:lstStyle>
            <a:lvl1pPr>
              <a:defRPr>
                <a:solidFill>
                  <a:schemeClr val="tx1">
                    <a:lumMod val="65000"/>
                  </a:schemeClr>
                </a:solidFill>
              </a:defRPr>
            </a:lvl1pPr>
          </a:lstStyle>
          <a:p>
            <a:fld id="{A66E8694-4F18-4E32-9A46-A94098D129B3}" type="slidenum">
              <a:rPr lang="en-AU" smtClean="0"/>
              <a:t>‹#›</a:t>
            </a:fld>
            <a:endParaRPr lang="en-AU"/>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AU"/>
          </a:p>
        </p:txBody>
      </p:sp>
    </p:spTree>
    <p:extLst>
      <p:ext uri="{BB962C8B-B14F-4D97-AF65-F5344CB8AC3E}">
        <p14:creationId xmlns:p14="http://schemas.microsoft.com/office/powerpoint/2010/main" val="804540178"/>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205BC88-DBF0-4610-A802-A09E0A6ECD22}" type="datetimeFigureOut">
              <a:rPr lang="en-AU" smtClean="0"/>
              <a:t>7/10/2025</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A66E8694-4F18-4E32-9A46-A94098D129B3}" type="slidenum">
              <a:rPr lang="en-AU" smtClean="0"/>
              <a:t>‹#›</a:t>
            </a:fld>
            <a:endParaRPr lang="en-AU"/>
          </a:p>
        </p:txBody>
      </p:sp>
    </p:spTree>
    <p:extLst>
      <p:ext uri="{BB962C8B-B14F-4D97-AF65-F5344CB8AC3E}">
        <p14:creationId xmlns:p14="http://schemas.microsoft.com/office/powerpoint/2010/main" val="241610716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61872" y="758952"/>
            <a:ext cx="9418320" cy="4041648"/>
          </a:xfrm>
        </p:spPr>
        <p:txBody>
          <a:bodyPr anchor="b">
            <a:normAutofit/>
          </a:bodyPr>
          <a:lstStyle>
            <a:lvl1pPr>
              <a:lnSpc>
                <a:spcPct val="85000"/>
              </a:lnSpc>
              <a:defRPr sz="7200" b="0"/>
            </a:lvl1pPr>
          </a:lstStyle>
          <a:p>
            <a:r>
              <a:rPr lang="en-US"/>
              <a:t>Click to edit Master title style</a:t>
            </a:r>
            <a:endParaRPr lang="en-US" dirty="0"/>
          </a:p>
        </p:txBody>
      </p:sp>
      <p:sp>
        <p:nvSpPr>
          <p:cNvPr id="3" name="Text Placeholder 2"/>
          <p:cNvSpPr>
            <a:spLocks noGrp="1"/>
          </p:cNvSpPr>
          <p:nvPr>
            <p:ph type="body" idx="1"/>
          </p:nvPr>
        </p:nvSpPr>
        <p:spPr>
          <a:xfrm>
            <a:off x="1261872" y="4800600"/>
            <a:ext cx="9418320" cy="1691640"/>
          </a:xfrm>
        </p:spPr>
        <p:txBody>
          <a:bodyPr anchor="t">
            <a:normAutofit/>
          </a:bodyPr>
          <a:lstStyle>
            <a:lvl1pPr marL="0" indent="0">
              <a:buNone/>
              <a:defRPr sz="22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205BC88-DBF0-4610-A802-A09E0A6ECD22}" type="datetimeFigureOut">
              <a:rPr lang="en-AU" smtClean="0"/>
              <a:t>7/10/2025</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A66E8694-4F18-4E32-9A46-A94098D129B3}" type="slidenum">
              <a:rPr lang="en-AU" smtClean="0"/>
              <a:t>‹#›</a:t>
            </a:fld>
            <a:endParaRPr lang="en-AU"/>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777182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261872"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26480"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205BC88-DBF0-4610-A802-A09E0A6ECD22}" type="datetimeFigureOut">
              <a:rPr lang="en-AU" smtClean="0"/>
              <a:t>7/10/2025</a:t>
            </a:fld>
            <a:endParaRPr lang="en-AU"/>
          </a:p>
        </p:txBody>
      </p:sp>
      <p:sp>
        <p:nvSpPr>
          <p:cNvPr id="6" name="Footer Placeholder 5"/>
          <p:cNvSpPr>
            <a:spLocks noGrp="1"/>
          </p:cNvSpPr>
          <p:nvPr>
            <p:ph type="ftr" sz="quarter" idx="11"/>
          </p:nvPr>
        </p:nvSpPr>
        <p:spPr/>
        <p:txBody>
          <a:bodyPr/>
          <a:lstStyle/>
          <a:p>
            <a:endParaRPr lang="en-AU"/>
          </a:p>
        </p:txBody>
      </p:sp>
      <p:sp>
        <p:nvSpPr>
          <p:cNvPr id="7" name="Slide Number Placeholder 6"/>
          <p:cNvSpPr>
            <a:spLocks noGrp="1"/>
          </p:cNvSpPr>
          <p:nvPr>
            <p:ph type="sldNum" sz="quarter" idx="12"/>
          </p:nvPr>
        </p:nvSpPr>
        <p:spPr/>
        <p:txBody>
          <a:bodyPr/>
          <a:lstStyle/>
          <a:p>
            <a:fld id="{A66E8694-4F18-4E32-9A46-A94098D129B3}" type="slidenum">
              <a:rPr lang="en-AU" smtClean="0"/>
              <a:t>‹#›</a:t>
            </a:fld>
            <a:endParaRPr lang="en-AU"/>
          </a:p>
        </p:txBody>
      </p:sp>
    </p:spTree>
    <p:extLst>
      <p:ext uri="{BB962C8B-B14F-4D97-AF65-F5344CB8AC3E}">
        <p14:creationId xmlns:p14="http://schemas.microsoft.com/office/powerpoint/2010/main" val="290765819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261872" y="1713655"/>
            <a:ext cx="4480560" cy="731520"/>
          </a:xfrm>
        </p:spPr>
        <p:txBody>
          <a:bodyPr anchor="b">
            <a:normAutofit/>
          </a:bodyPr>
          <a:lstStyle>
            <a:lvl1pPr marL="0" indent="0">
              <a:spcBef>
                <a:spcPts val="0"/>
              </a:spcBef>
              <a:buNone/>
              <a:defRPr sz="2000" b="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261872"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26480" y="1713655"/>
            <a:ext cx="4480560" cy="731520"/>
          </a:xfrm>
        </p:spPr>
        <p:txBody>
          <a:bodyPr anchor="b">
            <a:normAutofit/>
          </a:bodyPr>
          <a:lstStyle>
            <a:lvl1pPr marL="0" indent="0">
              <a:lnSpc>
                <a:spcPct val="95000"/>
              </a:lnSpc>
              <a:spcBef>
                <a:spcPts val="0"/>
              </a:spcBef>
              <a:buNone/>
              <a:defRPr lang="en-US" sz="2000" b="0" kern="1200" dirty="0">
                <a:solidFill>
                  <a:schemeClr val="tx2"/>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2000"/>
              </a:spcBef>
              <a:buFontTx/>
              <a:buNone/>
            </a:pPr>
            <a:r>
              <a:rPr lang="en-US"/>
              <a:t>Click to edit Master text styles</a:t>
            </a:r>
          </a:p>
        </p:txBody>
      </p:sp>
      <p:sp>
        <p:nvSpPr>
          <p:cNvPr id="6" name="Content Placeholder 5"/>
          <p:cNvSpPr>
            <a:spLocks noGrp="1"/>
          </p:cNvSpPr>
          <p:nvPr>
            <p:ph sz="quarter" idx="4"/>
          </p:nvPr>
        </p:nvSpPr>
        <p:spPr>
          <a:xfrm>
            <a:off x="6126480"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205BC88-DBF0-4610-A802-A09E0A6ECD22}" type="datetimeFigureOut">
              <a:rPr lang="en-AU" smtClean="0"/>
              <a:t>7/10/2025</a:t>
            </a:fld>
            <a:endParaRPr lang="en-AU"/>
          </a:p>
        </p:txBody>
      </p:sp>
      <p:sp>
        <p:nvSpPr>
          <p:cNvPr id="8" name="Footer Placeholder 7"/>
          <p:cNvSpPr>
            <a:spLocks noGrp="1"/>
          </p:cNvSpPr>
          <p:nvPr>
            <p:ph type="ftr" sz="quarter" idx="11"/>
          </p:nvPr>
        </p:nvSpPr>
        <p:spPr/>
        <p:txBody>
          <a:bodyPr/>
          <a:lstStyle/>
          <a:p>
            <a:endParaRPr lang="en-AU"/>
          </a:p>
        </p:txBody>
      </p:sp>
      <p:sp>
        <p:nvSpPr>
          <p:cNvPr id="9" name="Slide Number Placeholder 8"/>
          <p:cNvSpPr>
            <a:spLocks noGrp="1"/>
          </p:cNvSpPr>
          <p:nvPr>
            <p:ph type="sldNum" sz="quarter" idx="12"/>
          </p:nvPr>
        </p:nvSpPr>
        <p:spPr/>
        <p:txBody>
          <a:bodyPr/>
          <a:lstStyle/>
          <a:p>
            <a:fld id="{A66E8694-4F18-4E32-9A46-A94098D129B3}" type="slidenum">
              <a:rPr lang="en-AU" smtClean="0"/>
              <a:t>‹#›</a:t>
            </a:fld>
            <a:endParaRPr lang="en-AU"/>
          </a:p>
        </p:txBody>
      </p:sp>
    </p:spTree>
    <p:extLst>
      <p:ext uri="{BB962C8B-B14F-4D97-AF65-F5344CB8AC3E}">
        <p14:creationId xmlns:p14="http://schemas.microsoft.com/office/powerpoint/2010/main" val="5243782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205BC88-DBF0-4610-A802-A09E0A6ECD22}" type="datetimeFigureOut">
              <a:rPr lang="en-AU" smtClean="0"/>
              <a:t>7/10/2025</a:t>
            </a:fld>
            <a:endParaRPr lang="en-AU"/>
          </a:p>
        </p:txBody>
      </p:sp>
      <p:sp>
        <p:nvSpPr>
          <p:cNvPr id="4" name="Footer Placeholder 3"/>
          <p:cNvSpPr>
            <a:spLocks noGrp="1"/>
          </p:cNvSpPr>
          <p:nvPr>
            <p:ph type="ftr" sz="quarter" idx="11"/>
          </p:nvPr>
        </p:nvSpPr>
        <p:spPr/>
        <p:txBody>
          <a:bodyPr/>
          <a:lstStyle/>
          <a:p>
            <a:endParaRPr lang="en-AU"/>
          </a:p>
        </p:txBody>
      </p:sp>
      <p:sp>
        <p:nvSpPr>
          <p:cNvPr id="5" name="Slide Number Placeholder 4"/>
          <p:cNvSpPr>
            <a:spLocks noGrp="1"/>
          </p:cNvSpPr>
          <p:nvPr>
            <p:ph type="sldNum" sz="quarter" idx="12"/>
          </p:nvPr>
        </p:nvSpPr>
        <p:spPr/>
        <p:txBody>
          <a:bodyPr/>
          <a:lstStyle/>
          <a:p>
            <a:fld id="{A66E8694-4F18-4E32-9A46-A94098D129B3}" type="slidenum">
              <a:rPr lang="en-AU" smtClean="0"/>
              <a:t>‹#›</a:t>
            </a:fld>
            <a:endParaRPr lang="en-AU"/>
          </a:p>
        </p:txBody>
      </p:sp>
    </p:spTree>
    <p:extLst>
      <p:ext uri="{BB962C8B-B14F-4D97-AF65-F5344CB8AC3E}">
        <p14:creationId xmlns:p14="http://schemas.microsoft.com/office/powerpoint/2010/main" val="36752908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205BC88-DBF0-4610-A802-A09E0A6ECD22}" type="datetimeFigureOut">
              <a:rPr lang="en-AU" smtClean="0"/>
              <a:t>7/10/2025</a:t>
            </a:fld>
            <a:endParaRPr lang="en-AU"/>
          </a:p>
        </p:txBody>
      </p:sp>
      <p:sp>
        <p:nvSpPr>
          <p:cNvPr id="3" name="Footer Placeholder 2"/>
          <p:cNvSpPr>
            <a:spLocks noGrp="1"/>
          </p:cNvSpPr>
          <p:nvPr>
            <p:ph type="ftr" sz="quarter" idx="11"/>
          </p:nvPr>
        </p:nvSpPr>
        <p:spPr/>
        <p:txBody>
          <a:bodyPr/>
          <a:lstStyle/>
          <a:p>
            <a:endParaRPr lang="en-AU"/>
          </a:p>
        </p:txBody>
      </p:sp>
      <p:sp>
        <p:nvSpPr>
          <p:cNvPr id="4" name="Slide Number Placeholder 3"/>
          <p:cNvSpPr>
            <a:spLocks noGrp="1"/>
          </p:cNvSpPr>
          <p:nvPr>
            <p:ph type="sldNum" sz="quarter" idx="12"/>
          </p:nvPr>
        </p:nvSpPr>
        <p:spPr/>
        <p:txBody>
          <a:bodyPr/>
          <a:lstStyle/>
          <a:p>
            <a:fld id="{A66E8694-4F18-4E32-9A46-A94098D129B3}" type="slidenum">
              <a:rPr lang="en-AU" smtClean="0"/>
              <a:t>‹#›</a:t>
            </a:fld>
            <a:endParaRPr lang="en-AU"/>
          </a:p>
        </p:txBody>
      </p:sp>
    </p:spTree>
    <p:extLst>
      <p:ext uri="{BB962C8B-B14F-4D97-AF65-F5344CB8AC3E}">
        <p14:creationId xmlns:p14="http://schemas.microsoft.com/office/powerpoint/2010/main" val="31679538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1248" y="457200"/>
            <a:ext cx="3200400" cy="1600197"/>
          </a:xfrm>
        </p:spPr>
        <p:txBody>
          <a:bodyPr anchor="b">
            <a:normAutofit/>
          </a:bodyPr>
          <a:lstStyle>
            <a:lvl1pPr>
              <a:defRPr sz="3200" b="0" baseline="0"/>
            </a:lvl1pPr>
          </a:lstStyle>
          <a:p>
            <a:r>
              <a:rPr lang="en-US"/>
              <a:t>Click to edit Master title style</a:t>
            </a:r>
            <a:endParaRPr lang="en-US" dirty="0"/>
          </a:p>
        </p:txBody>
      </p:sp>
      <p:sp>
        <p:nvSpPr>
          <p:cNvPr id="3" name="Content Placeholder 2"/>
          <p:cNvSpPr>
            <a:spLocks noGrp="1"/>
          </p:cNvSpPr>
          <p:nvPr>
            <p:ph idx="1"/>
          </p:nvPr>
        </p:nvSpPr>
        <p:spPr>
          <a:xfrm>
            <a:off x="4504267" y="685800"/>
            <a:ext cx="6079066" cy="548640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41248" y="2099734"/>
            <a:ext cx="3200400" cy="3810001"/>
          </a:xfrm>
        </p:spPr>
        <p:txBody>
          <a:bodyPr>
            <a:normAutofit/>
          </a:bodyPr>
          <a:lstStyle>
            <a:lvl1pPr marL="0" indent="0">
              <a:lnSpc>
                <a:spcPct val="114000"/>
              </a:lnSpc>
              <a:spcBef>
                <a:spcPts val="800"/>
              </a:spcBef>
              <a:buNone/>
              <a:defRPr sz="13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205BC88-DBF0-4610-A802-A09E0A6ECD22}" type="datetimeFigureOut">
              <a:rPr lang="en-AU" smtClean="0"/>
              <a:t>7/10/2025</a:t>
            </a:fld>
            <a:endParaRPr lang="en-AU"/>
          </a:p>
        </p:txBody>
      </p:sp>
      <p:sp>
        <p:nvSpPr>
          <p:cNvPr id="6" name="Footer Placeholder 5"/>
          <p:cNvSpPr>
            <a:spLocks noGrp="1"/>
          </p:cNvSpPr>
          <p:nvPr>
            <p:ph type="ftr" sz="quarter" idx="11"/>
          </p:nvPr>
        </p:nvSpPr>
        <p:spPr/>
        <p:txBody>
          <a:bodyPr/>
          <a:lstStyle/>
          <a:p>
            <a:endParaRPr lang="en-AU"/>
          </a:p>
        </p:txBody>
      </p:sp>
      <p:sp>
        <p:nvSpPr>
          <p:cNvPr id="7" name="Slide Number Placeholder 6"/>
          <p:cNvSpPr>
            <a:spLocks noGrp="1"/>
          </p:cNvSpPr>
          <p:nvPr>
            <p:ph type="sldNum" sz="quarter" idx="12"/>
          </p:nvPr>
        </p:nvSpPr>
        <p:spPr/>
        <p:txBody>
          <a:bodyPr/>
          <a:lstStyle/>
          <a:p>
            <a:fld id="{A66E8694-4F18-4E32-9A46-A94098D129B3}" type="slidenum">
              <a:rPr lang="en-AU" smtClean="0"/>
              <a:t>‹#›</a:t>
            </a:fld>
            <a:endParaRPr lang="en-AU"/>
          </a:p>
        </p:txBody>
      </p:sp>
    </p:spTree>
    <p:extLst>
      <p:ext uri="{BB962C8B-B14F-4D97-AF65-F5344CB8AC3E}">
        <p14:creationId xmlns:p14="http://schemas.microsoft.com/office/powerpoint/2010/main" val="26261842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5105400"/>
            <a:ext cx="11292840" cy="175260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914400" y="5257800"/>
            <a:ext cx="9982200" cy="914400"/>
          </a:xfrm>
        </p:spPr>
        <p:txBody>
          <a:bodyPr anchor="b">
            <a:normAutofit/>
          </a:bodyPr>
          <a:lstStyle>
            <a:lvl1pPr>
              <a:defRPr sz="2800" b="0">
                <a:solidFill>
                  <a:schemeClr val="bg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0"/>
            <a:ext cx="11292840" cy="5128923"/>
          </a:xfrm>
          <a:solidFill>
            <a:schemeClr val="accent1"/>
          </a:solidFill>
        </p:spPr>
        <p:txBody>
          <a:bodyPr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4400" y="6108589"/>
            <a:ext cx="9982200" cy="597011"/>
          </a:xfrm>
        </p:spPr>
        <p:txBody>
          <a:bodyPr>
            <a:normAutofit/>
          </a:bodyPr>
          <a:lstStyle>
            <a:lvl1pPr marL="0" indent="0">
              <a:lnSpc>
                <a:spcPct val="100000"/>
              </a:lnSpc>
              <a:spcBef>
                <a:spcPts val="800"/>
              </a:spcBef>
              <a:buNone/>
              <a:defRPr sz="1300">
                <a:solidFill>
                  <a:schemeClr val="bg1">
                    <a:lumMod val="8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205BC88-DBF0-4610-A802-A09E0A6ECD22}" type="datetimeFigureOut">
              <a:rPr lang="en-AU" smtClean="0"/>
              <a:t>7/10/2025</a:t>
            </a:fld>
            <a:endParaRPr lang="en-AU"/>
          </a:p>
        </p:txBody>
      </p:sp>
      <p:sp>
        <p:nvSpPr>
          <p:cNvPr id="6" name="Footer Placeholder 5"/>
          <p:cNvSpPr>
            <a:spLocks noGrp="1"/>
          </p:cNvSpPr>
          <p:nvPr>
            <p:ph type="ftr" sz="quarter" idx="11"/>
          </p:nvPr>
        </p:nvSpPr>
        <p:spPr/>
        <p:txBody>
          <a:bodyPr/>
          <a:lstStyle/>
          <a:p>
            <a:endParaRPr lang="en-AU"/>
          </a:p>
        </p:txBody>
      </p:sp>
      <p:sp>
        <p:nvSpPr>
          <p:cNvPr id="7" name="Slide Number Placeholder 6"/>
          <p:cNvSpPr>
            <a:spLocks noGrp="1"/>
          </p:cNvSpPr>
          <p:nvPr>
            <p:ph type="sldNum" sz="quarter" idx="12"/>
          </p:nvPr>
        </p:nvSpPr>
        <p:spPr/>
        <p:txBody>
          <a:bodyPr/>
          <a:lstStyle/>
          <a:p>
            <a:fld id="{A66E8694-4F18-4E32-9A46-A94098D129B3}" type="slidenum">
              <a:rPr lang="en-AU" smtClean="0"/>
              <a:t>‹#›</a:t>
            </a:fld>
            <a:endParaRPr lang="en-AU"/>
          </a:p>
        </p:txBody>
      </p:sp>
    </p:spTree>
    <p:extLst>
      <p:ext uri="{BB962C8B-B14F-4D97-AF65-F5344CB8AC3E}">
        <p14:creationId xmlns:p14="http://schemas.microsoft.com/office/powerpoint/2010/main" val="290205363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205BC88-DBF0-4610-A802-A09E0A6ECD22}" type="datetimeFigureOut">
              <a:rPr lang="en-AU" smtClean="0"/>
              <a:t>7/10/2025</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A66E8694-4F18-4E32-9A46-A94098D129B3}" type="slidenum">
              <a:rPr lang="en-AU" smtClean="0"/>
              <a:t>‹#›</a:t>
            </a:fld>
            <a:endParaRPr lang="en-AU"/>
          </a:p>
        </p:txBody>
      </p:sp>
    </p:spTree>
    <p:extLst>
      <p:ext uri="{BB962C8B-B14F-4D97-AF65-F5344CB8AC3E}">
        <p14:creationId xmlns:p14="http://schemas.microsoft.com/office/powerpoint/2010/main" val="400047397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48700" y="381000"/>
            <a:ext cx="2476500" cy="5897562"/>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62000" y="381000"/>
            <a:ext cx="7734300" cy="589756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205BC88-DBF0-4610-A802-A09E0A6ECD22}" type="datetimeFigureOut">
              <a:rPr lang="en-AU" smtClean="0"/>
              <a:t>7/10/2025</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A66E8694-4F18-4E32-9A46-A94098D129B3}" type="slidenum">
              <a:rPr lang="en-AU" smtClean="0"/>
              <a:t>‹#›</a:t>
            </a:fld>
            <a:endParaRPr lang="en-AU"/>
          </a:p>
        </p:txBody>
      </p:sp>
    </p:spTree>
    <p:extLst>
      <p:ext uri="{BB962C8B-B14F-4D97-AF65-F5344CB8AC3E}">
        <p14:creationId xmlns:p14="http://schemas.microsoft.com/office/powerpoint/2010/main" val="209647298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1292840" y="0"/>
            <a:ext cx="914400" cy="6858000"/>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AU"/>
          </a:p>
        </p:txBody>
      </p:sp>
      <p:sp>
        <p:nvSpPr>
          <p:cNvPr id="2" name="Title Placeholder 1"/>
          <p:cNvSpPr>
            <a:spLocks noGrp="1"/>
          </p:cNvSpPr>
          <p:nvPr>
            <p:ph type="title"/>
          </p:nvPr>
        </p:nvSpPr>
        <p:spPr>
          <a:xfrm>
            <a:off x="1261872" y="365760"/>
            <a:ext cx="9692640" cy="1325562"/>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261872" y="1828800"/>
            <a:ext cx="8595360" cy="435133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rot="16200000">
            <a:off x="10797542" y="998537"/>
            <a:ext cx="1904999" cy="365125"/>
          </a:xfrm>
          <a:prstGeom prst="rect">
            <a:avLst/>
          </a:prstGeom>
        </p:spPr>
        <p:txBody>
          <a:bodyPr vert="horz" lIns="91440" tIns="45720" rIns="91440" bIns="45720" rtlCol="0" anchor="ctr"/>
          <a:lstStyle>
            <a:lvl1pPr algn="r">
              <a:defRPr sz="1050" b="0">
                <a:solidFill>
                  <a:schemeClr val="tx2">
                    <a:lumMod val="20000"/>
                    <a:lumOff val="80000"/>
                  </a:schemeClr>
                </a:solidFill>
              </a:defRPr>
            </a:lvl1pPr>
          </a:lstStyle>
          <a:p>
            <a:fld id="{1205BC88-DBF0-4610-A802-A09E0A6ECD22}" type="datetimeFigureOut">
              <a:rPr lang="en-AU" smtClean="0"/>
              <a:t>7/10/2025</a:t>
            </a:fld>
            <a:endParaRPr lang="en-AU"/>
          </a:p>
        </p:txBody>
      </p:sp>
      <p:sp>
        <p:nvSpPr>
          <p:cNvPr id="5" name="Footer Placeholder 4"/>
          <p:cNvSpPr>
            <a:spLocks noGrp="1"/>
          </p:cNvSpPr>
          <p:nvPr>
            <p:ph type="ftr" sz="quarter" idx="3"/>
          </p:nvPr>
        </p:nvSpPr>
        <p:spPr>
          <a:xfrm rot="16200000">
            <a:off x="9959341" y="4046537"/>
            <a:ext cx="3581400" cy="365125"/>
          </a:xfrm>
          <a:prstGeom prst="rect">
            <a:avLst/>
          </a:prstGeom>
        </p:spPr>
        <p:txBody>
          <a:bodyPr vert="horz" lIns="91440" tIns="45720" rIns="91440" bIns="45720" rtlCol="0" anchor="ctr"/>
          <a:lstStyle>
            <a:lvl1pPr algn="l">
              <a:defRPr sz="1050">
                <a:solidFill>
                  <a:schemeClr val="tx2">
                    <a:lumMod val="20000"/>
                    <a:lumOff val="80000"/>
                  </a:schemeClr>
                </a:solidFill>
              </a:defRPr>
            </a:lvl1pPr>
          </a:lstStyle>
          <a:p>
            <a:endParaRPr lang="en-AU"/>
          </a:p>
        </p:txBody>
      </p:sp>
      <p:sp>
        <p:nvSpPr>
          <p:cNvPr id="6" name="Slide Number Placeholder 5"/>
          <p:cNvSpPr>
            <a:spLocks noGrp="1"/>
          </p:cNvSpPr>
          <p:nvPr>
            <p:ph type="sldNum" sz="quarter" idx="4"/>
          </p:nvPr>
        </p:nvSpPr>
        <p:spPr>
          <a:xfrm>
            <a:off x="11292840" y="6172200"/>
            <a:ext cx="914400" cy="593725"/>
          </a:xfrm>
          <a:prstGeom prst="rect">
            <a:avLst/>
          </a:prstGeom>
        </p:spPr>
        <p:txBody>
          <a:bodyPr vert="horz" lIns="45720" tIns="45720" rIns="45720" bIns="45720" rtlCol="0" anchor="ctr">
            <a:normAutofit/>
          </a:bodyPr>
          <a:lstStyle>
            <a:lvl1pPr algn="ctr">
              <a:defRPr sz="3600">
                <a:solidFill>
                  <a:schemeClr val="tx2">
                    <a:lumMod val="60000"/>
                    <a:lumOff val="40000"/>
                  </a:schemeClr>
                </a:solidFill>
              </a:defRPr>
            </a:lvl1pPr>
          </a:lstStyle>
          <a:p>
            <a:fld id="{A66E8694-4F18-4E32-9A46-A94098D129B3}" type="slidenum">
              <a:rPr lang="en-AU" smtClean="0"/>
              <a:t>‹#›</a:t>
            </a:fld>
            <a:endParaRPr lang="en-AU"/>
          </a:p>
        </p:txBody>
      </p:sp>
    </p:spTree>
    <p:extLst>
      <p:ext uri="{BB962C8B-B14F-4D97-AF65-F5344CB8AC3E}">
        <p14:creationId xmlns:p14="http://schemas.microsoft.com/office/powerpoint/2010/main" val="4018094817"/>
      </p:ext>
    </p:extLst>
  </p:cSld>
  <p:clrMap bg1="lt1" tx1="dk1" bg2="lt2" tx2="dk2" accent1="accent1" accent2="accent2" accent3="accent3" accent4="accent4" accent5="accent5" accent6="accent6" hlink="hlink" folHlink="folHlink"/>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Lst>
  <p:txStyles>
    <p:title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p:titleStyle>
    <p:body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mn-lt"/>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mn-lt"/>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www.craiyon.com/" TargetMode="External"/><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TextBox 49">
            <a:extLst>
              <a:ext uri="{FF2B5EF4-FFF2-40B4-BE49-F238E27FC236}">
                <a16:creationId xmlns:a16="http://schemas.microsoft.com/office/drawing/2014/main" id="{BF948A99-782B-4139-A61F-6C2663DAEB76}"/>
              </a:ext>
            </a:extLst>
          </p:cNvPr>
          <p:cNvSpPr txBox="1"/>
          <p:nvPr/>
        </p:nvSpPr>
        <p:spPr>
          <a:xfrm>
            <a:off x="478180" y="172557"/>
            <a:ext cx="11713820" cy="830997"/>
          </a:xfrm>
          <a:prstGeom prst="rect">
            <a:avLst/>
          </a:prstGeom>
          <a:noFill/>
        </p:spPr>
        <p:txBody>
          <a:bodyPr wrap="square" rtlCol="0">
            <a:spAutoFit/>
          </a:bodyPr>
          <a:lstStyle/>
          <a:p>
            <a:pPr algn="ctr"/>
            <a:r>
              <a:rPr lang="en-AU" sz="4800" dirty="0"/>
              <a:t>ECE4078  Intelligent robotics</a:t>
            </a:r>
          </a:p>
        </p:txBody>
      </p:sp>
      <p:sp>
        <p:nvSpPr>
          <p:cNvPr id="4" name="TextBox 3">
            <a:extLst>
              <a:ext uri="{FF2B5EF4-FFF2-40B4-BE49-F238E27FC236}">
                <a16:creationId xmlns:a16="http://schemas.microsoft.com/office/drawing/2014/main" id="{BFDE73F0-7AA3-4E8C-BC34-28C4D2A791F6}"/>
              </a:ext>
            </a:extLst>
          </p:cNvPr>
          <p:cNvSpPr txBox="1"/>
          <p:nvPr/>
        </p:nvSpPr>
        <p:spPr>
          <a:xfrm>
            <a:off x="735188" y="6316111"/>
            <a:ext cx="10721625" cy="369332"/>
          </a:xfrm>
          <a:prstGeom prst="rect">
            <a:avLst/>
          </a:prstGeom>
          <a:noFill/>
        </p:spPr>
        <p:txBody>
          <a:bodyPr wrap="square" rtlCol="0">
            <a:spAutoFit/>
          </a:bodyPr>
          <a:lstStyle/>
          <a:p>
            <a:pPr algn="ctr"/>
            <a:r>
              <a:rPr lang="en-US" dirty="0"/>
              <a:t>Lab 5: Integrated System</a:t>
            </a:r>
            <a:endParaRPr lang="en-AU" dirty="0"/>
          </a:p>
        </p:txBody>
      </p:sp>
      <p:pic>
        <p:nvPicPr>
          <p:cNvPr id="2" name="Picture 1" descr="A robot standing in a store&#10;&#10;Description automatically generated">
            <a:extLst>
              <a:ext uri="{FF2B5EF4-FFF2-40B4-BE49-F238E27FC236}">
                <a16:creationId xmlns:a16="http://schemas.microsoft.com/office/drawing/2014/main" id="{1E81932C-8517-2D4E-1E2B-26EC22116C2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05345" y="1138645"/>
            <a:ext cx="4580709" cy="4580709"/>
          </a:xfrm>
          <a:prstGeom prst="rect">
            <a:avLst/>
          </a:prstGeom>
        </p:spPr>
      </p:pic>
      <p:sp>
        <p:nvSpPr>
          <p:cNvPr id="3" name="CustomShape 2">
            <a:extLst>
              <a:ext uri="{FF2B5EF4-FFF2-40B4-BE49-F238E27FC236}">
                <a16:creationId xmlns:a16="http://schemas.microsoft.com/office/drawing/2014/main" id="{D4B20FBA-41A7-167C-7A9B-53316EF443B4}"/>
              </a:ext>
            </a:extLst>
          </p:cNvPr>
          <p:cNvSpPr/>
          <p:nvPr/>
        </p:nvSpPr>
        <p:spPr>
          <a:xfrm>
            <a:off x="735120" y="5730008"/>
            <a:ext cx="10721160" cy="453078"/>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lstStyle/>
          <a:p>
            <a:pPr algn="ctr">
              <a:lnSpc>
                <a:spcPct val="100000"/>
              </a:lnSpc>
            </a:pPr>
            <a:r>
              <a:rPr lang="en-AU" sz="1200" b="0" strike="noStrike" spc="-1" dirty="0">
                <a:solidFill>
                  <a:srgbClr val="FFFFFF"/>
                </a:solidFill>
                <a:latin typeface="Century Schoolbook"/>
              </a:rPr>
              <a:t>AI art generated by </a:t>
            </a:r>
            <a:r>
              <a:rPr lang="en-AU" sz="1200" b="0" strike="noStrike" spc="-1" dirty="0">
                <a:solidFill>
                  <a:srgbClr val="FFFFFF"/>
                </a:solidFill>
                <a:latin typeface="Century Schoolbook"/>
                <a:hlinkClick r:id="rId3"/>
              </a:rPr>
              <a:t>https://www.craiyon.com/</a:t>
            </a:r>
            <a:endParaRPr lang="en-AU" sz="1200" b="0" strike="noStrike" spc="-1" dirty="0">
              <a:solidFill>
                <a:srgbClr val="FFFFFF"/>
              </a:solidFill>
              <a:latin typeface="Century Schoolbook"/>
            </a:endParaRPr>
          </a:p>
          <a:p>
            <a:pPr algn="ctr">
              <a:lnSpc>
                <a:spcPct val="100000"/>
              </a:lnSpc>
            </a:pPr>
            <a:r>
              <a:rPr lang="en-AU" sz="1200" b="0" strike="noStrike" spc="-1" dirty="0">
                <a:solidFill>
                  <a:srgbClr val="FFFFFF"/>
                </a:solidFill>
                <a:latin typeface="Century Schoolbook"/>
              </a:rPr>
              <a:t>(prompt: “</a:t>
            </a:r>
            <a:r>
              <a:rPr lang="en-GB" sz="1200" b="0" strike="noStrike" spc="-1" dirty="0">
                <a:solidFill>
                  <a:srgbClr val="FFFFFF"/>
                </a:solidFill>
                <a:latin typeface="Century Schoolbook"/>
              </a:rPr>
              <a:t>a penguin robot shopping for fruits and vegetables in a supermarket</a:t>
            </a:r>
            <a:r>
              <a:rPr lang="en-AU" sz="1200" b="0" strike="noStrike" spc="-1" dirty="0">
                <a:solidFill>
                  <a:srgbClr val="FFFFFF"/>
                </a:solidFill>
                <a:latin typeface="Century Schoolbook"/>
              </a:rPr>
              <a:t>”)</a:t>
            </a:r>
            <a:endParaRPr lang="en-AU" sz="1200" b="0" strike="noStrike" spc="-1" dirty="0">
              <a:latin typeface="Arial"/>
            </a:endParaRPr>
          </a:p>
        </p:txBody>
      </p:sp>
    </p:spTree>
    <p:extLst>
      <p:ext uri="{BB962C8B-B14F-4D97-AF65-F5344CB8AC3E}">
        <p14:creationId xmlns:p14="http://schemas.microsoft.com/office/powerpoint/2010/main" val="19759872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E9252403-6DA3-F734-A179-9F0087C42EE5}"/>
              </a:ext>
            </a:extLst>
          </p:cNvPr>
          <p:cNvGraphicFramePr>
            <a:graphicFrameLocks/>
          </p:cNvGraphicFramePr>
          <p:nvPr/>
        </p:nvGraphicFramePr>
        <p:xfrm>
          <a:off x="1819740" y="1449174"/>
          <a:ext cx="8552520" cy="4511040"/>
        </p:xfrm>
        <a:graphic>
          <a:graphicData uri="http://schemas.openxmlformats.org/drawingml/2006/table">
            <a:tbl>
              <a:tblPr/>
              <a:tblGrid>
                <a:gridCol w="1265040">
                  <a:extLst>
                    <a:ext uri="{9D8B030D-6E8A-4147-A177-3AD203B41FA5}">
                      <a16:colId xmlns:a16="http://schemas.microsoft.com/office/drawing/2014/main" val="20000"/>
                    </a:ext>
                  </a:extLst>
                </a:gridCol>
                <a:gridCol w="3384720">
                  <a:extLst>
                    <a:ext uri="{9D8B030D-6E8A-4147-A177-3AD203B41FA5}">
                      <a16:colId xmlns:a16="http://schemas.microsoft.com/office/drawing/2014/main" val="20001"/>
                    </a:ext>
                  </a:extLst>
                </a:gridCol>
                <a:gridCol w="3902760">
                  <a:extLst>
                    <a:ext uri="{9D8B030D-6E8A-4147-A177-3AD203B41FA5}">
                      <a16:colId xmlns:a16="http://schemas.microsoft.com/office/drawing/2014/main" val="20002"/>
                    </a:ext>
                  </a:extLst>
                </a:gridCol>
              </a:tblGrid>
              <a:tr h="335160">
                <a:tc>
                  <a:txBody>
                    <a:bodyPr/>
                    <a:lstStyle/>
                    <a:p>
                      <a:pPr algn="ctr">
                        <a:lnSpc>
                          <a:spcPct val="100000"/>
                        </a:lnSpc>
                        <a:defRPr/>
                      </a:pPr>
                      <a:r>
                        <a:rPr lang="en-AU" sz="1600" b="1" strike="noStrike" spc="-1" dirty="0">
                          <a:solidFill>
                            <a:srgbClr val="000000"/>
                          </a:solidFill>
                          <a:latin typeface="Century Schoolbook"/>
                        </a:rPr>
                        <a:t>Week</a:t>
                      </a:r>
                      <a:endParaRPr lang="en-AU" sz="1600" b="0" strike="noStrike" spc="-1" dirty="0">
                        <a:latin typeface="Arial"/>
                      </a:endParaRPr>
                    </a:p>
                  </a:txBody>
                  <a:tcPr>
                    <a:lnL w="12240" algn="ctr">
                      <a:solidFill>
                        <a:srgbClr val="000000"/>
                      </a:solidFill>
                    </a:lnL>
                    <a:lnR w="12240" algn="ctr">
                      <a:solidFill>
                        <a:srgbClr val="000000"/>
                      </a:solidFill>
                    </a:lnR>
                    <a:lnT w="12240" algn="ctr">
                      <a:solidFill>
                        <a:srgbClr val="000000"/>
                      </a:solidFill>
                    </a:lnT>
                    <a:lnB w="12240" algn="ctr">
                      <a:solidFill>
                        <a:srgbClr val="000000"/>
                      </a:solidFill>
                    </a:lnB>
                    <a:solidFill>
                      <a:srgbClr val="E7E7E7"/>
                    </a:solidFill>
                  </a:tcPr>
                </a:tc>
                <a:tc>
                  <a:txBody>
                    <a:bodyPr/>
                    <a:lstStyle/>
                    <a:p>
                      <a:pPr algn="ctr">
                        <a:lnSpc>
                          <a:spcPct val="100000"/>
                        </a:lnSpc>
                        <a:defRPr/>
                      </a:pPr>
                      <a:r>
                        <a:rPr lang="en-AU" sz="1600" b="1" strike="noStrike" spc="-1">
                          <a:solidFill>
                            <a:srgbClr val="000000"/>
                          </a:solidFill>
                          <a:latin typeface="Century Schoolbook"/>
                        </a:rPr>
                        <a:t>Objectives</a:t>
                      </a:r>
                      <a:endParaRPr lang="en-AU" sz="1600" b="0" strike="noStrike" spc="-1">
                        <a:latin typeface="Arial"/>
                      </a:endParaRPr>
                    </a:p>
                  </a:txBody>
                  <a:tcPr>
                    <a:lnL w="12240" algn="ctr">
                      <a:solidFill>
                        <a:srgbClr val="000000"/>
                      </a:solidFill>
                    </a:lnL>
                    <a:lnR w="12240" algn="ctr">
                      <a:solidFill>
                        <a:srgbClr val="000000"/>
                      </a:solidFill>
                    </a:lnR>
                    <a:lnT w="12240" algn="ctr">
                      <a:solidFill>
                        <a:srgbClr val="000000"/>
                      </a:solidFill>
                    </a:lnT>
                    <a:lnB w="12240" algn="ctr">
                      <a:solidFill>
                        <a:srgbClr val="000000"/>
                      </a:solidFill>
                    </a:lnB>
                    <a:solidFill>
                      <a:srgbClr val="E7E7E7"/>
                    </a:solidFill>
                  </a:tcPr>
                </a:tc>
                <a:tc>
                  <a:txBody>
                    <a:bodyPr/>
                    <a:lstStyle/>
                    <a:p>
                      <a:pPr algn="ctr">
                        <a:lnSpc>
                          <a:spcPct val="100000"/>
                        </a:lnSpc>
                        <a:defRPr/>
                      </a:pPr>
                      <a:r>
                        <a:rPr lang="en-AU" sz="1600" b="1" strike="noStrike" spc="-1">
                          <a:solidFill>
                            <a:srgbClr val="000000"/>
                          </a:solidFill>
                          <a:latin typeface="Century Schoolbook"/>
                        </a:rPr>
                        <a:t>Milestones</a:t>
                      </a:r>
                      <a:endParaRPr lang="en-AU" sz="1600" b="0" strike="noStrike" spc="-1">
                        <a:latin typeface="Arial"/>
                      </a:endParaRPr>
                    </a:p>
                  </a:txBody>
                  <a:tcPr>
                    <a:lnL w="12240" algn="ctr">
                      <a:solidFill>
                        <a:srgbClr val="000000"/>
                      </a:solidFill>
                    </a:lnL>
                    <a:lnR w="12240" algn="ctr">
                      <a:solidFill>
                        <a:srgbClr val="000000"/>
                      </a:solidFill>
                    </a:lnR>
                    <a:lnT w="12240" algn="ctr">
                      <a:solidFill>
                        <a:srgbClr val="000000"/>
                      </a:solidFill>
                    </a:lnT>
                    <a:lnB w="12240" algn="ctr">
                      <a:solidFill>
                        <a:srgbClr val="000000"/>
                      </a:solidFill>
                    </a:lnB>
                    <a:solidFill>
                      <a:srgbClr val="E7E7E7"/>
                    </a:solidFill>
                  </a:tcPr>
                </a:tc>
                <a:extLst>
                  <a:ext uri="{0D108BD9-81ED-4DB2-BD59-A6C34878D82A}">
                    <a16:rowId xmlns:a16="http://schemas.microsoft.com/office/drawing/2014/main" val="10000"/>
                  </a:ext>
                </a:extLst>
              </a:tr>
              <a:tr h="335160">
                <a:tc>
                  <a:txBody>
                    <a:bodyPr/>
                    <a:lstStyle/>
                    <a:p>
                      <a:pPr>
                        <a:lnSpc>
                          <a:spcPct val="100000"/>
                        </a:lnSpc>
                        <a:defRPr/>
                      </a:pPr>
                      <a:r>
                        <a:rPr lang="en-AU" sz="1600" b="0" strike="noStrike" spc="-1" dirty="0">
                          <a:solidFill>
                            <a:srgbClr val="000000"/>
                          </a:solidFill>
                          <a:latin typeface="Century Schoolbook"/>
                        </a:rPr>
                        <a:t>1: C1-1</a:t>
                      </a:r>
                      <a:endParaRPr lang="en-AU" sz="1600" b="0" strike="noStrike" spc="-1" dirty="0">
                        <a:latin typeface="Arial"/>
                      </a:endParaRPr>
                    </a:p>
                  </a:txBody>
                  <a:tcPr>
                    <a:lnL w="12240" algn="ctr">
                      <a:solidFill>
                        <a:srgbClr val="000000"/>
                      </a:solidFill>
                    </a:lnL>
                    <a:lnR w="12240" algn="ctr">
                      <a:solidFill>
                        <a:srgbClr val="000000"/>
                      </a:solidFill>
                    </a:lnR>
                    <a:lnT w="12240" algn="ctr">
                      <a:solidFill>
                        <a:srgbClr val="000000"/>
                      </a:solidFill>
                    </a:lnT>
                    <a:lnB w="12240" algn="ctr">
                      <a:solidFill>
                        <a:srgbClr val="000000"/>
                      </a:solidFill>
                    </a:lnB>
                    <a:solidFill>
                      <a:srgbClr val="CCCCCC"/>
                    </a:solidFill>
                  </a:tcPr>
                </a:tc>
                <a:tc>
                  <a:txBody>
                    <a:bodyPr/>
                    <a:lstStyle/>
                    <a:p>
                      <a:pPr>
                        <a:lnSpc>
                          <a:spcPct val="100000"/>
                        </a:lnSpc>
                        <a:defRPr/>
                      </a:pPr>
                      <a:r>
                        <a:rPr lang="en-AU" sz="1600" b="0" strike="noStrike" spc="-1">
                          <a:solidFill>
                            <a:srgbClr val="000000"/>
                          </a:solidFill>
                          <a:latin typeface="Century Schoolbook"/>
                        </a:rPr>
                        <a:t>Introduction and setup</a:t>
                      </a:r>
                      <a:endParaRPr lang="en-AU" sz="1600" b="0" strike="noStrike" spc="-1">
                        <a:latin typeface="Arial"/>
                      </a:endParaRPr>
                    </a:p>
                  </a:txBody>
                  <a:tcPr>
                    <a:lnL w="12240" algn="ctr">
                      <a:solidFill>
                        <a:srgbClr val="000000"/>
                      </a:solidFill>
                    </a:lnL>
                    <a:lnR w="12240" algn="ctr">
                      <a:solidFill>
                        <a:srgbClr val="000000"/>
                      </a:solidFill>
                    </a:lnR>
                    <a:lnT w="12240" algn="ctr">
                      <a:solidFill>
                        <a:srgbClr val="000000"/>
                      </a:solidFill>
                    </a:lnT>
                    <a:lnB w="12240" algn="ctr">
                      <a:solidFill>
                        <a:srgbClr val="000000"/>
                      </a:solidFill>
                    </a:lnB>
                    <a:solidFill>
                      <a:srgbClr val="CCCCCC"/>
                    </a:solidFill>
                  </a:tcPr>
                </a:tc>
                <a:tc>
                  <a:txBody>
                    <a:bodyPr/>
                    <a:lstStyle/>
                    <a:p>
                      <a:pPr>
                        <a:defRPr/>
                      </a:pPr>
                      <a:endParaRPr lang="en-US" dirty="0"/>
                    </a:p>
                  </a:txBody>
                  <a:tcPr>
                    <a:lnL w="12240" algn="ctr">
                      <a:solidFill>
                        <a:srgbClr val="000000"/>
                      </a:solidFill>
                    </a:lnL>
                    <a:lnR w="12240" algn="ctr">
                      <a:solidFill>
                        <a:srgbClr val="000000"/>
                      </a:solidFill>
                    </a:lnR>
                    <a:lnT w="12240" algn="ctr">
                      <a:solidFill>
                        <a:srgbClr val="000000"/>
                      </a:solidFill>
                    </a:lnT>
                    <a:lnB w="12240" algn="ctr">
                      <a:solidFill>
                        <a:srgbClr val="000000"/>
                      </a:solidFill>
                    </a:lnB>
                    <a:solidFill>
                      <a:srgbClr val="CCCCCC"/>
                    </a:solidFill>
                  </a:tcPr>
                </a:tc>
                <a:extLst>
                  <a:ext uri="{0D108BD9-81ED-4DB2-BD59-A6C34878D82A}">
                    <a16:rowId xmlns:a16="http://schemas.microsoft.com/office/drawing/2014/main" val="10001"/>
                  </a:ext>
                </a:extLst>
              </a:tr>
              <a:tr h="0">
                <a:tc>
                  <a:txBody>
                    <a:bodyPr/>
                    <a:lstStyle/>
                    <a:p>
                      <a:pPr>
                        <a:lnSpc>
                          <a:spcPct val="100000"/>
                        </a:lnSpc>
                        <a:defRPr/>
                      </a:pPr>
                      <a:r>
                        <a:rPr lang="en-AU" sz="1600" b="0" strike="noStrike" spc="-1" dirty="0">
                          <a:solidFill>
                            <a:srgbClr val="000000"/>
                          </a:solidFill>
                          <a:latin typeface="Century Schoolbook"/>
                        </a:rPr>
                        <a:t>2: M1-1</a:t>
                      </a:r>
                      <a:endParaRPr lang="en-AU" sz="1600" b="0" strike="noStrike" spc="-1" dirty="0">
                        <a:latin typeface="Arial"/>
                      </a:endParaRPr>
                    </a:p>
                  </a:txBody>
                  <a:tcPr>
                    <a:lnL w="12240" algn="ctr">
                      <a:solidFill>
                        <a:srgbClr val="000000"/>
                      </a:solidFill>
                    </a:lnL>
                    <a:lnR w="12240" algn="ctr">
                      <a:solidFill>
                        <a:srgbClr val="000000"/>
                      </a:solidFill>
                    </a:lnR>
                    <a:lnT w="12240" algn="ctr">
                      <a:solidFill>
                        <a:srgbClr val="000000"/>
                      </a:solidFill>
                    </a:lnT>
                    <a:lnB w="12240" algn="ctr">
                      <a:solidFill>
                        <a:srgbClr val="000000"/>
                      </a:solidFill>
                    </a:lnB>
                    <a:solidFill>
                      <a:srgbClr val="E7E7E7"/>
                    </a:solidFill>
                  </a:tcPr>
                </a:tc>
                <a:tc>
                  <a:txBody>
                    <a:bodyPr/>
                    <a:lstStyle/>
                    <a:p>
                      <a:pPr>
                        <a:lnSpc>
                          <a:spcPct val="100000"/>
                        </a:lnSpc>
                        <a:defRPr/>
                      </a:pPr>
                      <a:r>
                        <a:rPr lang="en-AU" sz="1600" b="0" strike="noStrike" spc="-1">
                          <a:solidFill>
                            <a:srgbClr val="000000"/>
                          </a:solidFill>
                          <a:latin typeface="Century Schoolbook"/>
                        </a:rPr>
                        <a:t>Calibration, ARUCO markers</a:t>
                      </a:r>
                      <a:endParaRPr lang="en-AU" sz="1600" b="0" strike="noStrike" spc="-1">
                        <a:latin typeface="Arial"/>
                      </a:endParaRPr>
                    </a:p>
                  </a:txBody>
                  <a:tcPr>
                    <a:lnL w="12240" algn="ctr">
                      <a:solidFill>
                        <a:srgbClr val="000000"/>
                      </a:solidFill>
                    </a:lnL>
                    <a:lnR w="12240" algn="ctr">
                      <a:solidFill>
                        <a:srgbClr val="000000"/>
                      </a:solidFill>
                    </a:lnR>
                    <a:lnT w="12240" algn="ctr">
                      <a:solidFill>
                        <a:srgbClr val="000000"/>
                      </a:solidFill>
                    </a:lnT>
                    <a:lnB w="12240" algn="ctr">
                      <a:solidFill>
                        <a:srgbClr val="000000"/>
                      </a:solidFill>
                    </a:lnB>
                    <a:solidFill>
                      <a:srgbClr val="E7E7E7"/>
                    </a:solidFill>
                  </a:tcPr>
                </a:tc>
                <a:tc>
                  <a:txBody>
                    <a:bodyPr/>
                    <a:lstStyle/>
                    <a:p>
                      <a:pPr>
                        <a:lnSpc>
                          <a:spcPct val="100000"/>
                        </a:lnSpc>
                        <a:defRPr/>
                      </a:pPr>
                      <a:r>
                        <a:rPr lang="en-AU" sz="1600" b="0" strike="noStrike" spc="-1" dirty="0">
                          <a:solidFill>
                            <a:srgbClr val="000000"/>
                          </a:solidFill>
                          <a:latin typeface="Century Schoolbook"/>
                        </a:rPr>
                        <a:t>C1 due</a:t>
                      </a:r>
                      <a:endParaRPr lang="en-AU" sz="1600" b="0" strike="noStrike" spc="-1" dirty="0">
                        <a:latin typeface="Arial"/>
                      </a:endParaRPr>
                    </a:p>
                  </a:txBody>
                  <a:tcPr>
                    <a:lnL w="12240" algn="ctr">
                      <a:solidFill>
                        <a:srgbClr val="000000"/>
                      </a:solidFill>
                    </a:lnL>
                    <a:lnR w="12240" algn="ctr">
                      <a:solidFill>
                        <a:srgbClr val="000000"/>
                      </a:solidFill>
                    </a:lnR>
                    <a:lnT w="12240" algn="ctr">
                      <a:solidFill>
                        <a:srgbClr val="000000"/>
                      </a:solidFill>
                    </a:lnT>
                    <a:lnB w="12240" algn="ctr">
                      <a:solidFill>
                        <a:srgbClr val="000000"/>
                      </a:solidFill>
                    </a:lnB>
                    <a:solidFill>
                      <a:srgbClr val="E7E7E7"/>
                    </a:solidFill>
                  </a:tcPr>
                </a:tc>
                <a:extLst>
                  <a:ext uri="{0D108BD9-81ED-4DB2-BD59-A6C34878D82A}">
                    <a16:rowId xmlns:a16="http://schemas.microsoft.com/office/drawing/2014/main" val="10002"/>
                  </a:ext>
                </a:extLst>
              </a:tr>
              <a:tr h="335160">
                <a:tc>
                  <a:txBody>
                    <a:bodyPr/>
                    <a:lstStyle/>
                    <a:p>
                      <a:pPr>
                        <a:lnSpc>
                          <a:spcPct val="100000"/>
                        </a:lnSpc>
                        <a:defRPr/>
                      </a:pPr>
                      <a:r>
                        <a:rPr lang="en-AU" sz="1600" b="0" strike="noStrike" spc="-1" dirty="0">
                          <a:solidFill>
                            <a:srgbClr val="000000"/>
                          </a:solidFill>
                          <a:latin typeface="Century Schoolbook"/>
                        </a:rPr>
                        <a:t>3: M1-2</a:t>
                      </a:r>
                      <a:endParaRPr lang="en-AU" sz="1600" b="0" strike="noStrike" spc="-1" dirty="0">
                        <a:latin typeface="Arial"/>
                      </a:endParaRPr>
                    </a:p>
                  </a:txBody>
                  <a:tcPr>
                    <a:lnL w="12240" algn="ctr">
                      <a:solidFill>
                        <a:srgbClr val="000000"/>
                      </a:solidFill>
                    </a:lnL>
                    <a:lnR w="12240" algn="ctr">
                      <a:solidFill>
                        <a:srgbClr val="000000"/>
                      </a:solidFill>
                    </a:lnR>
                    <a:lnT w="12240" algn="ctr">
                      <a:solidFill>
                        <a:srgbClr val="000000"/>
                      </a:solidFill>
                    </a:lnT>
                    <a:lnB w="12240" algn="ctr">
                      <a:solidFill>
                        <a:srgbClr val="000000"/>
                      </a:solidFill>
                    </a:lnB>
                    <a:solidFill>
                      <a:srgbClr val="CCCCCC"/>
                    </a:solidFill>
                  </a:tcPr>
                </a:tc>
                <a:tc>
                  <a:txBody>
                    <a:bodyPr/>
                    <a:lstStyle/>
                    <a:p>
                      <a:pPr>
                        <a:lnSpc>
                          <a:spcPct val="100000"/>
                        </a:lnSpc>
                        <a:defRPr/>
                      </a:pPr>
                      <a:r>
                        <a:rPr lang="en-AU" sz="1600" b="0" strike="noStrike" spc="-1">
                          <a:solidFill>
                            <a:srgbClr val="000000"/>
                          </a:solidFill>
                          <a:latin typeface="Century Schoolbook"/>
                        </a:rPr>
                        <a:t>SLAM</a:t>
                      </a:r>
                      <a:endParaRPr lang="en-AU" sz="1600" b="0" strike="noStrike" spc="-1">
                        <a:latin typeface="Arial"/>
                      </a:endParaRPr>
                    </a:p>
                  </a:txBody>
                  <a:tcPr>
                    <a:lnL w="12240" algn="ctr">
                      <a:solidFill>
                        <a:srgbClr val="000000"/>
                      </a:solidFill>
                    </a:lnL>
                    <a:lnR w="12240" algn="ctr">
                      <a:solidFill>
                        <a:srgbClr val="000000"/>
                      </a:solidFill>
                    </a:lnR>
                    <a:lnT w="12240" algn="ctr">
                      <a:solidFill>
                        <a:srgbClr val="000000"/>
                      </a:solidFill>
                    </a:lnT>
                    <a:lnB w="12240" algn="ctr">
                      <a:solidFill>
                        <a:srgbClr val="000000"/>
                      </a:solidFill>
                    </a:lnB>
                    <a:solidFill>
                      <a:srgbClr val="CCCCCC"/>
                    </a:solidFill>
                  </a:tcPr>
                </a:tc>
                <a:tc>
                  <a:txBody>
                    <a:bodyPr/>
                    <a:lstStyle/>
                    <a:p>
                      <a:pPr>
                        <a:defRPr/>
                      </a:pPr>
                      <a:endParaRPr lang="en-US"/>
                    </a:p>
                  </a:txBody>
                  <a:tcPr>
                    <a:lnL w="12240" algn="ctr">
                      <a:solidFill>
                        <a:srgbClr val="000000"/>
                      </a:solidFill>
                    </a:lnL>
                    <a:lnR w="12240" algn="ctr">
                      <a:solidFill>
                        <a:srgbClr val="000000"/>
                      </a:solidFill>
                    </a:lnR>
                    <a:lnT w="12240" algn="ctr">
                      <a:solidFill>
                        <a:srgbClr val="000000"/>
                      </a:solidFill>
                    </a:lnT>
                    <a:lnB w="12240" algn="ctr">
                      <a:solidFill>
                        <a:srgbClr val="000000"/>
                      </a:solidFill>
                    </a:lnB>
                    <a:solidFill>
                      <a:srgbClr val="CCCCCC"/>
                    </a:solidFill>
                  </a:tcPr>
                </a:tc>
                <a:extLst>
                  <a:ext uri="{0D108BD9-81ED-4DB2-BD59-A6C34878D82A}">
                    <a16:rowId xmlns:a16="http://schemas.microsoft.com/office/drawing/2014/main" val="10003"/>
                  </a:ext>
                </a:extLst>
              </a:tr>
              <a:tr h="0">
                <a:tc>
                  <a:txBody>
                    <a:bodyPr/>
                    <a:lstStyle/>
                    <a:p>
                      <a:pPr>
                        <a:lnSpc>
                          <a:spcPct val="100000"/>
                        </a:lnSpc>
                        <a:defRPr/>
                      </a:pPr>
                      <a:r>
                        <a:rPr lang="en-AU" sz="1600" b="0" strike="noStrike" spc="-1" dirty="0">
                          <a:solidFill>
                            <a:srgbClr val="000000"/>
                          </a:solidFill>
                          <a:latin typeface="Century Schoolbook"/>
                        </a:rPr>
                        <a:t>4: M1-3</a:t>
                      </a:r>
                      <a:endParaRPr lang="en-AU" sz="1600" b="0" strike="noStrike" spc="-1" dirty="0">
                        <a:latin typeface="Arial"/>
                      </a:endParaRPr>
                    </a:p>
                  </a:txBody>
                  <a:tcPr>
                    <a:lnL w="12240" algn="ctr">
                      <a:solidFill>
                        <a:srgbClr val="000000"/>
                      </a:solidFill>
                    </a:lnL>
                    <a:lnR w="12240" algn="ctr">
                      <a:solidFill>
                        <a:srgbClr val="000000"/>
                      </a:solidFill>
                    </a:lnR>
                    <a:lnT w="12240" algn="ctr">
                      <a:solidFill>
                        <a:srgbClr val="000000"/>
                      </a:solidFill>
                    </a:lnT>
                    <a:lnB w="12240" algn="ctr">
                      <a:solidFill>
                        <a:srgbClr val="000000"/>
                      </a:solidFill>
                    </a:lnB>
                    <a:solidFill>
                      <a:srgbClr val="E7E7E7"/>
                    </a:solidFill>
                  </a:tcPr>
                </a:tc>
                <a:tc>
                  <a:txBody>
                    <a:bodyPr/>
                    <a:lstStyle/>
                    <a:p>
                      <a:pPr>
                        <a:lnSpc>
                          <a:spcPct val="100000"/>
                        </a:lnSpc>
                        <a:defRPr/>
                      </a:pPr>
                      <a:r>
                        <a:rPr lang="en-AU" sz="1600" b="0" strike="noStrike" spc="-1">
                          <a:solidFill>
                            <a:srgbClr val="000000"/>
                          </a:solidFill>
                          <a:latin typeface="Century Schoolbook"/>
                        </a:rPr>
                        <a:t>SLAM</a:t>
                      </a:r>
                      <a:endParaRPr lang="en-AU" sz="1600" b="0" strike="noStrike" spc="-1">
                        <a:latin typeface="Arial"/>
                      </a:endParaRPr>
                    </a:p>
                  </a:txBody>
                  <a:tcPr>
                    <a:lnL w="12240" algn="ctr">
                      <a:solidFill>
                        <a:srgbClr val="000000"/>
                      </a:solidFill>
                    </a:lnL>
                    <a:lnR w="12240" algn="ctr">
                      <a:solidFill>
                        <a:srgbClr val="000000"/>
                      </a:solidFill>
                    </a:lnR>
                    <a:lnT w="12240" algn="ctr">
                      <a:solidFill>
                        <a:srgbClr val="000000"/>
                      </a:solidFill>
                    </a:lnT>
                    <a:lnB w="12240" algn="ctr">
                      <a:solidFill>
                        <a:srgbClr val="000000"/>
                      </a:solidFill>
                    </a:lnB>
                    <a:solidFill>
                      <a:srgbClr val="E7E7E7"/>
                    </a:solidFill>
                  </a:tcPr>
                </a:tc>
                <a:tc>
                  <a:txBody>
                    <a:bodyPr/>
                    <a:lstStyle/>
                    <a:p>
                      <a:pPr>
                        <a:defRPr/>
                      </a:pPr>
                      <a:endParaRPr lang="en-US"/>
                    </a:p>
                  </a:txBody>
                  <a:tcPr>
                    <a:lnL w="12240" algn="ctr">
                      <a:solidFill>
                        <a:srgbClr val="000000"/>
                      </a:solidFill>
                    </a:lnL>
                    <a:lnR w="12240" algn="ctr">
                      <a:solidFill>
                        <a:srgbClr val="000000"/>
                      </a:solidFill>
                    </a:lnR>
                    <a:lnT w="12240" algn="ctr">
                      <a:solidFill>
                        <a:srgbClr val="000000"/>
                      </a:solidFill>
                    </a:lnT>
                    <a:lnB w="12240" algn="ctr">
                      <a:solidFill>
                        <a:srgbClr val="000000"/>
                      </a:solidFill>
                    </a:lnB>
                    <a:solidFill>
                      <a:srgbClr val="E7E7E7"/>
                    </a:solidFill>
                  </a:tcPr>
                </a:tc>
                <a:extLst>
                  <a:ext uri="{0D108BD9-81ED-4DB2-BD59-A6C34878D82A}">
                    <a16:rowId xmlns:a16="http://schemas.microsoft.com/office/drawing/2014/main" val="10004"/>
                  </a:ext>
                </a:extLst>
              </a:tr>
              <a:tr h="335160">
                <a:tc>
                  <a:txBody>
                    <a:bodyPr/>
                    <a:lstStyle/>
                    <a:p>
                      <a:pPr>
                        <a:lnSpc>
                          <a:spcPct val="100000"/>
                        </a:lnSpc>
                        <a:defRPr/>
                      </a:pPr>
                      <a:r>
                        <a:rPr lang="en-AU" sz="1600" b="0" strike="noStrike" spc="-1" dirty="0">
                          <a:solidFill>
                            <a:srgbClr val="000000"/>
                          </a:solidFill>
                          <a:latin typeface="Century Schoolbook"/>
                        </a:rPr>
                        <a:t>5: M2-1</a:t>
                      </a:r>
                      <a:endParaRPr lang="en-AU" sz="1600" b="0" strike="noStrike" spc="-1" dirty="0">
                        <a:latin typeface="Arial"/>
                      </a:endParaRPr>
                    </a:p>
                  </a:txBody>
                  <a:tcPr>
                    <a:lnL w="12240" algn="ctr">
                      <a:solidFill>
                        <a:srgbClr val="000000"/>
                      </a:solidFill>
                    </a:lnL>
                    <a:lnR w="12240" algn="ctr">
                      <a:solidFill>
                        <a:srgbClr val="000000"/>
                      </a:solidFill>
                    </a:lnR>
                    <a:lnT w="12240" algn="ctr">
                      <a:solidFill>
                        <a:srgbClr val="000000"/>
                      </a:solidFill>
                    </a:lnT>
                    <a:lnB w="12240" algn="ctr">
                      <a:solidFill>
                        <a:srgbClr val="000000"/>
                      </a:solidFill>
                    </a:lnB>
                    <a:solidFill>
                      <a:srgbClr val="CCCCCC"/>
                    </a:solidFill>
                  </a:tcPr>
                </a:tc>
                <a:tc>
                  <a:txBody>
                    <a:bodyPr/>
                    <a:lstStyle/>
                    <a:p>
                      <a:pPr>
                        <a:lnSpc>
                          <a:spcPct val="100000"/>
                        </a:lnSpc>
                        <a:defRPr/>
                      </a:pPr>
                      <a:r>
                        <a:rPr lang="en-AU" sz="1600" b="0" strike="noStrike" spc="-1">
                          <a:solidFill>
                            <a:srgbClr val="000000"/>
                          </a:solidFill>
                          <a:latin typeface="Century Schoolbook"/>
                        </a:rPr>
                        <a:t>Object recognition &amp; localisation</a:t>
                      </a:r>
                      <a:endParaRPr lang="en-AU" sz="1600" b="0" strike="noStrike" spc="-1">
                        <a:latin typeface="Arial"/>
                      </a:endParaRPr>
                    </a:p>
                  </a:txBody>
                  <a:tcPr>
                    <a:lnL w="12240" algn="ctr">
                      <a:solidFill>
                        <a:srgbClr val="000000"/>
                      </a:solidFill>
                    </a:lnL>
                    <a:lnR w="12240" algn="ctr">
                      <a:solidFill>
                        <a:srgbClr val="000000"/>
                      </a:solidFill>
                    </a:lnR>
                    <a:lnT w="12240" algn="ctr">
                      <a:solidFill>
                        <a:srgbClr val="000000"/>
                      </a:solidFill>
                    </a:lnT>
                    <a:lnB w="12240" algn="ctr">
                      <a:solidFill>
                        <a:srgbClr val="000000"/>
                      </a:solidFill>
                    </a:lnB>
                    <a:solidFill>
                      <a:srgbClr val="CCCCCC"/>
                    </a:solidFill>
                  </a:tcPr>
                </a:tc>
                <a:tc>
                  <a:txBody>
                    <a:bodyPr/>
                    <a:lstStyle/>
                    <a:p>
                      <a:pPr>
                        <a:lnSpc>
                          <a:spcPct val="100000"/>
                        </a:lnSpc>
                        <a:defRPr/>
                      </a:pPr>
                      <a:r>
                        <a:rPr lang="en-AU" sz="1600" b="0" strike="noStrike" spc="-1" dirty="0">
                          <a:solidFill>
                            <a:srgbClr val="000000"/>
                          </a:solidFill>
                          <a:latin typeface="Century Schoolbook"/>
                        </a:rPr>
                        <a:t>M1 due</a:t>
                      </a:r>
                      <a:endParaRPr lang="en-AU" sz="1600" b="0" strike="noStrike" spc="-1" dirty="0">
                        <a:latin typeface="Arial"/>
                      </a:endParaRPr>
                    </a:p>
                  </a:txBody>
                  <a:tcPr>
                    <a:lnL w="12240" algn="ctr">
                      <a:solidFill>
                        <a:srgbClr val="000000"/>
                      </a:solidFill>
                    </a:lnL>
                    <a:lnR w="12240" algn="ctr">
                      <a:solidFill>
                        <a:srgbClr val="000000"/>
                      </a:solidFill>
                    </a:lnR>
                    <a:lnT w="12240" algn="ctr">
                      <a:solidFill>
                        <a:srgbClr val="000000"/>
                      </a:solidFill>
                    </a:lnT>
                    <a:lnB w="12240" algn="ctr">
                      <a:solidFill>
                        <a:srgbClr val="000000"/>
                      </a:solidFill>
                    </a:lnB>
                    <a:solidFill>
                      <a:srgbClr val="CCCCCC"/>
                    </a:solidFill>
                  </a:tcPr>
                </a:tc>
                <a:extLst>
                  <a:ext uri="{0D108BD9-81ED-4DB2-BD59-A6C34878D82A}">
                    <a16:rowId xmlns:a16="http://schemas.microsoft.com/office/drawing/2014/main" val="10005"/>
                  </a:ext>
                </a:extLst>
              </a:tr>
              <a:tr h="0">
                <a:tc>
                  <a:txBody>
                    <a:bodyPr/>
                    <a:lstStyle/>
                    <a:p>
                      <a:pPr>
                        <a:lnSpc>
                          <a:spcPct val="100000"/>
                        </a:lnSpc>
                        <a:defRPr/>
                      </a:pPr>
                      <a:r>
                        <a:rPr lang="en-AU" sz="1600" b="0" strike="noStrike" spc="-1" dirty="0">
                          <a:solidFill>
                            <a:srgbClr val="000000"/>
                          </a:solidFill>
                          <a:latin typeface="Century Schoolbook"/>
                        </a:rPr>
                        <a:t>6: M2-2</a:t>
                      </a:r>
                      <a:endParaRPr lang="en-AU" sz="1600" b="0" strike="noStrike" spc="-1" dirty="0">
                        <a:latin typeface="Arial"/>
                      </a:endParaRPr>
                    </a:p>
                  </a:txBody>
                  <a:tcPr>
                    <a:lnL w="12240" algn="ctr">
                      <a:solidFill>
                        <a:srgbClr val="000000"/>
                      </a:solidFill>
                    </a:lnL>
                    <a:lnR w="12240" algn="ctr">
                      <a:solidFill>
                        <a:srgbClr val="000000"/>
                      </a:solidFill>
                    </a:lnR>
                    <a:lnT w="12240" algn="ctr">
                      <a:solidFill>
                        <a:srgbClr val="000000"/>
                      </a:solidFill>
                    </a:lnT>
                    <a:lnB w="12240" algn="ctr">
                      <a:solidFill>
                        <a:srgbClr val="000000"/>
                      </a:solidFill>
                    </a:lnB>
                    <a:solidFill>
                      <a:srgbClr val="E7E7E7"/>
                    </a:solidFill>
                  </a:tcPr>
                </a:tc>
                <a:tc>
                  <a:txBody>
                    <a:bodyPr/>
                    <a:lstStyle/>
                    <a:p>
                      <a:pPr>
                        <a:lnSpc>
                          <a:spcPct val="100000"/>
                        </a:lnSpc>
                        <a:defRPr/>
                      </a:pPr>
                      <a:r>
                        <a:rPr lang="en-AU" sz="1600" b="0" strike="noStrike" spc="-1" dirty="0">
                          <a:solidFill>
                            <a:srgbClr val="000000"/>
                          </a:solidFill>
                          <a:latin typeface="Century Schoolbook"/>
                        </a:rPr>
                        <a:t>Object recognition &amp; localisation</a:t>
                      </a:r>
                      <a:endParaRPr lang="en-AU" sz="1600" b="0" strike="noStrike" spc="-1" dirty="0">
                        <a:latin typeface="Arial"/>
                      </a:endParaRPr>
                    </a:p>
                  </a:txBody>
                  <a:tcPr>
                    <a:lnL w="12240" algn="ctr">
                      <a:solidFill>
                        <a:srgbClr val="000000"/>
                      </a:solidFill>
                    </a:lnL>
                    <a:lnR w="12240" algn="ctr">
                      <a:solidFill>
                        <a:srgbClr val="000000"/>
                      </a:solidFill>
                    </a:lnR>
                    <a:lnT w="12240" algn="ctr">
                      <a:solidFill>
                        <a:srgbClr val="000000"/>
                      </a:solidFill>
                    </a:lnT>
                    <a:lnB w="12240" algn="ctr">
                      <a:solidFill>
                        <a:srgbClr val="000000"/>
                      </a:solidFill>
                    </a:lnB>
                    <a:solidFill>
                      <a:srgbClr val="E7E7E7"/>
                    </a:solidFill>
                  </a:tcPr>
                </a:tc>
                <a:tc>
                  <a:txBody>
                    <a:bodyPr/>
                    <a:lstStyle/>
                    <a:p>
                      <a:pPr>
                        <a:defRPr/>
                      </a:pPr>
                      <a:endParaRPr lang="en-US" dirty="0"/>
                    </a:p>
                  </a:txBody>
                  <a:tcPr>
                    <a:lnL w="12240" algn="ctr">
                      <a:solidFill>
                        <a:srgbClr val="000000"/>
                      </a:solidFill>
                    </a:lnL>
                    <a:lnR w="12240" algn="ctr">
                      <a:solidFill>
                        <a:srgbClr val="000000"/>
                      </a:solidFill>
                    </a:lnR>
                    <a:lnT w="12240" algn="ctr">
                      <a:solidFill>
                        <a:srgbClr val="000000"/>
                      </a:solidFill>
                    </a:lnT>
                    <a:lnB w="12240" algn="ctr">
                      <a:solidFill>
                        <a:srgbClr val="000000"/>
                      </a:solidFill>
                    </a:lnB>
                    <a:solidFill>
                      <a:srgbClr val="E7E7E7"/>
                    </a:solidFill>
                  </a:tcPr>
                </a:tc>
                <a:extLst>
                  <a:ext uri="{0D108BD9-81ED-4DB2-BD59-A6C34878D82A}">
                    <a16:rowId xmlns:a16="http://schemas.microsoft.com/office/drawing/2014/main" val="10006"/>
                  </a:ext>
                </a:extLst>
              </a:tr>
              <a:tr h="335160">
                <a:tc>
                  <a:txBody>
                    <a:bodyPr/>
                    <a:lstStyle/>
                    <a:p>
                      <a:pPr>
                        <a:lnSpc>
                          <a:spcPct val="100000"/>
                        </a:lnSpc>
                        <a:defRPr/>
                      </a:pPr>
                      <a:r>
                        <a:rPr lang="en-AU" sz="1600" b="0" strike="noStrike" spc="-1" dirty="0">
                          <a:solidFill>
                            <a:srgbClr val="000000"/>
                          </a:solidFill>
                          <a:latin typeface="Century Schoolbook"/>
                        </a:rPr>
                        <a:t>7: M3-1</a:t>
                      </a:r>
                      <a:endParaRPr lang="en-AU" sz="1600" b="0" strike="noStrike" spc="-1" dirty="0">
                        <a:latin typeface="Arial"/>
                      </a:endParaRPr>
                    </a:p>
                  </a:txBody>
                  <a:tcPr>
                    <a:lnL w="12240" algn="ctr">
                      <a:solidFill>
                        <a:srgbClr val="000000"/>
                      </a:solidFill>
                    </a:lnL>
                    <a:lnR w="12240" algn="ctr">
                      <a:solidFill>
                        <a:srgbClr val="000000"/>
                      </a:solidFill>
                    </a:lnR>
                    <a:lnT w="12240" algn="ctr">
                      <a:solidFill>
                        <a:srgbClr val="000000"/>
                      </a:solidFill>
                    </a:lnT>
                    <a:lnB w="12240" algn="ctr">
                      <a:solidFill>
                        <a:srgbClr val="000000"/>
                      </a:solidFill>
                    </a:lnB>
                    <a:solidFill>
                      <a:srgbClr val="CCCCCC"/>
                    </a:solidFill>
                  </a:tcPr>
                </a:tc>
                <a:tc>
                  <a:txBody>
                    <a:bodyPr/>
                    <a:lstStyle/>
                    <a:p>
                      <a:pPr>
                        <a:lnSpc>
                          <a:spcPct val="100000"/>
                        </a:lnSpc>
                        <a:defRPr/>
                      </a:pPr>
                      <a:r>
                        <a:rPr lang="en-AU" sz="1600" b="0" strike="noStrike" spc="-1">
                          <a:solidFill>
                            <a:srgbClr val="000000"/>
                          </a:solidFill>
                          <a:latin typeface="Century Schoolbook"/>
                        </a:rPr>
                        <a:t>Navigation &amp; Planning</a:t>
                      </a:r>
                      <a:endParaRPr lang="en-AU" sz="1600" b="0" strike="noStrike" spc="-1">
                        <a:latin typeface="Arial"/>
                      </a:endParaRPr>
                    </a:p>
                  </a:txBody>
                  <a:tcPr>
                    <a:lnL w="12240" algn="ctr">
                      <a:solidFill>
                        <a:srgbClr val="000000"/>
                      </a:solidFill>
                    </a:lnL>
                    <a:lnR w="12240" algn="ctr">
                      <a:solidFill>
                        <a:srgbClr val="000000"/>
                      </a:solidFill>
                    </a:lnR>
                    <a:lnT w="12240" algn="ctr">
                      <a:solidFill>
                        <a:srgbClr val="000000"/>
                      </a:solidFill>
                    </a:lnT>
                    <a:lnB w="12240" algn="ctr">
                      <a:solidFill>
                        <a:srgbClr val="000000"/>
                      </a:solidFill>
                    </a:lnB>
                    <a:solidFill>
                      <a:srgbClr val="CCCCCC"/>
                    </a:solidFill>
                  </a:tcPr>
                </a:tc>
                <a:tc>
                  <a:txBody>
                    <a:bodyPr/>
                    <a:lstStyle/>
                    <a:p>
                      <a:pPr>
                        <a:lnSpc>
                          <a:spcPct val="100000"/>
                        </a:lnSpc>
                        <a:defRPr/>
                      </a:pPr>
                      <a:r>
                        <a:rPr lang="en-AU" sz="1600" b="0" strike="noStrike" spc="-1" dirty="0">
                          <a:solidFill>
                            <a:srgbClr val="000000"/>
                          </a:solidFill>
                          <a:latin typeface="Century Schoolbook"/>
                        </a:rPr>
                        <a:t>M2 due</a:t>
                      </a:r>
                      <a:endParaRPr lang="en-AU" sz="1600" b="0" strike="noStrike" spc="-1" dirty="0">
                        <a:latin typeface="Arial"/>
                      </a:endParaRPr>
                    </a:p>
                  </a:txBody>
                  <a:tcPr>
                    <a:lnL w="12240" algn="ctr">
                      <a:solidFill>
                        <a:srgbClr val="000000"/>
                      </a:solidFill>
                    </a:lnL>
                    <a:lnR w="12240" algn="ctr">
                      <a:solidFill>
                        <a:srgbClr val="000000"/>
                      </a:solidFill>
                    </a:lnR>
                    <a:lnT w="12240" algn="ctr">
                      <a:solidFill>
                        <a:srgbClr val="000000"/>
                      </a:solidFill>
                    </a:lnT>
                    <a:lnB w="12240" algn="ctr">
                      <a:solidFill>
                        <a:srgbClr val="000000"/>
                      </a:solidFill>
                    </a:lnB>
                    <a:solidFill>
                      <a:srgbClr val="CCCCCC"/>
                    </a:solidFill>
                  </a:tcPr>
                </a:tc>
                <a:extLst>
                  <a:ext uri="{0D108BD9-81ED-4DB2-BD59-A6C34878D82A}">
                    <a16:rowId xmlns:a16="http://schemas.microsoft.com/office/drawing/2014/main" val="10007"/>
                  </a:ext>
                </a:extLst>
              </a:tr>
              <a:tr h="335160">
                <a:tc>
                  <a:txBody>
                    <a:bodyPr/>
                    <a:lstStyle/>
                    <a:p>
                      <a:pPr>
                        <a:lnSpc>
                          <a:spcPct val="100000"/>
                        </a:lnSpc>
                        <a:defRPr/>
                      </a:pPr>
                      <a:r>
                        <a:rPr lang="en-AU" sz="1600" b="0" strike="noStrike" spc="-1" dirty="0">
                          <a:solidFill>
                            <a:srgbClr val="000000"/>
                          </a:solidFill>
                          <a:latin typeface="Century Schoolbook"/>
                        </a:rPr>
                        <a:t>8: M3-2</a:t>
                      </a:r>
                      <a:endParaRPr lang="en-AU" sz="1600" b="0" strike="noStrike" spc="-1" dirty="0">
                        <a:latin typeface="Arial"/>
                      </a:endParaRPr>
                    </a:p>
                  </a:txBody>
                  <a:tcPr>
                    <a:lnL w="12240" algn="ctr">
                      <a:solidFill>
                        <a:srgbClr val="000000"/>
                      </a:solidFill>
                    </a:lnL>
                    <a:lnR w="12240" algn="ctr">
                      <a:solidFill>
                        <a:srgbClr val="000000"/>
                      </a:solidFill>
                    </a:lnR>
                    <a:lnT w="12240" algn="ctr">
                      <a:solidFill>
                        <a:srgbClr val="000000"/>
                      </a:solidFill>
                    </a:lnT>
                    <a:lnB w="12240" algn="ctr">
                      <a:solidFill>
                        <a:srgbClr val="000000"/>
                      </a:solidFill>
                    </a:lnB>
                    <a:solidFill>
                      <a:srgbClr val="E7E7E7"/>
                    </a:solidFill>
                  </a:tcPr>
                </a:tc>
                <a:tc>
                  <a:txBody>
                    <a:bodyPr/>
                    <a:lstStyle/>
                    <a:p>
                      <a:pPr>
                        <a:lnSpc>
                          <a:spcPct val="100000"/>
                        </a:lnSpc>
                        <a:defRPr/>
                      </a:pPr>
                      <a:r>
                        <a:rPr lang="en-AU" sz="1600" b="0" strike="noStrike" spc="-1" dirty="0">
                          <a:solidFill>
                            <a:srgbClr val="000000"/>
                          </a:solidFill>
                          <a:latin typeface="Century Schoolbook"/>
                        </a:rPr>
                        <a:t>Navigation &amp; Planning</a:t>
                      </a:r>
                      <a:endParaRPr lang="en-AU" sz="1600" b="0" strike="noStrike" spc="-1" dirty="0">
                        <a:latin typeface="Arial"/>
                      </a:endParaRPr>
                    </a:p>
                  </a:txBody>
                  <a:tcPr>
                    <a:lnL w="12240" algn="ctr">
                      <a:solidFill>
                        <a:srgbClr val="000000"/>
                      </a:solidFill>
                    </a:lnL>
                    <a:lnR w="12240" algn="ctr">
                      <a:solidFill>
                        <a:srgbClr val="000000"/>
                      </a:solidFill>
                    </a:lnR>
                    <a:lnT w="12240" algn="ctr">
                      <a:solidFill>
                        <a:srgbClr val="000000"/>
                      </a:solidFill>
                    </a:lnT>
                    <a:lnB w="12240" algn="ctr">
                      <a:solidFill>
                        <a:srgbClr val="000000"/>
                      </a:solidFill>
                    </a:lnB>
                    <a:solidFill>
                      <a:srgbClr val="E7E7E7"/>
                    </a:solidFill>
                  </a:tcPr>
                </a:tc>
                <a:tc>
                  <a:txBody>
                    <a:bodyPr/>
                    <a:lstStyle/>
                    <a:p>
                      <a:pPr>
                        <a:defRPr/>
                      </a:pPr>
                      <a:endParaRPr lang="en-US"/>
                    </a:p>
                  </a:txBody>
                  <a:tcPr>
                    <a:lnL w="12240" algn="ctr">
                      <a:solidFill>
                        <a:srgbClr val="000000"/>
                      </a:solidFill>
                    </a:lnL>
                    <a:lnR w="12240" algn="ctr">
                      <a:solidFill>
                        <a:srgbClr val="000000"/>
                      </a:solidFill>
                    </a:lnR>
                    <a:lnT w="12240" algn="ctr">
                      <a:solidFill>
                        <a:srgbClr val="000000"/>
                      </a:solidFill>
                    </a:lnT>
                    <a:lnB w="12240" algn="ctr">
                      <a:solidFill>
                        <a:srgbClr val="000000"/>
                      </a:solidFill>
                    </a:lnB>
                    <a:solidFill>
                      <a:srgbClr val="E7E7E7"/>
                    </a:solidFill>
                  </a:tcPr>
                </a:tc>
                <a:extLst>
                  <a:ext uri="{0D108BD9-81ED-4DB2-BD59-A6C34878D82A}">
                    <a16:rowId xmlns:a16="http://schemas.microsoft.com/office/drawing/2014/main" val="10008"/>
                  </a:ext>
                </a:extLst>
              </a:tr>
              <a:tr h="331560">
                <a:tc>
                  <a:txBody>
                    <a:bodyPr/>
                    <a:lstStyle/>
                    <a:p>
                      <a:pPr>
                        <a:lnSpc>
                          <a:spcPct val="100000"/>
                        </a:lnSpc>
                        <a:defRPr/>
                      </a:pPr>
                      <a:r>
                        <a:rPr lang="en-AU" sz="1600" b="0" strike="noStrike" spc="-1" dirty="0">
                          <a:solidFill>
                            <a:srgbClr val="000000"/>
                          </a:solidFill>
                          <a:latin typeface="Century Schoolbook"/>
                        </a:rPr>
                        <a:t>9: C2</a:t>
                      </a:r>
                      <a:endParaRPr lang="en-AU" sz="1600" b="0" strike="noStrike" spc="-1" dirty="0">
                        <a:latin typeface="Arial"/>
                      </a:endParaRPr>
                    </a:p>
                  </a:txBody>
                  <a:tcPr>
                    <a:lnL w="12240" algn="ctr">
                      <a:solidFill>
                        <a:srgbClr val="000000"/>
                      </a:solidFill>
                    </a:lnL>
                    <a:lnR w="12240" algn="ctr">
                      <a:solidFill>
                        <a:srgbClr val="000000"/>
                      </a:solidFill>
                    </a:lnR>
                    <a:lnT w="12240" algn="ctr">
                      <a:solidFill>
                        <a:srgbClr val="000000"/>
                      </a:solidFill>
                    </a:lnT>
                    <a:lnB w="12240" algn="ctr">
                      <a:solidFill>
                        <a:srgbClr val="000000"/>
                      </a:solidFill>
                    </a:lnB>
                    <a:solidFill>
                      <a:srgbClr val="CCCCCC"/>
                    </a:solidFill>
                  </a:tcPr>
                </a:tc>
                <a:tc>
                  <a:txBody>
                    <a:bodyPr/>
                    <a:lstStyle/>
                    <a:p>
                      <a:pPr>
                        <a:lnSpc>
                          <a:spcPct val="100000"/>
                        </a:lnSpc>
                        <a:defRPr/>
                      </a:pPr>
                      <a:r>
                        <a:rPr lang="en-AU" sz="1600" b="0" strike="noStrike" spc="-1" dirty="0">
                          <a:solidFill>
                            <a:srgbClr val="000000"/>
                          </a:solidFill>
                          <a:latin typeface="Century Schoolbook"/>
                        </a:rPr>
                        <a:t>Integration &amp; Improvement</a:t>
                      </a:r>
                      <a:endParaRPr lang="en-AU" sz="1600" b="0" strike="noStrike" spc="-1" dirty="0">
                        <a:latin typeface="Arial"/>
                      </a:endParaRPr>
                    </a:p>
                  </a:txBody>
                  <a:tcPr>
                    <a:lnL w="12240" algn="ctr">
                      <a:solidFill>
                        <a:srgbClr val="000000"/>
                      </a:solidFill>
                    </a:lnL>
                    <a:lnR w="12240" algn="ctr">
                      <a:solidFill>
                        <a:srgbClr val="000000"/>
                      </a:solidFill>
                    </a:lnR>
                    <a:lnT w="12240" algn="ctr">
                      <a:solidFill>
                        <a:srgbClr val="000000"/>
                      </a:solidFill>
                    </a:lnT>
                    <a:lnB w="12240" algn="ctr">
                      <a:solidFill>
                        <a:srgbClr val="000000"/>
                      </a:solidFill>
                    </a:lnB>
                    <a:solidFill>
                      <a:srgbClr val="CCCCCC"/>
                    </a:solidFill>
                  </a:tcPr>
                </a:tc>
                <a:tc>
                  <a:txBody>
                    <a:bodyPr/>
                    <a:lstStyle/>
                    <a:p>
                      <a:pPr>
                        <a:lnSpc>
                          <a:spcPct val="100000"/>
                        </a:lnSpc>
                        <a:defRPr/>
                      </a:pPr>
                      <a:r>
                        <a:rPr lang="en-AU" sz="1600" b="0" strike="noStrike" spc="-1" dirty="0">
                          <a:solidFill>
                            <a:srgbClr val="000000"/>
                          </a:solidFill>
                          <a:latin typeface="Century Schoolbook"/>
                        </a:rPr>
                        <a:t>M3 due</a:t>
                      </a:r>
                      <a:endParaRPr lang="en-AU" sz="1600" b="0" strike="noStrike" spc="-1" dirty="0">
                        <a:latin typeface="Arial"/>
                      </a:endParaRPr>
                    </a:p>
                  </a:txBody>
                  <a:tcPr>
                    <a:lnL w="12240" algn="ctr">
                      <a:solidFill>
                        <a:srgbClr val="000000"/>
                      </a:solidFill>
                    </a:lnL>
                    <a:lnR w="12240" algn="ctr">
                      <a:solidFill>
                        <a:srgbClr val="000000"/>
                      </a:solidFill>
                    </a:lnR>
                    <a:lnT w="12240" algn="ctr">
                      <a:solidFill>
                        <a:srgbClr val="000000"/>
                      </a:solidFill>
                    </a:lnT>
                    <a:lnB w="12240" algn="ctr">
                      <a:solidFill>
                        <a:srgbClr val="000000"/>
                      </a:solidFill>
                    </a:lnB>
                    <a:solidFill>
                      <a:srgbClr val="CCCCCC"/>
                    </a:solidFill>
                  </a:tcPr>
                </a:tc>
                <a:extLst>
                  <a:ext uri="{0D108BD9-81ED-4DB2-BD59-A6C34878D82A}">
                    <a16:rowId xmlns:a16="http://schemas.microsoft.com/office/drawing/2014/main" val="10009"/>
                  </a:ext>
                </a:extLst>
              </a:tr>
              <a:tr h="33516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AU" sz="1600" b="0" strike="noStrike" spc="-1" dirty="0">
                          <a:solidFill>
                            <a:srgbClr val="000000"/>
                          </a:solidFill>
                          <a:latin typeface="Century Schoolbook"/>
                        </a:rPr>
                        <a:t>10: Final</a:t>
                      </a:r>
                      <a:endParaRPr lang="en-AU" sz="1600" b="0" strike="noStrike" spc="-1" dirty="0">
                        <a:latin typeface="+mn-lt"/>
                      </a:endParaRPr>
                    </a:p>
                  </a:txBody>
                  <a:tcPr>
                    <a:lnL w="12240" algn="ctr">
                      <a:solidFill>
                        <a:srgbClr val="000000"/>
                      </a:solidFill>
                    </a:lnL>
                    <a:lnR w="12240" cap="flat" cmpd="sng" algn="ctr">
                      <a:solidFill>
                        <a:srgbClr val="000000"/>
                      </a:solidFill>
                      <a:prstDash val="solid"/>
                      <a:round/>
                      <a:headEnd type="none" w="med" len="med"/>
                      <a:tailEnd type="none" w="med" len="med"/>
                    </a:lnR>
                    <a:lnT w="12240" algn="ctr">
                      <a:solidFill>
                        <a:srgbClr val="000000"/>
                      </a:solidFill>
                    </a:lnT>
                    <a:lnB w="12240" cap="flat" cmpd="sng" algn="ctr">
                      <a:solidFill>
                        <a:srgbClr val="000000"/>
                      </a:solidFill>
                      <a:prstDash val="solid"/>
                      <a:round/>
                      <a:headEnd type="none" w="med" len="med"/>
                      <a:tailEnd type="none" w="med" len="med"/>
                    </a:lnB>
                    <a:solidFill>
                      <a:srgbClr val="E7E7E7"/>
                    </a:solidFill>
                  </a:tcPr>
                </a:tc>
                <a:tc>
                  <a:txBody>
                    <a:bodyPr/>
                    <a:lstStyle/>
                    <a:p>
                      <a:pPr>
                        <a:lnSpc>
                          <a:spcPct val="100000"/>
                        </a:lnSpc>
                        <a:defRPr/>
                      </a:pPr>
                      <a:r>
                        <a:rPr lang="en-AU" sz="1600" b="0" strike="noStrike" spc="-1" dirty="0">
                          <a:solidFill>
                            <a:srgbClr val="000000"/>
                          </a:solidFill>
                          <a:latin typeface="Century Schoolbook"/>
                        </a:rPr>
                        <a:t>Trial run of final demo</a:t>
                      </a:r>
                      <a:endParaRPr lang="en-AU" sz="1600" b="0" strike="noStrike" spc="-1" dirty="0">
                        <a:latin typeface="Arial"/>
                      </a:endParaRPr>
                    </a:p>
                  </a:txBody>
                  <a:tcPr>
                    <a:lnL w="12240" cap="flat" cmpd="sng" algn="ctr">
                      <a:solidFill>
                        <a:srgbClr val="000000"/>
                      </a:solidFill>
                      <a:prstDash val="solid"/>
                      <a:round/>
                      <a:headEnd type="none" w="med" len="med"/>
                      <a:tailEnd type="none" w="med" len="med"/>
                    </a:lnL>
                    <a:lnR w="12240" cap="flat" cmpd="sng" algn="ctr">
                      <a:solidFill>
                        <a:srgbClr val="000000"/>
                      </a:solidFill>
                      <a:prstDash val="solid"/>
                      <a:round/>
                      <a:headEnd type="none" w="med" len="med"/>
                      <a:tailEnd type="none" w="med" len="med"/>
                    </a:lnR>
                    <a:lnT w="12240" algn="ctr">
                      <a:solidFill>
                        <a:srgbClr val="000000"/>
                      </a:solidFill>
                    </a:lnT>
                    <a:lnB w="12240" cap="flat" cmpd="sng" algn="ctr">
                      <a:solidFill>
                        <a:srgbClr val="000000"/>
                      </a:solidFill>
                      <a:prstDash val="solid"/>
                      <a:round/>
                      <a:headEnd type="none" w="med" len="med"/>
                      <a:tailEnd type="none" w="med" len="med"/>
                    </a:lnB>
                    <a:solidFill>
                      <a:srgbClr val="E7E7E7"/>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AU" sz="1600" b="0" strike="noStrike" spc="-1">
                          <a:solidFill>
                            <a:srgbClr val="000000"/>
                          </a:solidFill>
                          <a:latin typeface="+mn-lt"/>
                        </a:rPr>
                        <a:t>C2 due</a:t>
                      </a:r>
                      <a:endParaRPr lang="en-AU" sz="1600" b="0" strike="noStrike" spc="-1">
                        <a:latin typeface="+mn-lt"/>
                      </a:endParaRPr>
                    </a:p>
                  </a:txBody>
                  <a:tcPr>
                    <a:lnL w="12240" cap="flat" cmpd="sng" algn="ctr">
                      <a:solidFill>
                        <a:srgbClr val="000000"/>
                      </a:solidFill>
                      <a:prstDash val="solid"/>
                      <a:round/>
                      <a:headEnd type="none" w="med" len="med"/>
                      <a:tailEnd type="none" w="med" len="med"/>
                    </a:lnL>
                    <a:lnR w="12240" algn="ctr">
                      <a:solidFill>
                        <a:srgbClr val="000000"/>
                      </a:solidFill>
                    </a:lnR>
                    <a:lnT w="12240" algn="ctr">
                      <a:solidFill>
                        <a:srgbClr val="000000"/>
                      </a:solidFill>
                    </a:lnT>
                    <a:lnB w="12240" cap="flat" cmpd="sng" algn="ctr">
                      <a:solidFill>
                        <a:srgbClr val="000000"/>
                      </a:solidFill>
                      <a:prstDash val="solid"/>
                      <a:round/>
                      <a:headEnd type="none" w="med" len="med"/>
                      <a:tailEnd type="none" w="med" len="med"/>
                    </a:lnB>
                    <a:solidFill>
                      <a:srgbClr val="E7E7E7"/>
                    </a:solidFill>
                  </a:tcPr>
                </a:tc>
                <a:extLst>
                  <a:ext uri="{0D108BD9-81ED-4DB2-BD59-A6C34878D82A}">
                    <a16:rowId xmlns:a16="http://schemas.microsoft.com/office/drawing/2014/main" val="2927731480"/>
                  </a:ext>
                </a:extLst>
              </a:tr>
              <a:tr h="335160">
                <a:tc>
                  <a:txBody>
                    <a:bodyPr/>
                    <a:lstStyle/>
                    <a:p>
                      <a:pPr>
                        <a:lnSpc>
                          <a:spcPct val="100000"/>
                        </a:lnSpc>
                        <a:defRPr/>
                      </a:pPr>
                      <a:r>
                        <a:rPr lang="en-AU" sz="1600" b="0" strike="noStrike" spc="-1" dirty="0">
                          <a:solidFill>
                            <a:srgbClr val="000000"/>
                          </a:solidFill>
                          <a:latin typeface="Century Schoolbook"/>
                        </a:rPr>
                        <a:t>11: Final</a:t>
                      </a:r>
                      <a:endParaRPr lang="en-AU" sz="1600" b="0" strike="noStrike" spc="-1" dirty="0">
                        <a:latin typeface="Arial"/>
                      </a:endParaRPr>
                    </a:p>
                  </a:txBody>
                  <a:tcPr>
                    <a:lnL w="12240" algn="ctr">
                      <a:solidFill>
                        <a:srgbClr val="000000"/>
                      </a:solidFill>
                    </a:lnL>
                    <a:lnR w="12240" algn="ctr">
                      <a:solidFill>
                        <a:srgbClr val="000000"/>
                      </a:solidFill>
                    </a:lnR>
                    <a:lnT w="12240" algn="ctr">
                      <a:solidFill>
                        <a:srgbClr val="000000"/>
                      </a:solidFill>
                    </a:lnT>
                    <a:lnB w="12240" algn="ctr">
                      <a:solidFill>
                        <a:srgbClr val="000000"/>
                      </a:solidFill>
                    </a:lnB>
                    <a:solidFill>
                      <a:srgbClr val="E7E7E7"/>
                    </a:solidFill>
                  </a:tcPr>
                </a:tc>
                <a:tc>
                  <a:txBody>
                    <a:bodyPr/>
                    <a:lstStyle/>
                    <a:p>
                      <a:pPr>
                        <a:lnSpc>
                          <a:spcPct val="100000"/>
                        </a:lnSpc>
                        <a:defRPr/>
                      </a:pPr>
                      <a:r>
                        <a:rPr lang="en-AU" sz="1600" b="0" strike="noStrike" spc="-1" dirty="0">
                          <a:solidFill>
                            <a:srgbClr val="000000"/>
                          </a:solidFill>
                          <a:latin typeface="Century Schoolbook"/>
                        </a:rPr>
                        <a:t>Final demo</a:t>
                      </a:r>
                      <a:endParaRPr lang="en-AU" sz="1600" b="0" strike="noStrike" spc="-1" dirty="0">
                        <a:latin typeface="Arial"/>
                      </a:endParaRPr>
                    </a:p>
                  </a:txBody>
                  <a:tcPr>
                    <a:lnL w="12240" algn="ctr">
                      <a:solidFill>
                        <a:srgbClr val="000000"/>
                      </a:solidFill>
                    </a:lnL>
                    <a:lnR w="12240" algn="ctr">
                      <a:solidFill>
                        <a:srgbClr val="000000"/>
                      </a:solidFill>
                    </a:lnR>
                    <a:lnT w="12240" algn="ctr">
                      <a:solidFill>
                        <a:srgbClr val="000000"/>
                      </a:solidFill>
                    </a:lnT>
                    <a:lnB w="12240" algn="ctr">
                      <a:solidFill>
                        <a:srgbClr val="000000"/>
                      </a:solidFill>
                    </a:lnB>
                    <a:solidFill>
                      <a:srgbClr val="E7E7E7"/>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AU" sz="1600" b="0" strike="noStrike" spc="-1" dirty="0">
                          <a:solidFill>
                            <a:srgbClr val="000000"/>
                          </a:solidFill>
                          <a:latin typeface="Century Schoolbook"/>
                        </a:rPr>
                        <a:t>Final demo due</a:t>
                      </a:r>
                      <a:r>
                        <a:rPr lang="en-AU" sz="1600" b="0" strike="noStrike" spc="-1" dirty="0">
                          <a:solidFill>
                            <a:srgbClr val="000000"/>
                          </a:solidFill>
                          <a:latin typeface="Arial"/>
                        </a:rPr>
                        <a:t> </a:t>
                      </a:r>
                      <a:endParaRPr lang="en-AU" sz="1600" b="0" strike="noStrike" spc="-1" dirty="0">
                        <a:latin typeface="+mn-lt"/>
                      </a:endParaRPr>
                    </a:p>
                  </a:txBody>
                  <a:tcPr>
                    <a:lnL w="12240" algn="ctr">
                      <a:solidFill>
                        <a:srgbClr val="000000"/>
                      </a:solidFill>
                    </a:lnL>
                    <a:lnR w="12240" algn="ctr">
                      <a:solidFill>
                        <a:srgbClr val="000000"/>
                      </a:solidFill>
                    </a:lnR>
                    <a:lnT w="12240" algn="ctr">
                      <a:solidFill>
                        <a:srgbClr val="000000"/>
                      </a:solidFill>
                    </a:lnT>
                    <a:lnB w="12240" algn="ctr">
                      <a:solidFill>
                        <a:srgbClr val="000000"/>
                      </a:solidFill>
                    </a:lnB>
                    <a:solidFill>
                      <a:srgbClr val="E7E7E7"/>
                    </a:solidFill>
                  </a:tcPr>
                </a:tc>
                <a:extLst>
                  <a:ext uri="{0D108BD9-81ED-4DB2-BD59-A6C34878D82A}">
                    <a16:rowId xmlns:a16="http://schemas.microsoft.com/office/drawing/2014/main" val="10010"/>
                  </a:ext>
                </a:extLst>
              </a:tr>
              <a:tr h="335160">
                <a:tc>
                  <a:txBody>
                    <a:bodyPr/>
                    <a:lstStyle/>
                    <a:p>
                      <a:pPr>
                        <a:lnSpc>
                          <a:spcPct val="100000"/>
                        </a:lnSpc>
                        <a:defRPr/>
                      </a:pPr>
                      <a:r>
                        <a:rPr lang="en-AU" sz="1600" b="0" strike="noStrike" spc="-1" dirty="0">
                          <a:solidFill>
                            <a:srgbClr val="000000"/>
                          </a:solidFill>
                          <a:latin typeface="Century Schoolbook"/>
                        </a:rPr>
                        <a:t>12: No lab</a:t>
                      </a:r>
                      <a:endParaRPr lang="en-AU" sz="1600" b="0" strike="noStrike" spc="-1" dirty="0">
                        <a:latin typeface="Arial"/>
                      </a:endParaRPr>
                    </a:p>
                  </a:txBody>
                  <a:tcPr>
                    <a:lnL w="12240" algn="ctr">
                      <a:solidFill>
                        <a:srgbClr val="000000"/>
                      </a:solidFill>
                    </a:lnL>
                    <a:lnR w="12240" algn="ctr">
                      <a:solidFill>
                        <a:srgbClr val="000000"/>
                      </a:solidFill>
                    </a:lnR>
                    <a:lnT w="12240" algn="ctr">
                      <a:solidFill>
                        <a:srgbClr val="000000"/>
                      </a:solidFill>
                    </a:lnT>
                    <a:lnB w="12240" algn="ctr">
                      <a:solidFill>
                        <a:srgbClr val="000000"/>
                      </a:solidFill>
                    </a:lnB>
                    <a:solidFill>
                      <a:srgbClr val="CCCCCC"/>
                    </a:solidFill>
                  </a:tcPr>
                </a:tc>
                <a:tc>
                  <a:txBody>
                    <a:bodyPr/>
                    <a:lstStyle/>
                    <a:p>
                      <a:pPr>
                        <a:lnSpc>
                          <a:spcPct val="100000"/>
                        </a:lnSpc>
                        <a:defRPr/>
                      </a:pPr>
                      <a:r>
                        <a:rPr lang="en-AU" sz="1600" b="0" strike="noStrike" spc="-1" dirty="0">
                          <a:solidFill>
                            <a:srgbClr val="000000"/>
                          </a:solidFill>
                          <a:latin typeface="Century Schoolbook"/>
                        </a:rPr>
                        <a:t>N/A</a:t>
                      </a:r>
                      <a:endParaRPr lang="en-AU" sz="1600" b="0" strike="noStrike" spc="-1" dirty="0">
                        <a:latin typeface="Arial"/>
                      </a:endParaRPr>
                    </a:p>
                  </a:txBody>
                  <a:tcPr>
                    <a:lnL w="12240" algn="ctr">
                      <a:solidFill>
                        <a:srgbClr val="000000"/>
                      </a:solidFill>
                    </a:lnL>
                    <a:lnR w="12240" algn="ctr">
                      <a:solidFill>
                        <a:srgbClr val="000000"/>
                      </a:solidFill>
                    </a:lnR>
                    <a:lnT w="12240" algn="ctr">
                      <a:solidFill>
                        <a:srgbClr val="000000"/>
                      </a:solidFill>
                    </a:lnT>
                    <a:lnB w="12240" algn="ctr">
                      <a:solidFill>
                        <a:srgbClr val="000000"/>
                      </a:solidFill>
                    </a:lnB>
                    <a:solidFill>
                      <a:srgbClr val="CCCCCC"/>
                    </a:solidFill>
                  </a:tcPr>
                </a:tc>
                <a:tc>
                  <a:txBody>
                    <a:bodyPr/>
                    <a:lstStyle/>
                    <a:p>
                      <a:pPr>
                        <a:lnSpc>
                          <a:spcPct val="100000"/>
                        </a:lnSpc>
                        <a:defRPr/>
                      </a:pPr>
                      <a:r>
                        <a:rPr lang="en-AU" sz="1600" b="0" strike="noStrike" spc="-1" dirty="0">
                          <a:solidFill>
                            <a:srgbClr val="000000"/>
                          </a:solidFill>
                          <a:latin typeface="Century Schoolbook"/>
                        </a:rPr>
                        <a:t>N/A</a:t>
                      </a:r>
                      <a:endParaRPr lang="en-AU" sz="1600" b="0" strike="noStrike" spc="-1" dirty="0">
                        <a:latin typeface="Arial"/>
                      </a:endParaRPr>
                    </a:p>
                  </a:txBody>
                  <a:tcPr>
                    <a:lnL w="12240" algn="ctr">
                      <a:solidFill>
                        <a:srgbClr val="000000"/>
                      </a:solidFill>
                    </a:lnL>
                    <a:lnR w="12240" algn="ctr">
                      <a:solidFill>
                        <a:srgbClr val="000000"/>
                      </a:solidFill>
                    </a:lnR>
                    <a:lnT w="12240" algn="ctr">
                      <a:solidFill>
                        <a:srgbClr val="000000"/>
                      </a:solidFill>
                    </a:lnT>
                    <a:lnB w="12240" algn="ctr">
                      <a:solidFill>
                        <a:srgbClr val="000000"/>
                      </a:solidFill>
                    </a:lnB>
                    <a:solidFill>
                      <a:srgbClr val="CCCCCC"/>
                    </a:solidFill>
                  </a:tcPr>
                </a:tc>
                <a:extLst>
                  <a:ext uri="{0D108BD9-81ED-4DB2-BD59-A6C34878D82A}">
                    <a16:rowId xmlns:a16="http://schemas.microsoft.com/office/drawing/2014/main" val="10011"/>
                  </a:ext>
                </a:extLst>
              </a:tr>
            </a:tbl>
          </a:graphicData>
        </a:graphic>
      </p:graphicFrame>
      <p:sp>
        <p:nvSpPr>
          <p:cNvPr id="7" name="TextBox 6">
            <a:extLst>
              <a:ext uri="{FF2B5EF4-FFF2-40B4-BE49-F238E27FC236}">
                <a16:creationId xmlns:a16="http://schemas.microsoft.com/office/drawing/2014/main" id="{11DA8C29-89B7-1BB4-7072-B8C58D3F2A9D}"/>
              </a:ext>
            </a:extLst>
          </p:cNvPr>
          <p:cNvSpPr txBox="1"/>
          <p:nvPr/>
        </p:nvSpPr>
        <p:spPr>
          <a:xfrm>
            <a:off x="478180" y="172557"/>
            <a:ext cx="11713820" cy="830997"/>
          </a:xfrm>
          <a:prstGeom prst="rect">
            <a:avLst/>
          </a:prstGeom>
          <a:noFill/>
        </p:spPr>
        <p:txBody>
          <a:bodyPr wrap="square" rtlCol="0">
            <a:spAutoFit/>
          </a:bodyPr>
          <a:lstStyle/>
          <a:p>
            <a:pPr algn="ctr"/>
            <a:r>
              <a:rPr lang="en-AU" sz="4800" dirty="0"/>
              <a:t>ECE4078  Intelligent robotics</a:t>
            </a:r>
          </a:p>
        </p:txBody>
      </p:sp>
      <p:sp>
        <p:nvSpPr>
          <p:cNvPr id="15" name="TextBox 14">
            <a:extLst>
              <a:ext uri="{FF2B5EF4-FFF2-40B4-BE49-F238E27FC236}">
                <a16:creationId xmlns:a16="http://schemas.microsoft.com/office/drawing/2014/main" id="{8B9A753A-0CD7-4DBC-D7D8-4301D1546DCD}"/>
              </a:ext>
            </a:extLst>
          </p:cNvPr>
          <p:cNvSpPr txBox="1"/>
          <p:nvPr/>
        </p:nvSpPr>
        <p:spPr>
          <a:xfrm>
            <a:off x="1474591" y="4963460"/>
            <a:ext cx="325186" cy="523220"/>
          </a:xfrm>
          <a:prstGeom prst="rect">
            <a:avLst/>
          </a:prstGeom>
          <a:noFill/>
        </p:spPr>
        <p:txBody>
          <a:bodyPr wrap="square" rtlCol="0">
            <a:spAutoFit/>
          </a:bodyPr>
          <a:lstStyle/>
          <a:p>
            <a:r>
              <a:rPr lang="en-AU" sz="2800" dirty="0">
                <a:solidFill>
                  <a:srgbClr val="FF0000"/>
                </a:solidFill>
              </a:rPr>
              <a:t>*</a:t>
            </a:r>
          </a:p>
        </p:txBody>
      </p:sp>
      <p:cxnSp>
        <p:nvCxnSpPr>
          <p:cNvPr id="16" name="Straight Connector 15">
            <a:extLst>
              <a:ext uri="{FF2B5EF4-FFF2-40B4-BE49-F238E27FC236}">
                <a16:creationId xmlns:a16="http://schemas.microsoft.com/office/drawing/2014/main" id="{7E34DF76-20EA-E6C2-BA3D-D5ECE824BB57}"/>
              </a:ext>
            </a:extLst>
          </p:cNvPr>
          <p:cNvCxnSpPr/>
          <p:nvPr/>
        </p:nvCxnSpPr>
        <p:spPr>
          <a:xfrm>
            <a:off x="1637548" y="1894540"/>
            <a:ext cx="8875058" cy="0"/>
          </a:xfrm>
          <a:prstGeom prst="line">
            <a:avLst/>
          </a:prstGeom>
          <a:ln w="38100">
            <a:prstDash val="dash"/>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986C7EF5-6D49-C8E0-794D-6012175ED245}"/>
              </a:ext>
            </a:extLst>
          </p:cNvPr>
          <p:cNvCxnSpPr/>
          <p:nvPr/>
        </p:nvCxnSpPr>
        <p:spPr>
          <a:xfrm>
            <a:off x="1640174" y="2267658"/>
            <a:ext cx="8875058" cy="0"/>
          </a:xfrm>
          <a:prstGeom prst="line">
            <a:avLst/>
          </a:prstGeom>
          <a:ln w="38100">
            <a:prstDash val="dash"/>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E177AF33-9CFD-1288-975F-5714FD1C6D63}"/>
              </a:ext>
            </a:extLst>
          </p:cNvPr>
          <p:cNvCxnSpPr/>
          <p:nvPr/>
        </p:nvCxnSpPr>
        <p:spPr>
          <a:xfrm>
            <a:off x="1637184" y="2635206"/>
            <a:ext cx="8875058" cy="0"/>
          </a:xfrm>
          <a:prstGeom prst="line">
            <a:avLst/>
          </a:prstGeom>
          <a:ln w="38100">
            <a:prstDash val="dash"/>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92D4700F-C358-D2D8-5FFD-B9FB241CBAE2}"/>
              </a:ext>
            </a:extLst>
          </p:cNvPr>
          <p:cNvCxnSpPr/>
          <p:nvPr/>
        </p:nvCxnSpPr>
        <p:spPr>
          <a:xfrm>
            <a:off x="1658471" y="3037772"/>
            <a:ext cx="8875058" cy="0"/>
          </a:xfrm>
          <a:prstGeom prst="line">
            <a:avLst/>
          </a:prstGeom>
          <a:ln w="38100">
            <a:prstDash val="dash"/>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B836F6F4-5171-AAA2-1504-92E8F8BC211A}"/>
              </a:ext>
            </a:extLst>
          </p:cNvPr>
          <p:cNvCxnSpPr/>
          <p:nvPr/>
        </p:nvCxnSpPr>
        <p:spPr>
          <a:xfrm>
            <a:off x="1637184" y="3429000"/>
            <a:ext cx="8875058" cy="0"/>
          </a:xfrm>
          <a:prstGeom prst="line">
            <a:avLst/>
          </a:prstGeom>
          <a:ln w="38100">
            <a:prstDash val="dash"/>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11A47E0D-2DA2-3F91-EA61-267D3F82D2BF}"/>
              </a:ext>
            </a:extLst>
          </p:cNvPr>
          <p:cNvCxnSpPr/>
          <p:nvPr/>
        </p:nvCxnSpPr>
        <p:spPr>
          <a:xfrm>
            <a:off x="1637184" y="3768142"/>
            <a:ext cx="8875058" cy="0"/>
          </a:xfrm>
          <a:prstGeom prst="line">
            <a:avLst/>
          </a:prstGeom>
          <a:ln w="38100">
            <a:prstDash val="dash"/>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FC5D25AF-1B09-8BDB-30EA-FB6DC29B6567}"/>
              </a:ext>
            </a:extLst>
          </p:cNvPr>
          <p:cNvCxnSpPr/>
          <p:nvPr/>
        </p:nvCxnSpPr>
        <p:spPr>
          <a:xfrm>
            <a:off x="1637184" y="4075818"/>
            <a:ext cx="8875058" cy="0"/>
          </a:xfrm>
          <a:prstGeom prst="line">
            <a:avLst/>
          </a:prstGeom>
          <a:ln w="38100">
            <a:prstDash val="dash"/>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FE9A6A4A-F50F-45C4-2E4B-173B39A6FFCD}"/>
              </a:ext>
            </a:extLst>
          </p:cNvPr>
          <p:cNvCxnSpPr/>
          <p:nvPr/>
        </p:nvCxnSpPr>
        <p:spPr>
          <a:xfrm>
            <a:off x="1637184" y="4452505"/>
            <a:ext cx="8875058" cy="0"/>
          </a:xfrm>
          <a:prstGeom prst="line">
            <a:avLst/>
          </a:prstGeom>
          <a:ln w="38100">
            <a:prstDash val="dash"/>
          </a:ln>
        </p:spPr>
        <p:style>
          <a:lnRef idx="1">
            <a:schemeClr val="accent1"/>
          </a:lnRef>
          <a:fillRef idx="0">
            <a:schemeClr val="accent1"/>
          </a:fillRef>
          <a:effectRef idx="0">
            <a:schemeClr val="accent1"/>
          </a:effectRef>
          <a:fontRef idx="minor">
            <a:schemeClr val="tx1"/>
          </a:fontRef>
        </p:style>
      </p:cxnSp>
      <p:cxnSp>
        <p:nvCxnSpPr>
          <p:cNvPr id="2" name="Straight Connector 1">
            <a:extLst>
              <a:ext uri="{FF2B5EF4-FFF2-40B4-BE49-F238E27FC236}">
                <a16:creationId xmlns:a16="http://schemas.microsoft.com/office/drawing/2014/main" id="{94044F2B-BD17-E667-1F1E-E81142B0BF33}"/>
              </a:ext>
            </a:extLst>
          </p:cNvPr>
          <p:cNvCxnSpPr/>
          <p:nvPr/>
        </p:nvCxnSpPr>
        <p:spPr>
          <a:xfrm>
            <a:off x="1637184" y="4794686"/>
            <a:ext cx="8875058" cy="0"/>
          </a:xfrm>
          <a:prstGeom prst="line">
            <a:avLst/>
          </a:prstGeom>
          <a:ln w="38100">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530348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TextBox 49">
            <a:extLst>
              <a:ext uri="{FF2B5EF4-FFF2-40B4-BE49-F238E27FC236}">
                <a16:creationId xmlns:a16="http://schemas.microsoft.com/office/drawing/2014/main" id="{BF948A99-782B-4139-A61F-6C2663DAEB76}"/>
              </a:ext>
            </a:extLst>
          </p:cNvPr>
          <p:cNvSpPr txBox="1"/>
          <p:nvPr/>
        </p:nvSpPr>
        <p:spPr>
          <a:xfrm>
            <a:off x="478180" y="7379"/>
            <a:ext cx="11713820" cy="830997"/>
          </a:xfrm>
          <a:prstGeom prst="rect">
            <a:avLst/>
          </a:prstGeom>
          <a:noFill/>
        </p:spPr>
        <p:txBody>
          <a:bodyPr wrap="square" rtlCol="0">
            <a:spAutoFit/>
          </a:bodyPr>
          <a:lstStyle/>
          <a:p>
            <a:pPr algn="ctr"/>
            <a:r>
              <a:rPr lang="en-AU" sz="4800" dirty="0"/>
              <a:t>Checkpoint 2: Integration</a:t>
            </a:r>
          </a:p>
        </p:txBody>
      </p:sp>
      <p:sp>
        <p:nvSpPr>
          <p:cNvPr id="4" name="TextBox 3">
            <a:extLst>
              <a:ext uri="{FF2B5EF4-FFF2-40B4-BE49-F238E27FC236}">
                <a16:creationId xmlns:a16="http://schemas.microsoft.com/office/drawing/2014/main" id="{CA0B27D3-7B85-4485-A10E-AAC012A9B3BB}"/>
              </a:ext>
            </a:extLst>
          </p:cNvPr>
          <p:cNvSpPr txBox="1"/>
          <p:nvPr/>
        </p:nvSpPr>
        <p:spPr>
          <a:xfrm>
            <a:off x="478180" y="806896"/>
            <a:ext cx="11588314" cy="5632311"/>
          </a:xfrm>
          <a:prstGeom prst="rect">
            <a:avLst/>
          </a:prstGeom>
          <a:noFill/>
        </p:spPr>
        <p:txBody>
          <a:bodyPr wrap="square" rtlCol="0">
            <a:spAutoFit/>
          </a:bodyPr>
          <a:lstStyle/>
          <a:p>
            <a:r>
              <a:rPr lang="en-GB" dirty="0"/>
              <a:t>Checkpoint 2 (C2) is designed to give you time to integrate all the modules you completed in the previous milestones and an opportunity to practice the final demo. It integrates your work from M1 to M3 so that the robot can create a map of the arena containing the estimated poses of 10 </a:t>
            </a:r>
            <a:r>
              <a:rPr lang="en-GB" dirty="0" err="1"/>
              <a:t>ArUco</a:t>
            </a:r>
            <a:r>
              <a:rPr lang="en-GB" dirty="0"/>
              <a:t> markers (M1), 10 objects (M2), to then perform the grocery shopping task (M3).</a:t>
            </a:r>
          </a:p>
          <a:p>
            <a:br>
              <a:rPr lang="en-US" dirty="0"/>
            </a:br>
            <a:r>
              <a:rPr lang="en-US" b="1" dirty="0"/>
              <a:t>C2 is a practice run of the Final demo process.</a:t>
            </a:r>
            <a:r>
              <a:rPr lang="en-US" dirty="0"/>
              <a:t>	</a:t>
            </a:r>
          </a:p>
          <a:p>
            <a:br>
              <a:rPr lang="en-US" dirty="0"/>
            </a:br>
            <a:r>
              <a:rPr lang="en-US" dirty="0"/>
              <a:t>Final Demo Information:</a:t>
            </a:r>
          </a:p>
          <a:p>
            <a:r>
              <a:rPr lang="en-US" dirty="0"/>
              <a:t>The arena will always contain:</a:t>
            </a:r>
          </a:p>
          <a:p>
            <a:pPr marL="342900" indent="-342900">
              <a:buFont typeface="Arial" panose="020B0604020202020204" pitchFamily="34" charset="0"/>
              <a:buChar char="•"/>
            </a:pPr>
            <a:r>
              <a:rPr lang="en-US" dirty="0"/>
              <a:t>10 </a:t>
            </a:r>
            <a:r>
              <a:rPr lang="en-US" dirty="0" err="1"/>
              <a:t>ArUco</a:t>
            </a:r>
            <a:r>
              <a:rPr lang="en-US" dirty="0"/>
              <a:t> markers</a:t>
            </a:r>
          </a:p>
          <a:p>
            <a:pPr marL="342900" indent="-342900">
              <a:buFont typeface="Arial" panose="020B0604020202020204" pitchFamily="34" charset="0"/>
              <a:buChar char="•"/>
            </a:pPr>
            <a:r>
              <a:rPr lang="en-US" dirty="0"/>
              <a:t>5 unique </a:t>
            </a:r>
            <a:r>
              <a:rPr lang="en-US" dirty="0" err="1"/>
              <a:t>fruits&amp;vegs</a:t>
            </a:r>
            <a:r>
              <a:rPr lang="en-US" dirty="0"/>
              <a:t> as targets for navigation (given shopping list)</a:t>
            </a:r>
          </a:p>
          <a:p>
            <a:pPr marL="342900" indent="-342900">
              <a:buFont typeface="Arial" panose="020B0604020202020204" pitchFamily="34" charset="0"/>
              <a:buChar char="•"/>
            </a:pPr>
            <a:r>
              <a:rPr lang="en-US" dirty="0"/>
              <a:t>5 obstacle </a:t>
            </a:r>
            <a:r>
              <a:rPr lang="en-US" dirty="0" err="1"/>
              <a:t>fruits&amp;vegs</a:t>
            </a:r>
            <a:r>
              <a:rPr lang="en-US" dirty="0"/>
              <a:t> (can contain duplicates)</a:t>
            </a:r>
          </a:p>
          <a:p>
            <a:pPr marL="342900" indent="-342900">
              <a:buFont typeface="Arial" panose="020B0604020202020204" pitchFamily="34" charset="0"/>
              <a:buChar char="•"/>
            </a:pPr>
            <a:r>
              <a:rPr lang="en-US" dirty="0"/>
              <a:t>There are two evaluation components:</a:t>
            </a:r>
          </a:p>
          <a:p>
            <a:pPr marL="342900" indent="-342900">
              <a:buFont typeface="Arial" panose="020B0604020202020204" pitchFamily="34" charset="0"/>
              <a:buChar char="•"/>
            </a:pPr>
            <a:endParaRPr lang="en-US" dirty="0"/>
          </a:p>
          <a:p>
            <a:r>
              <a:rPr lang="en-US" dirty="0"/>
              <a:t>Final Demo Tasks:</a:t>
            </a:r>
          </a:p>
          <a:p>
            <a:pPr marL="342900" indent="-342900">
              <a:buFont typeface="Arial" panose="020B0604020202020204" pitchFamily="34" charset="0"/>
              <a:buChar char="•"/>
            </a:pPr>
            <a:r>
              <a:rPr lang="en-US" dirty="0"/>
              <a:t>Arena mapping (manual or fully-autonomous)</a:t>
            </a:r>
          </a:p>
          <a:p>
            <a:pPr marL="800100" lvl="1" indent="-342900">
              <a:buFont typeface="Arial" panose="020B0604020202020204" pitchFamily="34" charset="0"/>
              <a:buChar char="•"/>
            </a:pPr>
            <a:r>
              <a:rPr lang="en-US" dirty="0"/>
              <a:t>SLAM map</a:t>
            </a:r>
          </a:p>
          <a:p>
            <a:pPr marL="800100" lvl="1" indent="-342900">
              <a:buFont typeface="Arial" panose="020B0604020202020204" pitchFamily="34" charset="0"/>
              <a:buChar char="•"/>
            </a:pPr>
            <a:r>
              <a:rPr lang="en-US" dirty="0"/>
              <a:t>Target map</a:t>
            </a:r>
          </a:p>
          <a:p>
            <a:pPr marL="342900" indent="-342900">
              <a:buFont typeface="Arial" panose="020B0604020202020204" pitchFamily="34" charset="0"/>
              <a:buChar char="•"/>
            </a:pPr>
            <a:r>
              <a:rPr lang="en-US" dirty="0"/>
              <a:t>Grocery shopping / navigation: fully-autonomous navigation</a:t>
            </a:r>
          </a:p>
          <a:p>
            <a:pPr marL="342900" indent="-342900">
              <a:buFont typeface="Arial" panose="020B0604020202020204" pitchFamily="34" charset="0"/>
              <a:buChar char="•"/>
            </a:pPr>
            <a:r>
              <a:rPr lang="en-US" dirty="0"/>
              <a:t>Fully-autonomous mapping must be done simultaneously with navigation </a:t>
            </a:r>
          </a:p>
        </p:txBody>
      </p:sp>
    </p:spTree>
    <p:extLst>
      <p:ext uri="{BB962C8B-B14F-4D97-AF65-F5344CB8AC3E}">
        <p14:creationId xmlns:p14="http://schemas.microsoft.com/office/powerpoint/2010/main" val="129005076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594DD9-516C-98B7-53FA-D87F85565C76}"/>
            </a:ext>
          </a:extLst>
        </p:cNvPr>
        <p:cNvGrpSpPr/>
        <p:nvPr/>
      </p:nvGrpSpPr>
      <p:grpSpPr>
        <a:xfrm>
          <a:off x="0" y="0"/>
          <a:ext cx="0" cy="0"/>
          <a:chOff x="0" y="0"/>
          <a:chExt cx="0" cy="0"/>
        </a:xfrm>
      </p:grpSpPr>
      <p:sp>
        <p:nvSpPr>
          <p:cNvPr id="50" name="TextBox 49">
            <a:extLst>
              <a:ext uri="{FF2B5EF4-FFF2-40B4-BE49-F238E27FC236}">
                <a16:creationId xmlns:a16="http://schemas.microsoft.com/office/drawing/2014/main" id="{90F82F25-0B4D-E96D-FEE0-DA81A2AAB2CF}"/>
              </a:ext>
            </a:extLst>
          </p:cNvPr>
          <p:cNvSpPr txBox="1"/>
          <p:nvPr/>
        </p:nvSpPr>
        <p:spPr>
          <a:xfrm>
            <a:off x="478180" y="7379"/>
            <a:ext cx="11713820" cy="830997"/>
          </a:xfrm>
          <a:prstGeom prst="rect">
            <a:avLst/>
          </a:prstGeom>
          <a:noFill/>
        </p:spPr>
        <p:txBody>
          <a:bodyPr wrap="square" rtlCol="0">
            <a:spAutoFit/>
          </a:bodyPr>
          <a:lstStyle/>
          <a:p>
            <a:pPr algn="ctr"/>
            <a:r>
              <a:rPr lang="en-AU" sz="4800" dirty="0"/>
              <a:t>Final Demo: Levels</a:t>
            </a:r>
          </a:p>
        </p:txBody>
      </p:sp>
      <p:sp>
        <p:nvSpPr>
          <p:cNvPr id="4" name="TextBox 3">
            <a:extLst>
              <a:ext uri="{FF2B5EF4-FFF2-40B4-BE49-F238E27FC236}">
                <a16:creationId xmlns:a16="http://schemas.microsoft.com/office/drawing/2014/main" id="{5FF8DFD6-A6C5-B7AB-C354-3B206B693582}"/>
              </a:ext>
            </a:extLst>
          </p:cNvPr>
          <p:cNvSpPr txBox="1"/>
          <p:nvPr/>
        </p:nvSpPr>
        <p:spPr>
          <a:xfrm>
            <a:off x="478180" y="806896"/>
            <a:ext cx="11588314" cy="5355312"/>
          </a:xfrm>
          <a:prstGeom prst="rect">
            <a:avLst/>
          </a:prstGeom>
          <a:noFill/>
        </p:spPr>
        <p:txBody>
          <a:bodyPr wrap="square" rtlCol="0">
            <a:spAutoFit/>
          </a:bodyPr>
          <a:lstStyle/>
          <a:p>
            <a:r>
              <a:rPr lang="en-GB" dirty="0"/>
              <a:t>The task is separated into three task levels, these levels are:</a:t>
            </a:r>
          </a:p>
          <a:p>
            <a:pPr marL="285750" indent="-285750">
              <a:buFont typeface="Arial" panose="020B0604020202020204" pitchFamily="34" charset="0"/>
              <a:buChar char="•"/>
            </a:pPr>
            <a:r>
              <a:rPr lang="en-GB" dirty="0"/>
              <a:t>Level 1: Manual Mapping and Fully-Autonomous Navigation </a:t>
            </a:r>
          </a:p>
          <a:p>
            <a:pPr marL="742950" lvl="1" indent="-285750">
              <a:buFont typeface="Arial" panose="020B0604020202020204" pitchFamily="34" charset="0"/>
              <a:buChar char="•"/>
            </a:pPr>
            <a:r>
              <a:rPr lang="en-GB" dirty="0"/>
              <a:t>The robot can be teleoperated for the Mapping task</a:t>
            </a:r>
          </a:p>
          <a:p>
            <a:pPr marL="742950" lvl="1" indent="-285750">
              <a:buFont typeface="Arial" panose="020B0604020202020204" pitchFamily="34" charset="0"/>
              <a:buChar char="•"/>
            </a:pPr>
            <a:r>
              <a:rPr lang="en-GB" dirty="0"/>
              <a:t>The robot must navigate around the arena autonomously</a:t>
            </a:r>
          </a:p>
          <a:p>
            <a:pPr marL="742950" lvl="1" indent="-285750">
              <a:buFont typeface="Arial" panose="020B0604020202020204" pitchFamily="34" charset="0"/>
              <a:buChar char="•"/>
            </a:pPr>
            <a:r>
              <a:rPr lang="en-GB" dirty="0"/>
              <a:t>You must navigate to targets on the shopping list in the specified order</a:t>
            </a:r>
          </a:p>
          <a:p>
            <a:pPr marL="742950" lvl="1"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Level 2: Manual Mapping and Fully-Autonomous Navigation with Swapped Objects</a:t>
            </a:r>
          </a:p>
          <a:p>
            <a:pPr marL="742950" lvl="1" indent="-285750">
              <a:buFont typeface="Arial" panose="020B0604020202020204" pitchFamily="34" charset="0"/>
              <a:buChar char="•"/>
            </a:pPr>
            <a:r>
              <a:rPr lang="en-GB" dirty="0"/>
              <a:t>The robot can be teleoperated for the Mapping task</a:t>
            </a:r>
          </a:p>
          <a:p>
            <a:pPr marL="742950" lvl="1" indent="-285750">
              <a:buFont typeface="Arial" panose="020B0604020202020204" pitchFamily="34" charset="0"/>
              <a:buChar char="•"/>
            </a:pPr>
            <a:r>
              <a:rPr lang="en-GB" dirty="0"/>
              <a:t>The robot must navigate around the arena autonomously</a:t>
            </a:r>
          </a:p>
          <a:p>
            <a:pPr marL="742950" lvl="1" indent="-285750">
              <a:buFont typeface="Arial" panose="020B0604020202020204" pitchFamily="34" charset="0"/>
              <a:buChar char="•"/>
            </a:pPr>
            <a:r>
              <a:rPr lang="en-GB" dirty="0"/>
              <a:t>After mapping occurs, target and/or obstacles objects will change locations</a:t>
            </a:r>
          </a:p>
          <a:p>
            <a:pPr marL="742950" lvl="1" indent="-285750">
              <a:buFont typeface="Arial" panose="020B0604020202020204" pitchFamily="34" charset="0"/>
              <a:buChar char="•"/>
            </a:pPr>
            <a:r>
              <a:rPr lang="en-GB" dirty="0"/>
              <a:t>You must navigate to targets on the shopping list as specified by level 3 requirements</a:t>
            </a:r>
          </a:p>
          <a:p>
            <a:pPr marL="742950" lvl="1"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Level 3: Fully-Autonomous Mapping and Navigation</a:t>
            </a:r>
          </a:p>
          <a:p>
            <a:pPr marL="742950" lvl="1" indent="-285750">
              <a:buFont typeface="Arial" panose="020B0604020202020204" pitchFamily="34" charset="0"/>
              <a:buChar char="•"/>
            </a:pPr>
            <a:r>
              <a:rPr lang="en-GB" dirty="0"/>
              <a:t>The robot performs simultaneous mapping and navigation around the arena autonomously</a:t>
            </a:r>
          </a:p>
          <a:p>
            <a:pPr marL="742950" lvl="1" indent="-285750">
              <a:buFont typeface="Arial" panose="020B0604020202020204" pitchFamily="34" charset="0"/>
              <a:buChar char="•"/>
            </a:pPr>
            <a:r>
              <a:rPr lang="en-GB" dirty="0"/>
              <a:t>You may navigate to objects in any order</a:t>
            </a:r>
          </a:p>
          <a:p>
            <a:pPr marL="742950" lvl="1" indent="-285750">
              <a:buFont typeface="Arial" panose="020B0604020202020204" pitchFamily="34" charset="0"/>
              <a:buChar char="•"/>
            </a:pPr>
            <a:r>
              <a:rPr lang="en-GB" dirty="0"/>
              <a:t>You are still provided a shopping list, but you do not need to navigate to the targets in the same order as the list. Due to the removal of shopping list order, you must clearly indicate if the robot is stopping for an object by printing the label of the specified object to terminal and notifying the TA of the robot's intention to stop at the specific target. </a:t>
            </a:r>
            <a:endParaRPr lang="en-US" dirty="0"/>
          </a:p>
        </p:txBody>
      </p:sp>
    </p:spTree>
    <p:extLst>
      <p:ext uri="{BB962C8B-B14F-4D97-AF65-F5344CB8AC3E}">
        <p14:creationId xmlns:p14="http://schemas.microsoft.com/office/powerpoint/2010/main" val="26737681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TextBox 49">
            <a:extLst>
              <a:ext uri="{FF2B5EF4-FFF2-40B4-BE49-F238E27FC236}">
                <a16:creationId xmlns:a16="http://schemas.microsoft.com/office/drawing/2014/main" id="{BF948A99-782B-4139-A61F-6C2663DAEB76}"/>
              </a:ext>
            </a:extLst>
          </p:cNvPr>
          <p:cNvSpPr txBox="1"/>
          <p:nvPr/>
        </p:nvSpPr>
        <p:spPr>
          <a:xfrm>
            <a:off x="478180" y="172557"/>
            <a:ext cx="11713820" cy="830997"/>
          </a:xfrm>
          <a:prstGeom prst="rect">
            <a:avLst/>
          </a:prstGeom>
          <a:noFill/>
        </p:spPr>
        <p:txBody>
          <a:bodyPr wrap="square" rtlCol="0">
            <a:spAutoFit/>
          </a:bodyPr>
          <a:lstStyle/>
          <a:p>
            <a:pPr algn="ctr"/>
            <a:r>
              <a:rPr lang="en-AU" sz="4800" dirty="0"/>
              <a:t>Additional recommendations</a:t>
            </a:r>
          </a:p>
        </p:txBody>
      </p:sp>
      <p:sp>
        <p:nvSpPr>
          <p:cNvPr id="51" name="TextBox 50">
            <a:extLst>
              <a:ext uri="{FF2B5EF4-FFF2-40B4-BE49-F238E27FC236}">
                <a16:creationId xmlns:a16="http://schemas.microsoft.com/office/drawing/2014/main" id="{23C81F35-1469-4804-9BCB-5A04321DD9C5}"/>
              </a:ext>
            </a:extLst>
          </p:cNvPr>
          <p:cNvSpPr txBox="1"/>
          <p:nvPr/>
        </p:nvSpPr>
        <p:spPr>
          <a:xfrm>
            <a:off x="666931" y="1104222"/>
            <a:ext cx="11336318" cy="3416320"/>
          </a:xfrm>
          <a:prstGeom prst="rect">
            <a:avLst/>
          </a:prstGeom>
          <a:noFill/>
        </p:spPr>
        <p:txBody>
          <a:bodyPr wrap="square" rtlCol="0">
            <a:spAutoFit/>
          </a:bodyPr>
          <a:lstStyle/>
          <a:p>
            <a:r>
              <a:rPr lang="en-AU" dirty="0"/>
              <a:t>Practice </a:t>
            </a:r>
            <a:r>
              <a:rPr lang="en-AU" dirty="0" err="1"/>
              <a:t>practice</a:t>
            </a:r>
            <a:r>
              <a:rPr lang="en-AU" dirty="0"/>
              <a:t> </a:t>
            </a:r>
            <a:r>
              <a:rPr lang="en-AU" dirty="0" err="1"/>
              <a:t>practice</a:t>
            </a:r>
            <a:r>
              <a:rPr lang="en-AU" dirty="0"/>
              <a:t>! (again)</a:t>
            </a:r>
          </a:p>
          <a:p>
            <a:pPr marL="285750" indent="-285750">
              <a:buFont typeface="Arial" panose="020B0604020202020204" pitchFamily="34" charset="0"/>
              <a:buChar char="•"/>
            </a:pPr>
            <a:r>
              <a:rPr lang="en-AU" dirty="0"/>
              <a:t>The easiest and most influential recommendation.</a:t>
            </a:r>
          </a:p>
          <a:p>
            <a:pPr marL="285750" indent="-285750">
              <a:buFont typeface="Arial" panose="020B0604020202020204" pitchFamily="34" charset="0"/>
              <a:buChar char="•"/>
            </a:pPr>
            <a:r>
              <a:rPr lang="en-AU" dirty="0"/>
              <a:t>Remember this ALSO includes setting up the environment as quick as you can.</a:t>
            </a:r>
          </a:p>
          <a:p>
            <a:pPr marL="285750" indent="-285750">
              <a:buFont typeface="Arial" panose="020B0604020202020204" pitchFamily="34" charset="0"/>
              <a:buChar char="•"/>
            </a:pPr>
            <a:r>
              <a:rPr lang="en-AU" dirty="0"/>
              <a:t>Try and practice on a wide range of maps whilst trying your best to replicate the EXACT same 	conditions you will be performing the live demo under.</a:t>
            </a:r>
          </a:p>
          <a:p>
            <a:endParaRPr lang="en-AU" dirty="0"/>
          </a:p>
          <a:p>
            <a:r>
              <a:rPr lang="en-AU" dirty="0"/>
              <a:t>Develop, plan and discuss a strategy </a:t>
            </a:r>
          </a:p>
          <a:p>
            <a:pPr marL="285750" indent="-285750">
              <a:buFont typeface="Arial" panose="020B0604020202020204" pitchFamily="34" charset="0"/>
              <a:buChar char="•"/>
            </a:pPr>
            <a:r>
              <a:rPr lang="en-AU" dirty="0"/>
              <a:t>Try and find a “meta” strategy that will give you the most marks in the limited live demo time</a:t>
            </a:r>
          </a:p>
          <a:p>
            <a:pPr marL="285750" indent="-285750">
              <a:buFont typeface="Arial" panose="020B0604020202020204" pitchFamily="34" charset="0"/>
              <a:buChar char="•"/>
            </a:pPr>
            <a:r>
              <a:rPr lang="en-AU" dirty="0"/>
              <a:t>Is it better to brute force the task with many fast attempts as possible? Or is it better to try and take it slow and be more consistent? </a:t>
            </a:r>
          </a:p>
          <a:p>
            <a:pPr marL="285750" indent="-285750">
              <a:buFont typeface="Arial" panose="020B0604020202020204" pitchFamily="34" charset="0"/>
              <a:buChar char="•"/>
            </a:pPr>
            <a:r>
              <a:rPr lang="en-AU" dirty="0"/>
              <a:t>Is there a specific driving strategy you should follow when mapping the arena?</a:t>
            </a:r>
          </a:p>
          <a:p>
            <a:pPr marL="285750" indent="-285750">
              <a:buFont typeface="Arial" panose="020B0604020202020204" pitchFamily="34" charset="0"/>
              <a:buChar char="•"/>
            </a:pPr>
            <a:r>
              <a:rPr lang="en-AU" dirty="0"/>
              <a:t>Discuss and solidify a plan with your group with what kind of strategy you should use.</a:t>
            </a:r>
          </a:p>
        </p:txBody>
      </p:sp>
    </p:spTree>
    <p:extLst>
      <p:ext uri="{BB962C8B-B14F-4D97-AF65-F5344CB8AC3E}">
        <p14:creationId xmlns:p14="http://schemas.microsoft.com/office/powerpoint/2010/main" val="48861571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TextBox 49">
            <a:extLst>
              <a:ext uri="{FF2B5EF4-FFF2-40B4-BE49-F238E27FC236}">
                <a16:creationId xmlns:a16="http://schemas.microsoft.com/office/drawing/2014/main" id="{BF948A99-782B-4139-A61F-6C2663DAEB76}"/>
              </a:ext>
            </a:extLst>
          </p:cNvPr>
          <p:cNvSpPr txBox="1"/>
          <p:nvPr/>
        </p:nvSpPr>
        <p:spPr>
          <a:xfrm>
            <a:off x="478180" y="172557"/>
            <a:ext cx="11713820" cy="830997"/>
          </a:xfrm>
          <a:prstGeom prst="rect">
            <a:avLst/>
          </a:prstGeom>
          <a:noFill/>
        </p:spPr>
        <p:txBody>
          <a:bodyPr wrap="square" rtlCol="0">
            <a:spAutoFit/>
          </a:bodyPr>
          <a:lstStyle/>
          <a:p>
            <a:pPr algn="ctr"/>
            <a:r>
              <a:rPr lang="en-AU" sz="4800" dirty="0"/>
              <a:t>Additional recommendations (optional)</a:t>
            </a:r>
          </a:p>
        </p:txBody>
      </p:sp>
      <p:sp>
        <p:nvSpPr>
          <p:cNvPr id="51" name="TextBox 50">
            <a:extLst>
              <a:ext uri="{FF2B5EF4-FFF2-40B4-BE49-F238E27FC236}">
                <a16:creationId xmlns:a16="http://schemas.microsoft.com/office/drawing/2014/main" id="{23C81F35-1469-4804-9BCB-5A04321DD9C5}"/>
              </a:ext>
            </a:extLst>
          </p:cNvPr>
          <p:cNvSpPr txBox="1"/>
          <p:nvPr/>
        </p:nvSpPr>
        <p:spPr>
          <a:xfrm>
            <a:off x="666931" y="1104222"/>
            <a:ext cx="8338922" cy="2585323"/>
          </a:xfrm>
          <a:prstGeom prst="rect">
            <a:avLst/>
          </a:prstGeom>
          <a:noFill/>
        </p:spPr>
        <p:txBody>
          <a:bodyPr wrap="square" rtlCol="0">
            <a:spAutoFit/>
          </a:bodyPr>
          <a:lstStyle/>
          <a:p>
            <a:r>
              <a:rPr lang="en-AU" dirty="0"/>
              <a:t>- Improved GUI</a:t>
            </a:r>
          </a:p>
          <a:p>
            <a:r>
              <a:rPr lang="en-AU" dirty="0"/>
              <a:t>	</a:t>
            </a:r>
          </a:p>
          <a:p>
            <a:r>
              <a:rPr lang="en-AU" dirty="0"/>
              <a:t>	An improved GUI can really help out the mapping and navigation</a:t>
            </a:r>
            <a:br>
              <a:rPr lang="en-AU" dirty="0"/>
            </a:br>
            <a:endParaRPr lang="en-AU" dirty="0"/>
          </a:p>
          <a:p>
            <a:r>
              <a:rPr lang="en-AU" dirty="0"/>
              <a:t>	Rendering the trajectory on screen can be helpful to check early on if the 	generated path of the robot is a viable one (and for you to decide if you 	want to go ahead with this path / waypoint or to generate a new one 	before starting the navigation)</a:t>
            </a:r>
          </a:p>
          <a:p>
            <a:endParaRPr lang="en-AU" dirty="0"/>
          </a:p>
        </p:txBody>
      </p:sp>
      <p:pic>
        <p:nvPicPr>
          <p:cNvPr id="2" name="Picture 1">
            <a:extLst>
              <a:ext uri="{FF2B5EF4-FFF2-40B4-BE49-F238E27FC236}">
                <a16:creationId xmlns:a16="http://schemas.microsoft.com/office/drawing/2014/main" id="{1FC471D2-F34F-4AB8-4F0A-101C3579C249}"/>
              </a:ext>
            </a:extLst>
          </p:cNvPr>
          <p:cNvPicPr>
            <a:picLocks noChangeAspect="1"/>
          </p:cNvPicPr>
          <p:nvPr/>
        </p:nvPicPr>
        <p:blipFill rotWithShape="1">
          <a:blip r:embed="rId2"/>
          <a:srcRect l="3992" t="24240" r="30113" b="4397"/>
          <a:stretch/>
        </p:blipFill>
        <p:spPr>
          <a:xfrm>
            <a:off x="9005853" y="1104222"/>
            <a:ext cx="2989039" cy="3377672"/>
          </a:xfrm>
          <a:prstGeom prst="rect">
            <a:avLst/>
          </a:prstGeom>
        </p:spPr>
      </p:pic>
      <p:sp>
        <p:nvSpPr>
          <p:cNvPr id="4" name="TextBox 3">
            <a:extLst>
              <a:ext uri="{FF2B5EF4-FFF2-40B4-BE49-F238E27FC236}">
                <a16:creationId xmlns:a16="http://schemas.microsoft.com/office/drawing/2014/main" id="{E8BC462E-8726-5A8C-B7B7-50DDBF4F072B}"/>
              </a:ext>
            </a:extLst>
          </p:cNvPr>
          <p:cNvSpPr txBox="1"/>
          <p:nvPr/>
        </p:nvSpPr>
        <p:spPr>
          <a:xfrm>
            <a:off x="666931" y="4481894"/>
            <a:ext cx="11256930" cy="1754326"/>
          </a:xfrm>
          <a:prstGeom prst="rect">
            <a:avLst/>
          </a:prstGeom>
          <a:noFill/>
        </p:spPr>
        <p:txBody>
          <a:bodyPr wrap="square">
            <a:spAutoFit/>
          </a:bodyPr>
          <a:lstStyle/>
          <a:p>
            <a:endParaRPr lang="en-AU" dirty="0"/>
          </a:p>
          <a:p>
            <a:r>
              <a:rPr lang="en-AU" dirty="0"/>
              <a:t>- Path planning selection </a:t>
            </a:r>
            <a:br>
              <a:rPr lang="en-AU" dirty="0"/>
            </a:br>
            <a:r>
              <a:rPr lang="en-AU" dirty="0"/>
              <a:t>	If you are using a stochastic path planning algorithm (or multiple path planning algorithms), it may  	be beneficial to initially generate multiple potential trajectories which the robot can select from</a:t>
            </a:r>
          </a:p>
          <a:p>
            <a:br>
              <a:rPr lang="en-AU" dirty="0"/>
            </a:br>
            <a:r>
              <a:rPr lang="en-AU" dirty="0"/>
              <a:t>	Remember, you can only press ONE button to start your script</a:t>
            </a:r>
          </a:p>
        </p:txBody>
      </p:sp>
    </p:spTree>
    <p:extLst>
      <p:ext uri="{BB962C8B-B14F-4D97-AF65-F5344CB8AC3E}">
        <p14:creationId xmlns:p14="http://schemas.microsoft.com/office/powerpoint/2010/main" val="393662433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TextBox 49">
            <a:extLst>
              <a:ext uri="{FF2B5EF4-FFF2-40B4-BE49-F238E27FC236}">
                <a16:creationId xmlns:a16="http://schemas.microsoft.com/office/drawing/2014/main" id="{BF948A99-782B-4139-A61F-6C2663DAEB76}"/>
              </a:ext>
            </a:extLst>
          </p:cNvPr>
          <p:cNvSpPr txBox="1"/>
          <p:nvPr/>
        </p:nvSpPr>
        <p:spPr>
          <a:xfrm>
            <a:off x="478180" y="172557"/>
            <a:ext cx="11713820" cy="830997"/>
          </a:xfrm>
          <a:prstGeom prst="rect">
            <a:avLst/>
          </a:prstGeom>
          <a:noFill/>
        </p:spPr>
        <p:txBody>
          <a:bodyPr wrap="square" rtlCol="0">
            <a:spAutoFit/>
          </a:bodyPr>
          <a:lstStyle/>
          <a:p>
            <a:pPr algn="ctr"/>
            <a:r>
              <a:rPr lang="en-AU" sz="4800" dirty="0"/>
              <a:t>Additional recommendations</a:t>
            </a:r>
          </a:p>
        </p:txBody>
      </p:sp>
      <p:sp>
        <p:nvSpPr>
          <p:cNvPr id="51" name="TextBox 50">
            <a:extLst>
              <a:ext uri="{FF2B5EF4-FFF2-40B4-BE49-F238E27FC236}">
                <a16:creationId xmlns:a16="http://schemas.microsoft.com/office/drawing/2014/main" id="{23C81F35-1469-4804-9BCB-5A04321DD9C5}"/>
              </a:ext>
            </a:extLst>
          </p:cNvPr>
          <p:cNvSpPr txBox="1"/>
          <p:nvPr/>
        </p:nvSpPr>
        <p:spPr>
          <a:xfrm>
            <a:off x="666931" y="1104222"/>
            <a:ext cx="11336318" cy="4524315"/>
          </a:xfrm>
          <a:prstGeom prst="rect">
            <a:avLst/>
          </a:prstGeom>
          <a:noFill/>
        </p:spPr>
        <p:txBody>
          <a:bodyPr wrap="square" rtlCol="0">
            <a:spAutoFit/>
          </a:bodyPr>
          <a:lstStyle/>
          <a:p>
            <a:r>
              <a:rPr lang="en-AU" dirty="0">
                <a:solidFill>
                  <a:srgbClr val="FFC000"/>
                </a:solidFill>
              </a:rPr>
              <a:t>- Add a stop button</a:t>
            </a:r>
          </a:p>
          <a:p>
            <a:r>
              <a:rPr lang="en-AU" dirty="0"/>
              <a:t>	</a:t>
            </a:r>
          </a:p>
          <a:p>
            <a:r>
              <a:rPr lang="en-AU" dirty="0"/>
              <a:t>	Adding a stop button that makes the robot wheels stop without shutting the robot down or stopping 	your operate script would save some time and effort when you want to quickly start a new run.</a:t>
            </a:r>
          </a:p>
          <a:p>
            <a:endParaRPr lang="en-AU" dirty="0">
              <a:solidFill>
                <a:srgbClr val="FFC000"/>
              </a:solidFill>
            </a:endParaRPr>
          </a:p>
          <a:p>
            <a:r>
              <a:rPr lang="en-AU" dirty="0">
                <a:solidFill>
                  <a:srgbClr val="FFC000"/>
                </a:solidFill>
              </a:rPr>
              <a:t>- Optimise turning and reverse driving</a:t>
            </a:r>
          </a:p>
          <a:p>
            <a:endParaRPr lang="en-AU" dirty="0"/>
          </a:p>
          <a:p>
            <a:r>
              <a:rPr lang="en-AU" dirty="0"/>
              <a:t>	Turning is the reason to many collisions when your robot gets too close to a marker or a target. 	Optimising robot movements by turning the shorter (as opposed to fixed left turning, for example) 	and allow reverse driving would prevent this. This also reduce the driving time.</a:t>
            </a:r>
          </a:p>
          <a:p>
            <a:endParaRPr lang="en-AU" dirty="0"/>
          </a:p>
          <a:p>
            <a:r>
              <a:rPr lang="en-AU" dirty="0">
                <a:solidFill>
                  <a:srgbClr val="FFC000"/>
                </a:solidFill>
              </a:rPr>
              <a:t>- Clean up your submission</a:t>
            </a:r>
          </a:p>
          <a:p>
            <a:endParaRPr lang="en-AU" dirty="0"/>
          </a:p>
          <a:p>
            <a:r>
              <a:rPr lang="en-AU" dirty="0"/>
              <a:t>	A clean submission prevent the risk of using the wrong files for your final demo, so make sure it only 	contains the files you need.</a:t>
            </a:r>
          </a:p>
          <a:p>
            <a:endParaRPr lang="en-AU" dirty="0"/>
          </a:p>
        </p:txBody>
      </p:sp>
    </p:spTree>
    <p:extLst>
      <p:ext uri="{BB962C8B-B14F-4D97-AF65-F5344CB8AC3E}">
        <p14:creationId xmlns:p14="http://schemas.microsoft.com/office/powerpoint/2010/main" val="422125297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TextBox 49">
            <a:extLst>
              <a:ext uri="{FF2B5EF4-FFF2-40B4-BE49-F238E27FC236}">
                <a16:creationId xmlns:a16="http://schemas.microsoft.com/office/drawing/2014/main" id="{BF948A99-782B-4139-A61F-6C2663DAEB76}"/>
              </a:ext>
            </a:extLst>
          </p:cNvPr>
          <p:cNvSpPr txBox="1"/>
          <p:nvPr/>
        </p:nvSpPr>
        <p:spPr>
          <a:xfrm>
            <a:off x="478180" y="172557"/>
            <a:ext cx="11713820" cy="830997"/>
          </a:xfrm>
          <a:prstGeom prst="rect">
            <a:avLst/>
          </a:prstGeom>
          <a:noFill/>
        </p:spPr>
        <p:txBody>
          <a:bodyPr wrap="square" rtlCol="0">
            <a:spAutoFit/>
          </a:bodyPr>
          <a:lstStyle/>
          <a:p>
            <a:pPr algn="ctr"/>
            <a:r>
              <a:rPr lang="en-AU" sz="4800" dirty="0"/>
              <a:t>Additional recommendations</a:t>
            </a:r>
          </a:p>
        </p:txBody>
      </p:sp>
      <p:sp>
        <p:nvSpPr>
          <p:cNvPr id="51" name="TextBox 50">
            <a:extLst>
              <a:ext uri="{FF2B5EF4-FFF2-40B4-BE49-F238E27FC236}">
                <a16:creationId xmlns:a16="http://schemas.microsoft.com/office/drawing/2014/main" id="{23C81F35-1469-4804-9BCB-5A04321DD9C5}"/>
              </a:ext>
            </a:extLst>
          </p:cNvPr>
          <p:cNvSpPr txBox="1"/>
          <p:nvPr/>
        </p:nvSpPr>
        <p:spPr>
          <a:xfrm>
            <a:off x="666931" y="1003554"/>
            <a:ext cx="11336318" cy="4524315"/>
          </a:xfrm>
          <a:prstGeom prst="rect">
            <a:avLst/>
          </a:prstGeom>
          <a:noFill/>
        </p:spPr>
        <p:txBody>
          <a:bodyPr wrap="square" rtlCol="0">
            <a:spAutoFit/>
          </a:bodyPr>
          <a:lstStyle/>
          <a:p>
            <a:r>
              <a:rPr lang="en-AU" dirty="0">
                <a:solidFill>
                  <a:srgbClr val="FFC000"/>
                </a:solidFill>
              </a:rPr>
              <a:t>- Optimise sample-based path planner</a:t>
            </a:r>
          </a:p>
          <a:p>
            <a:endParaRPr lang="en-AU" dirty="0"/>
          </a:p>
          <a:p>
            <a:r>
              <a:rPr lang="en-AU" dirty="0"/>
              <a:t>	Sample-based path planners like RRT does not produce the optimal path most of the time, but they 	run very fast. To further optimise this, you can generate multiple potential paths and select the best 	one based on certain criteria. For example:</a:t>
            </a:r>
          </a:p>
          <a:p>
            <a:r>
              <a:rPr lang="en-AU" dirty="0"/>
              <a:t>		- Number of waypoints</a:t>
            </a:r>
          </a:p>
          <a:p>
            <a:r>
              <a:rPr lang="en-AU" dirty="0"/>
              <a:t>		- Total distance travelled</a:t>
            </a:r>
          </a:p>
          <a:p>
            <a:r>
              <a:rPr lang="en-AU" dirty="0"/>
              <a:t>		- Average distance between the waypoints and the obstacles</a:t>
            </a:r>
            <a:endParaRPr lang="en-AU" dirty="0">
              <a:solidFill>
                <a:srgbClr val="FFC000"/>
              </a:solidFill>
            </a:endParaRPr>
          </a:p>
          <a:p>
            <a:endParaRPr lang="en-AU" dirty="0">
              <a:solidFill>
                <a:srgbClr val="FFC000"/>
              </a:solidFill>
            </a:endParaRPr>
          </a:p>
          <a:p>
            <a:r>
              <a:rPr lang="en-AU" dirty="0">
                <a:solidFill>
                  <a:srgbClr val="FFC000"/>
                </a:solidFill>
              </a:rPr>
              <a:t>- Collision detection</a:t>
            </a:r>
          </a:p>
          <a:p>
            <a:r>
              <a:rPr lang="en-AU" dirty="0"/>
              <a:t>	</a:t>
            </a:r>
          </a:p>
          <a:p>
            <a:r>
              <a:rPr lang="en-AU" dirty="0"/>
              <a:t>	Your robot can use its camera to work out the distance towards a marker (using aruco_detector.py) 	for a </a:t>
            </a:r>
            <a:r>
              <a:rPr lang="en-AU" dirty="0" err="1"/>
              <a:t>fruit&amp;veg</a:t>
            </a:r>
            <a:r>
              <a:rPr lang="en-AU" dirty="0"/>
              <a:t> (using detector.py). If the distance is too close, you will want to stop a robot and find 	a detour / back off.</a:t>
            </a:r>
          </a:p>
          <a:p>
            <a:endParaRPr lang="en-AU" dirty="0">
              <a:solidFill>
                <a:srgbClr val="FFC000"/>
              </a:solidFill>
            </a:endParaRPr>
          </a:p>
          <a:p>
            <a:endParaRPr lang="en-AU" dirty="0"/>
          </a:p>
        </p:txBody>
      </p:sp>
    </p:spTree>
    <p:extLst>
      <p:ext uri="{BB962C8B-B14F-4D97-AF65-F5344CB8AC3E}">
        <p14:creationId xmlns:p14="http://schemas.microsoft.com/office/powerpoint/2010/main" val="277333702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TextBox 49">
            <a:extLst>
              <a:ext uri="{FF2B5EF4-FFF2-40B4-BE49-F238E27FC236}">
                <a16:creationId xmlns:a16="http://schemas.microsoft.com/office/drawing/2014/main" id="{BF948A99-782B-4139-A61F-6C2663DAEB76}"/>
              </a:ext>
            </a:extLst>
          </p:cNvPr>
          <p:cNvSpPr txBox="1"/>
          <p:nvPr/>
        </p:nvSpPr>
        <p:spPr>
          <a:xfrm>
            <a:off x="478180" y="172557"/>
            <a:ext cx="11713820" cy="830997"/>
          </a:xfrm>
          <a:prstGeom prst="rect">
            <a:avLst/>
          </a:prstGeom>
          <a:noFill/>
        </p:spPr>
        <p:txBody>
          <a:bodyPr wrap="square" rtlCol="0">
            <a:spAutoFit/>
          </a:bodyPr>
          <a:lstStyle/>
          <a:p>
            <a:pPr algn="ctr"/>
            <a:r>
              <a:rPr lang="en-AU" sz="4800" dirty="0"/>
              <a:t>Additional recommendations</a:t>
            </a:r>
          </a:p>
        </p:txBody>
      </p:sp>
      <p:sp>
        <p:nvSpPr>
          <p:cNvPr id="51" name="TextBox 50">
            <a:extLst>
              <a:ext uri="{FF2B5EF4-FFF2-40B4-BE49-F238E27FC236}">
                <a16:creationId xmlns:a16="http://schemas.microsoft.com/office/drawing/2014/main" id="{23C81F35-1469-4804-9BCB-5A04321DD9C5}"/>
              </a:ext>
            </a:extLst>
          </p:cNvPr>
          <p:cNvSpPr txBox="1"/>
          <p:nvPr/>
        </p:nvSpPr>
        <p:spPr>
          <a:xfrm>
            <a:off x="666931" y="1003554"/>
            <a:ext cx="11336318" cy="5632311"/>
          </a:xfrm>
          <a:prstGeom prst="rect">
            <a:avLst/>
          </a:prstGeom>
          <a:noFill/>
        </p:spPr>
        <p:txBody>
          <a:bodyPr wrap="square" rtlCol="0">
            <a:spAutoFit/>
          </a:bodyPr>
          <a:lstStyle/>
          <a:p>
            <a:r>
              <a:rPr lang="en-AU" dirty="0">
                <a:solidFill>
                  <a:srgbClr val="FFC000"/>
                </a:solidFill>
              </a:rPr>
              <a:t>- Everything is variable</a:t>
            </a:r>
          </a:p>
          <a:p>
            <a:endParaRPr lang="en-AU" dirty="0">
              <a:solidFill>
                <a:srgbClr val="FFC000"/>
              </a:solidFill>
            </a:endParaRPr>
          </a:p>
          <a:p>
            <a:r>
              <a:rPr lang="en-AU" dirty="0"/>
              <a:t>	As changing the submitted code is not allowed, it’s best not to hardcode your important variables and 	make them dynamic arguments than can be changed by the command line. Some important 	variables:</a:t>
            </a:r>
          </a:p>
          <a:p>
            <a:r>
              <a:rPr lang="en-AU" dirty="0"/>
              <a:t>		- Obstacle radius</a:t>
            </a:r>
          </a:p>
          <a:p>
            <a:r>
              <a:rPr lang="en-AU" dirty="0"/>
              <a:t>		- Distance to the target (to consider collection)</a:t>
            </a:r>
          </a:p>
          <a:p>
            <a:r>
              <a:rPr lang="en-AU" dirty="0"/>
              <a:t>		- Input files name</a:t>
            </a:r>
          </a:p>
          <a:p>
            <a:r>
              <a:rPr lang="en-AU" dirty="0"/>
              <a:t>		- etc.</a:t>
            </a:r>
          </a:p>
          <a:p>
            <a:r>
              <a:rPr lang="en-AU" dirty="0"/>
              <a:t>	Alternative, some of these can even dynamically change while the script is running. For example, if 	your path planner is stuck, you might want to reduce the obstacle radius automatically.</a:t>
            </a:r>
          </a:p>
          <a:p>
            <a:endParaRPr lang="en-AU" dirty="0">
              <a:solidFill>
                <a:srgbClr val="FFC000"/>
              </a:solidFill>
            </a:endParaRPr>
          </a:p>
          <a:p>
            <a:r>
              <a:rPr lang="en-AU" dirty="0">
                <a:solidFill>
                  <a:srgbClr val="FFC000"/>
                </a:solidFill>
              </a:rPr>
              <a:t>- Get out of obstacles</a:t>
            </a:r>
          </a:p>
          <a:p>
            <a:endParaRPr lang="en-AU" dirty="0">
              <a:solidFill>
                <a:srgbClr val="FFC000"/>
              </a:solidFill>
            </a:endParaRPr>
          </a:p>
          <a:p>
            <a:pPr lvl="1"/>
            <a:r>
              <a:rPr lang="en-AU" dirty="0"/>
              <a:t>Sometimes you will find your robot stuck inside an obstacle and all the proposed paths are failed due to collision. Follows are some suggestions:</a:t>
            </a:r>
          </a:p>
          <a:p>
            <a:pPr lvl="1"/>
            <a:r>
              <a:rPr lang="en-AU" dirty="0"/>
              <a:t>	- Reduce the obstacle radius automatically</a:t>
            </a:r>
          </a:p>
          <a:p>
            <a:pPr lvl="1"/>
            <a:r>
              <a:rPr lang="en-AU" dirty="0"/>
              <a:t>	- Trace back to your previous waypoints or origin</a:t>
            </a:r>
          </a:p>
          <a:p>
            <a:pPr lvl="1"/>
            <a:r>
              <a:rPr lang="en-AU" dirty="0"/>
              <a:t>	- Go to a random non-occupied point   </a:t>
            </a:r>
          </a:p>
          <a:p>
            <a:endParaRPr lang="en-AU" dirty="0"/>
          </a:p>
        </p:txBody>
      </p:sp>
    </p:spTree>
    <p:extLst>
      <p:ext uri="{BB962C8B-B14F-4D97-AF65-F5344CB8AC3E}">
        <p14:creationId xmlns:p14="http://schemas.microsoft.com/office/powerpoint/2010/main" val="374783052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TextBox 49">
            <a:extLst>
              <a:ext uri="{FF2B5EF4-FFF2-40B4-BE49-F238E27FC236}">
                <a16:creationId xmlns:a16="http://schemas.microsoft.com/office/drawing/2014/main" id="{BF948A99-782B-4139-A61F-6C2663DAEB76}"/>
              </a:ext>
            </a:extLst>
          </p:cNvPr>
          <p:cNvSpPr txBox="1"/>
          <p:nvPr/>
        </p:nvSpPr>
        <p:spPr>
          <a:xfrm>
            <a:off x="478180" y="7379"/>
            <a:ext cx="11713820" cy="830997"/>
          </a:xfrm>
          <a:prstGeom prst="rect">
            <a:avLst/>
          </a:prstGeom>
          <a:noFill/>
        </p:spPr>
        <p:txBody>
          <a:bodyPr wrap="square" rtlCol="0">
            <a:spAutoFit/>
          </a:bodyPr>
          <a:lstStyle/>
          <a:p>
            <a:pPr algn="ctr"/>
            <a:r>
              <a:rPr lang="en-AU" sz="4800" dirty="0"/>
              <a:t>Final Demo: Mapping</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777CEF6B-BB09-4C7B-EDC5-D0D9FC6E13C5}"/>
                  </a:ext>
                </a:extLst>
              </p:cNvPr>
              <p:cNvSpPr txBox="1"/>
              <p:nvPr/>
            </p:nvSpPr>
            <p:spPr>
              <a:xfrm>
                <a:off x="478180" y="838376"/>
                <a:ext cx="11588314" cy="7365093"/>
              </a:xfrm>
              <a:prstGeom prst="rect">
                <a:avLst/>
              </a:prstGeom>
              <a:noFill/>
            </p:spPr>
            <p:txBody>
              <a:bodyPr wrap="square" rtlCol="0">
                <a:spAutoFit/>
              </a:bodyPr>
              <a:lstStyle/>
              <a:p>
                <a:endParaRPr lang="en-US" sz="1600" dirty="0"/>
              </a:p>
              <a:p>
                <a:r>
                  <a:rPr lang="en-US" sz="1600" dirty="0"/>
                  <a:t>Mapping (30 points):</a:t>
                </a:r>
              </a:p>
              <a:p>
                <a:r>
                  <a:rPr lang="en-US" sz="1600" dirty="0"/>
                  <a:t>	</a:t>
                </a:r>
                <a:r>
                  <a:rPr lang="en-US" sz="1600" dirty="0" err="1"/>
                  <a:t>ArUco</a:t>
                </a:r>
                <a:r>
                  <a:rPr lang="en-US" sz="1600" dirty="0"/>
                  <a:t> slam map (0 ≤ </a:t>
                </a:r>
                <a:r>
                  <a:rPr lang="en-US" sz="1600" dirty="0" err="1"/>
                  <a:t>slam_score</a:t>
                </a:r>
                <a:r>
                  <a:rPr lang="en-US" sz="1600" dirty="0"/>
                  <a:t> ≤ 15pt): </a:t>
                </a:r>
              </a:p>
              <a:p>
                <a:endParaRPr lang="en-US" sz="1600" dirty="0"/>
              </a:p>
              <a:p>
                <a:endParaRPr lang="en-US" sz="1600" dirty="0"/>
              </a:p>
              <a:p>
                <a:r>
                  <a:rPr lang="en-US" sz="1600" dirty="0"/>
                  <a:t>	</a:t>
                </a:r>
              </a:p>
              <a:p>
                <a:r>
                  <a:rPr lang="en-US" sz="1600" dirty="0"/>
                  <a:t>Target map (0 ≤ </a:t>
                </a:r>
                <a:r>
                  <a:rPr lang="en-US" sz="1600" dirty="0" err="1"/>
                  <a:t>target_est_score</a:t>
                </a:r>
                <a:r>
                  <a:rPr lang="en-US" sz="1600" dirty="0"/>
                  <a:t> ≤ 15pt):</a:t>
                </a:r>
              </a:p>
              <a:p>
                <a:pPr algn="ctr"/>
                <a:r>
                  <a:rPr lang="en-US" sz="1600" dirty="0"/>
                  <a:t>	</a:t>
                </a:r>
                <a:r>
                  <a:rPr lang="en-GB" sz="1600" dirty="0">
                    <a:solidFill>
                      <a:srgbClr val="FFFF00"/>
                    </a:solidFill>
                  </a:rPr>
                  <a:t> </a:t>
                </a:r>
                <a:r>
                  <a:rPr lang="en-GB" sz="1600" dirty="0">
                    <a:solidFill>
                      <a:schemeClr val="tx1"/>
                    </a:solidFill>
                  </a:rPr>
                  <a:t>target_accuracy_rating[object] = </a:t>
                </a:r>
                <a14:m>
                  <m:oMath xmlns:m="http://schemas.openxmlformats.org/officeDocument/2006/math">
                    <m:f>
                      <m:fPr>
                        <m:ctrlPr>
                          <a:rPr lang="en-GB" sz="1600" i="1" dirty="0" smtClean="0">
                            <a:solidFill>
                              <a:schemeClr val="tx1"/>
                            </a:solidFill>
                            <a:latin typeface="Cambria Math" panose="02040503050406030204" pitchFamily="18" charset="0"/>
                          </a:rPr>
                        </m:ctrlPr>
                      </m:fPr>
                      <m:num>
                        <m:r>
                          <a:rPr lang="en-GB" sz="1600" i="1" dirty="0" smtClean="0">
                            <a:solidFill>
                              <a:schemeClr val="tx1"/>
                            </a:solidFill>
                            <a:latin typeface="Cambria Math" panose="02040503050406030204" pitchFamily="18" charset="0"/>
                          </a:rPr>
                          <m:t>0.5 − </m:t>
                        </m:r>
                        <m:r>
                          <a:rPr lang="en-GB" sz="1600" i="1" dirty="0" err="1">
                            <a:solidFill>
                              <a:schemeClr val="tx1"/>
                            </a:solidFill>
                            <a:latin typeface="Cambria Math" panose="02040503050406030204" pitchFamily="18" charset="0"/>
                          </a:rPr>
                          <m:t>𝑒𝑠𝑡𝑖𝑚𝑎𝑡𝑖𝑜𝑛</m:t>
                        </m:r>
                        <m:r>
                          <a:rPr lang="en-AU" sz="1600" b="0" i="1" dirty="0" smtClean="0">
                            <a:solidFill>
                              <a:schemeClr val="tx1"/>
                            </a:solidFill>
                            <a:latin typeface="Cambria Math" panose="02040503050406030204" pitchFamily="18" charset="0"/>
                          </a:rPr>
                          <m:t>_</m:t>
                        </m:r>
                        <m:r>
                          <a:rPr lang="en-GB" sz="1600" i="1" dirty="0" err="1">
                            <a:solidFill>
                              <a:schemeClr val="tx1"/>
                            </a:solidFill>
                            <a:latin typeface="Cambria Math" panose="02040503050406030204" pitchFamily="18" charset="0"/>
                          </a:rPr>
                          <m:t>𝑒𝑟𝑟𝑜𝑟</m:t>
                        </m:r>
                        <m:d>
                          <m:dPr>
                            <m:begChr m:val="["/>
                            <m:endChr m:val="]"/>
                            <m:ctrlPr>
                              <a:rPr lang="en-GB" sz="1600" i="1" dirty="0">
                                <a:solidFill>
                                  <a:schemeClr val="tx1"/>
                                </a:solidFill>
                                <a:latin typeface="Cambria Math" panose="02040503050406030204" pitchFamily="18" charset="0"/>
                              </a:rPr>
                            </m:ctrlPr>
                          </m:dPr>
                          <m:e>
                            <m:r>
                              <a:rPr lang="en-GB" sz="1600" i="1" dirty="0">
                                <a:solidFill>
                                  <a:schemeClr val="tx1"/>
                                </a:solidFill>
                                <a:latin typeface="Cambria Math" panose="02040503050406030204" pitchFamily="18" charset="0"/>
                              </a:rPr>
                              <m:t>𝑜𝑏𝑗𝑒𝑐𝑡</m:t>
                            </m:r>
                          </m:e>
                        </m:d>
                      </m:num>
                      <m:den>
                        <m:r>
                          <a:rPr lang="en-GB" sz="1600" i="1" dirty="0">
                            <a:solidFill>
                              <a:schemeClr val="tx1"/>
                            </a:solidFill>
                            <a:latin typeface="Cambria Math" panose="02040503050406030204" pitchFamily="18" charset="0"/>
                          </a:rPr>
                          <m:t>0.5−0.025</m:t>
                        </m:r>
                      </m:den>
                    </m:f>
                    <m:r>
                      <a:rPr lang="en-GB" sz="1600" i="1" dirty="0" smtClean="0">
                        <a:solidFill>
                          <a:schemeClr val="tx1"/>
                        </a:solidFill>
                        <a:latin typeface="Cambria Math" panose="02040503050406030204" pitchFamily="18" charset="0"/>
                      </a:rPr>
                      <m:t> </m:t>
                    </m:r>
                  </m:oMath>
                </a14:m>
                <a:r>
                  <a:rPr lang="en-GB" sz="1600" dirty="0">
                    <a:solidFill>
                      <a:schemeClr val="tx1"/>
                    </a:solidFill>
                  </a:rPr>
                  <a:t>= TAR</a:t>
                </a:r>
                <a:r>
                  <a:rPr lang="en-GB" sz="1600" dirty="0">
                    <a:solidFill>
                      <a:srgbClr val="FFFF00"/>
                    </a:solidFill>
                  </a:rPr>
                  <a:t>	</a:t>
                </a:r>
              </a:p>
              <a:p>
                <a:pPr algn="ctr"/>
                <a:r>
                  <a:rPr lang="en-GB" sz="1600" dirty="0" err="1">
                    <a:solidFill>
                      <a:schemeClr val="tx1"/>
                    </a:solidFill>
                  </a:rPr>
                  <a:t>target_est_score</a:t>
                </a:r>
                <a:r>
                  <a:rPr lang="en-GB" sz="1600" dirty="0">
                    <a:solidFill>
                      <a:schemeClr val="tx1"/>
                    </a:solidFill>
                  </a:rPr>
                  <a:t> = </a:t>
                </a:r>
                <a14:m>
                  <m:oMath xmlns:m="http://schemas.openxmlformats.org/officeDocument/2006/math">
                    <m:f>
                      <m:fPr>
                        <m:ctrlPr>
                          <a:rPr lang="en-GB" sz="1600" i="1" dirty="0">
                            <a:solidFill>
                              <a:schemeClr val="tx1"/>
                            </a:solidFill>
                            <a:latin typeface="Cambria Math" panose="02040503050406030204" pitchFamily="18" charset="0"/>
                          </a:rPr>
                        </m:ctrlPr>
                      </m:fPr>
                      <m:num>
                        <m:r>
                          <a:rPr lang="en-GB" sz="1600" i="1" dirty="0" err="1">
                            <a:solidFill>
                              <a:schemeClr val="tx1"/>
                            </a:solidFill>
                            <a:latin typeface="Cambria Math" panose="02040503050406030204" pitchFamily="18" charset="0"/>
                          </a:rPr>
                          <m:t>𝑏𝑎𝑠</m:t>
                        </m:r>
                        <m:sSup>
                          <m:sSupPr>
                            <m:ctrlPr>
                              <a:rPr lang="en-GB" sz="1600" i="1" dirty="0" err="1">
                                <a:solidFill>
                                  <a:schemeClr val="tx1"/>
                                </a:solidFill>
                                <a:latin typeface="Cambria Math" panose="02040503050406030204" pitchFamily="18" charset="0"/>
                              </a:rPr>
                            </m:ctrlPr>
                          </m:sSupPr>
                          <m:e>
                            <m:r>
                              <a:rPr lang="en-GB" sz="1600" i="1" dirty="0" err="1">
                                <a:solidFill>
                                  <a:schemeClr val="tx1"/>
                                </a:solidFill>
                                <a:latin typeface="Cambria Math" panose="02040503050406030204" pitchFamily="18" charset="0"/>
                              </a:rPr>
                              <m:t>𝑒</m:t>
                            </m:r>
                          </m:e>
                          <m:sup>
                            <m:r>
                              <a:rPr lang="en-GB" sz="1600" i="1" dirty="0" err="1">
                                <a:solidFill>
                                  <a:schemeClr val="tx1"/>
                                </a:solidFill>
                                <a:latin typeface="Cambria Math" panose="02040503050406030204" pitchFamily="18" charset="0"/>
                              </a:rPr>
                              <m:t>𝑚𝑒𝑎𝑛</m:t>
                            </m:r>
                            <m:d>
                              <m:dPr>
                                <m:ctrlPr>
                                  <a:rPr lang="en-GB" sz="1600" i="1" dirty="0">
                                    <a:solidFill>
                                      <a:schemeClr val="tx1"/>
                                    </a:solidFill>
                                    <a:latin typeface="Cambria Math" panose="02040503050406030204" pitchFamily="18" charset="0"/>
                                  </a:rPr>
                                </m:ctrlPr>
                              </m:dPr>
                              <m:e>
                                <m:r>
                                  <a:rPr lang="en-GB" sz="1600" i="1" dirty="0">
                                    <a:solidFill>
                                      <a:schemeClr val="tx1"/>
                                    </a:solidFill>
                                    <a:latin typeface="Cambria Math" panose="02040503050406030204" pitchFamily="18" charset="0"/>
                                  </a:rPr>
                                  <m:t>𝑇𝐴𝑅</m:t>
                                </m:r>
                              </m:e>
                            </m:d>
                          </m:sup>
                        </m:sSup>
                        <m:r>
                          <a:rPr lang="en-GB" sz="1600" i="1" dirty="0">
                            <a:solidFill>
                              <a:schemeClr val="tx1"/>
                            </a:solidFill>
                            <a:latin typeface="Cambria Math" panose="02040503050406030204" pitchFamily="18" charset="0"/>
                          </a:rPr>
                          <m:t>– 1</m:t>
                        </m:r>
                      </m:num>
                      <m:den>
                        <m:r>
                          <a:rPr lang="en-GB" sz="1600" i="1" dirty="0">
                            <a:solidFill>
                              <a:schemeClr val="tx1"/>
                            </a:solidFill>
                            <a:latin typeface="Cambria Math" panose="02040503050406030204" pitchFamily="18" charset="0"/>
                          </a:rPr>
                          <m:t>𝑏𝑎𝑠𝑒</m:t>
                        </m:r>
                        <m:r>
                          <a:rPr lang="en-GB" sz="1600" i="1" dirty="0">
                            <a:solidFill>
                              <a:schemeClr val="tx1"/>
                            </a:solidFill>
                            <a:latin typeface="Cambria Math" panose="02040503050406030204" pitchFamily="18" charset="0"/>
                          </a:rPr>
                          <m:t> – 1</m:t>
                        </m:r>
                      </m:den>
                    </m:f>
                    <m:r>
                      <a:rPr lang="en-GB" sz="1600" i="1" dirty="0">
                        <a:solidFill>
                          <a:schemeClr val="tx1"/>
                        </a:solidFill>
                        <a:latin typeface="Cambria Math" panose="02040503050406030204" pitchFamily="18" charset="0"/>
                      </a:rPr>
                      <m:t> ∗</m:t>
                    </m:r>
                    <m:r>
                      <a:rPr lang="en-AU" sz="1600" b="0" i="1" dirty="0" smtClean="0">
                        <a:solidFill>
                          <a:schemeClr val="tx1"/>
                        </a:solidFill>
                        <a:latin typeface="Cambria Math" panose="02040503050406030204" pitchFamily="18" charset="0"/>
                      </a:rPr>
                      <m:t>15</m:t>
                    </m:r>
                  </m:oMath>
                </a14:m>
                <a:r>
                  <a:rPr lang="en-GB" sz="1600" dirty="0">
                    <a:solidFill>
                      <a:schemeClr val="tx1"/>
                    </a:solidFill>
                  </a:rPr>
                  <a:t>, base = 8</a:t>
                </a:r>
              </a:p>
              <a:p>
                <a:pPr algn="ctr"/>
                <a:endParaRPr lang="en-GB" sz="1600" dirty="0">
                  <a:solidFill>
                    <a:schemeClr val="tx1"/>
                  </a:solidFill>
                </a:endParaRPr>
              </a:p>
              <a:p>
                <a:r>
                  <a:rPr lang="en-GB" sz="1600" dirty="0">
                    <a:solidFill>
                      <a:schemeClr val="tx1"/>
                    </a:solidFill>
                  </a:rPr>
                  <a:t>Example submission folder structure format (Please read the marking instructions </a:t>
                </a:r>
                <a:r>
                  <a:rPr lang="en-GB" sz="1600">
                    <a:solidFill>
                      <a:schemeClr val="tx1"/>
                    </a:solidFill>
                  </a:rPr>
                  <a:t>carefully for this!):</a:t>
                </a:r>
                <a:endParaRPr lang="en-GB" sz="1600" dirty="0">
                  <a:solidFill>
                    <a:schemeClr val="tx1"/>
                  </a:solidFill>
                </a:endParaRPr>
              </a:p>
              <a:p>
                <a:r>
                  <a:rPr lang="en-AU" dirty="0"/>
                  <a:t>.</a:t>
                </a:r>
              </a:p>
              <a:p>
                <a:r>
                  <a:rPr lang="en-AU" dirty="0"/>
                  <a:t>├── C2_Team_X0</a:t>
                </a:r>
              </a:p>
              <a:p>
                <a:r>
                  <a:rPr lang="en-AU" dirty="0"/>
                  <a:t>│   ├── slam_auto_4.txt</a:t>
                </a:r>
              </a:p>
              <a:p>
                <a:r>
                  <a:rPr lang="en-AU" dirty="0"/>
                  <a:t>│   ├── slam_manual_1.txt</a:t>
                </a:r>
              </a:p>
              <a:p>
                <a:r>
                  <a:rPr lang="en-AU" dirty="0"/>
                  <a:t>│   ├── slam_manual_2.txt</a:t>
                </a:r>
              </a:p>
              <a:p>
                <a:r>
                  <a:rPr lang="en-AU" dirty="0"/>
                  <a:t>│   ├── targets_auto_4.txt</a:t>
                </a:r>
              </a:p>
              <a:p>
                <a:r>
                  <a:rPr lang="en-AU" dirty="0"/>
                  <a:t>│   ├── targets_manual_1.txt </a:t>
                </a:r>
              </a:p>
              <a:p>
                <a:r>
                  <a:rPr lang="en-AU" dirty="0"/>
                  <a:t>│   ├── targets_manual_2.txt </a:t>
                </a:r>
              </a:p>
              <a:p>
                <a:endParaRPr lang="en-GB" sz="1400" dirty="0"/>
              </a:p>
              <a:p>
                <a:br>
                  <a:rPr lang="en-GB" dirty="0"/>
                </a:br>
                <a:endParaRPr lang="en-GB" dirty="0"/>
              </a:p>
              <a:p>
                <a:pPr algn="ctr"/>
                <a:endParaRPr lang="en-GB" sz="1600" dirty="0">
                  <a:solidFill>
                    <a:schemeClr val="tx1"/>
                  </a:solidFill>
                </a:endParaRPr>
              </a:p>
              <a:p>
                <a:pPr algn="ctr"/>
                <a:endParaRPr lang="en-US" sz="1600" dirty="0">
                  <a:solidFill>
                    <a:schemeClr val="tx1"/>
                  </a:solidFill>
                </a:endParaRPr>
              </a:p>
              <a:p>
                <a:endParaRPr lang="en-US" sz="1600" dirty="0"/>
              </a:p>
            </p:txBody>
          </p:sp>
        </mc:Choice>
        <mc:Fallback xmlns="">
          <p:sp>
            <p:nvSpPr>
              <p:cNvPr id="5" name="TextBox 4">
                <a:extLst>
                  <a:ext uri="{FF2B5EF4-FFF2-40B4-BE49-F238E27FC236}">
                    <a16:creationId xmlns:a16="http://schemas.microsoft.com/office/drawing/2014/main" id="{777CEF6B-BB09-4C7B-EDC5-D0D9FC6E13C5}"/>
                  </a:ext>
                </a:extLst>
              </p:cNvPr>
              <p:cNvSpPr txBox="1">
                <a:spLocks noRot="1" noChangeAspect="1" noMove="1" noResize="1" noEditPoints="1" noAdjustHandles="1" noChangeArrowheads="1" noChangeShapeType="1" noTextEdit="1"/>
              </p:cNvSpPr>
              <p:nvPr/>
            </p:nvSpPr>
            <p:spPr>
              <a:xfrm>
                <a:off x="478180" y="838376"/>
                <a:ext cx="11588314" cy="7365093"/>
              </a:xfrm>
              <a:prstGeom prst="rect">
                <a:avLst/>
              </a:prstGeom>
              <a:blipFill>
                <a:blip r:embed="rId2"/>
                <a:stretch>
                  <a:fillRect l="-421"/>
                </a:stretch>
              </a:blipFill>
            </p:spPr>
            <p:txBody>
              <a:bodyPr/>
              <a:lstStyle/>
              <a:p>
                <a:r>
                  <a:rPr lang="en-AU">
                    <a:noFill/>
                  </a:rPr>
                  <a:t> </a:t>
                </a:r>
              </a:p>
            </p:txBody>
          </p:sp>
        </mc:Fallback>
      </mc:AlternateContent>
    </p:spTree>
    <p:extLst>
      <p:ext uri="{BB962C8B-B14F-4D97-AF65-F5344CB8AC3E}">
        <p14:creationId xmlns:p14="http://schemas.microsoft.com/office/powerpoint/2010/main" val="99617215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43B4D5-75D1-5E9D-D7AA-EC20CE52AB27}"/>
            </a:ext>
          </a:extLst>
        </p:cNvPr>
        <p:cNvGrpSpPr/>
        <p:nvPr/>
      </p:nvGrpSpPr>
      <p:grpSpPr>
        <a:xfrm>
          <a:off x="0" y="0"/>
          <a:ext cx="0" cy="0"/>
          <a:chOff x="0" y="0"/>
          <a:chExt cx="0" cy="0"/>
        </a:xfrm>
      </p:grpSpPr>
      <p:sp>
        <p:nvSpPr>
          <p:cNvPr id="50" name="TextBox 49">
            <a:extLst>
              <a:ext uri="{FF2B5EF4-FFF2-40B4-BE49-F238E27FC236}">
                <a16:creationId xmlns:a16="http://schemas.microsoft.com/office/drawing/2014/main" id="{AF9AD15C-3374-C999-432E-189131AF1255}"/>
              </a:ext>
            </a:extLst>
          </p:cNvPr>
          <p:cNvSpPr txBox="1"/>
          <p:nvPr/>
        </p:nvSpPr>
        <p:spPr>
          <a:xfrm>
            <a:off x="478180" y="7379"/>
            <a:ext cx="11713820" cy="830997"/>
          </a:xfrm>
          <a:prstGeom prst="rect">
            <a:avLst/>
          </a:prstGeom>
          <a:noFill/>
        </p:spPr>
        <p:txBody>
          <a:bodyPr wrap="square" rtlCol="0">
            <a:spAutoFit/>
          </a:bodyPr>
          <a:lstStyle/>
          <a:p>
            <a:pPr algn="ctr"/>
            <a:r>
              <a:rPr lang="en-AU" sz="4800" dirty="0"/>
              <a:t>Final Demo: Navigation</a:t>
            </a:r>
          </a:p>
        </p:txBody>
      </p:sp>
      <p:sp>
        <p:nvSpPr>
          <p:cNvPr id="5" name="TextBox 4">
            <a:extLst>
              <a:ext uri="{FF2B5EF4-FFF2-40B4-BE49-F238E27FC236}">
                <a16:creationId xmlns:a16="http://schemas.microsoft.com/office/drawing/2014/main" id="{E4632F9E-F91D-E5AD-EB97-9AF00468704C}"/>
              </a:ext>
            </a:extLst>
          </p:cNvPr>
          <p:cNvSpPr txBox="1"/>
          <p:nvPr/>
        </p:nvSpPr>
        <p:spPr>
          <a:xfrm>
            <a:off x="478180" y="723232"/>
            <a:ext cx="11588314" cy="5693866"/>
          </a:xfrm>
          <a:prstGeom prst="rect">
            <a:avLst/>
          </a:prstGeom>
          <a:noFill/>
        </p:spPr>
        <p:txBody>
          <a:bodyPr wrap="square" rtlCol="0">
            <a:spAutoFit/>
          </a:bodyPr>
          <a:lstStyle/>
          <a:p>
            <a:r>
              <a:rPr lang="en-US" sz="1600" dirty="0"/>
              <a:t>Full auto navigation (max 70 points)</a:t>
            </a:r>
            <a:r>
              <a:rPr lang="en-AU" sz="1600" dirty="0"/>
              <a:t>:</a:t>
            </a:r>
            <a:endParaRPr lang="en-GB" dirty="0"/>
          </a:p>
          <a:p>
            <a:pPr marL="285750" indent="-285750">
              <a:buFont typeface="Arial" panose="020B0604020202020204" pitchFamily="34" charset="0"/>
              <a:buChar char="•"/>
            </a:pPr>
            <a:r>
              <a:rPr lang="en-GB" dirty="0"/>
              <a:t>Level 1  </a:t>
            </a:r>
          </a:p>
          <a:p>
            <a:pPr marL="742950" lvl="1" indent="-285750">
              <a:buFont typeface="Arial" panose="020B0604020202020204" pitchFamily="34" charset="0"/>
              <a:buChar char="•"/>
            </a:pPr>
            <a:r>
              <a:rPr lang="en-GB" dirty="0"/>
              <a:t>15 marks awarded for a qualified run.  </a:t>
            </a:r>
          </a:p>
          <a:p>
            <a:pPr marL="742950" lvl="1" indent="-285750">
              <a:buFont typeface="Arial" panose="020B0604020202020204" pitchFamily="34" charset="0"/>
              <a:buChar char="•"/>
            </a:pPr>
            <a:r>
              <a:rPr lang="en-GB" dirty="0"/>
              <a:t>Each successful collection (within 0.3 m, in the correct shopping list order) is worth 5 marks.  </a:t>
            </a:r>
          </a:p>
          <a:p>
            <a:pPr marL="742950" lvl="1" indent="-285750">
              <a:buFont typeface="Arial" panose="020B0604020202020204" pitchFamily="34" charset="0"/>
              <a:buChar char="•"/>
            </a:pPr>
            <a:r>
              <a:rPr lang="en-GB" dirty="0"/>
              <a:t>Maximum contribution: 40% out of 70%.  </a:t>
            </a:r>
          </a:p>
          <a:p>
            <a:pPr marL="285750" indent="-285750">
              <a:buFont typeface="Arial" panose="020B0604020202020204" pitchFamily="34" charset="0"/>
              <a:buChar char="•"/>
            </a:pPr>
            <a:r>
              <a:rPr lang="en-GB" dirty="0"/>
              <a:t>Level 2  </a:t>
            </a:r>
          </a:p>
          <a:p>
            <a:pPr marL="742950" lvl="1" indent="-285750">
              <a:buFont typeface="Arial" panose="020B0604020202020204" pitchFamily="34" charset="0"/>
              <a:buChar char="•"/>
            </a:pPr>
            <a:r>
              <a:rPr lang="en-GB" dirty="0"/>
              <a:t>25 marks awarded for a qualified run.  </a:t>
            </a:r>
          </a:p>
          <a:p>
            <a:pPr marL="742950" lvl="1" indent="-285750">
              <a:buFont typeface="Arial" panose="020B0604020202020204" pitchFamily="34" charset="0"/>
              <a:buChar char="•"/>
            </a:pPr>
            <a:r>
              <a:rPr lang="en-GB" dirty="0"/>
              <a:t>Each successful collection (within 0.3 m, in the correct shopping list order) is worth 5 marks.  </a:t>
            </a:r>
          </a:p>
          <a:p>
            <a:pPr marL="742950" lvl="1" indent="-285750">
              <a:buFont typeface="Arial" panose="020B0604020202020204" pitchFamily="34" charset="0"/>
              <a:buChar char="•"/>
            </a:pPr>
            <a:r>
              <a:rPr lang="en-GB" dirty="0"/>
              <a:t>Maximum contribution: 50% out of 70%.  </a:t>
            </a:r>
          </a:p>
          <a:p>
            <a:pPr marL="285750" indent="-285750">
              <a:buFont typeface="Arial" panose="020B0604020202020204" pitchFamily="34" charset="0"/>
              <a:buChar char="•"/>
            </a:pPr>
            <a:r>
              <a:rPr lang="en-GB" dirty="0"/>
              <a:t>Level 3  </a:t>
            </a:r>
          </a:p>
          <a:p>
            <a:pPr marL="742950" lvl="1" indent="-285750">
              <a:buFont typeface="Arial" panose="020B0604020202020204" pitchFamily="34" charset="0"/>
              <a:buChar char="•"/>
            </a:pPr>
            <a:r>
              <a:rPr lang="en-GB" dirty="0"/>
              <a:t>30 marks awarded for a qualified run.  </a:t>
            </a:r>
          </a:p>
          <a:p>
            <a:pPr marL="742950" lvl="1" indent="-285750">
              <a:buFont typeface="Arial" panose="020B0604020202020204" pitchFamily="34" charset="0"/>
              <a:buChar char="•"/>
            </a:pPr>
            <a:r>
              <a:rPr lang="en-GB" dirty="0"/>
              <a:t>Each successful collection (within 0.3 m, in the correct shopping list order) is worth 8 marks.  </a:t>
            </a:r>
          </a:p>
          <a:p>
            <a:pPr marL="742950" lvl="1" indent="-285750">
              <a:buFont typeface="Arial" panose="020B0604020202020204" pitchFamily="34" charset="0"/>
              <a:buChar char="•"/>
            </a:pPr>
            <a:r>
              <a:rPr lang="en-GB" dirty="0"/>
              <a:t>Maximum contribution: 70% out of the 70% navigation mark (i.e. full 100%).  </a:t>
            </a:r>
            <a:endParaRPr lang="en-US" sz="1600" dirty="0"/>
          </a:p>
          <a:p>
            <a:r>
              <a:rPr lang="en-US" sz="1600" dirty="0"/>
              <a:t>	</a:t>
            </a:r>
          </a:p>
          <a:p>
            <a:r>
              <a:rPr lang="en-US" sz="1600" dirty="0"/>
              <a:t>Penalties (Max of 5 penalties total,):</a:t>
            </a:r>
          </a:p>
          <a:p>
            <a:r>
              <a:rPr lang="en-US" sz="1600" dirty="0"/>
              <a:t>	-5 points for any collision</a:t>
            </a:r>
          </a:p>
          <a:p>
            <a:endParaRPr lang="en-US" sz="1600" dirty="0"/>
          </a:p>
          <a:p>
            <a:r>
              <a:rPr lang="en-US" sz="1600" dirty="0"/>
              <a:t>Marks for reaching objects will always count, however you cannot stop a run manually until a run is qualified</a:t>
            </a:r>
          </a:p>
          <a:p>
            <a:endParaRPr lang="en-US" sz="1600" dirty="0"/>
          </a:p>
          <a:p>
            <a:r>
              <a:rPr lang="en-US" sz="1600" dirty="0"/>
              <a:t>More info see Week11/README.md</a:t>
            </a:r>
            <a:endParaRPr lang="en-US" dirty="0">
              <a:solidFill>
                <a:schemeClr val="tx1"/>
              </a:solidFill>
            </a:endParaRPr>
          </a:p>
          <a:p>
            <a:endParaRPr lang="en-US" sz="1600" dirty="0"/>
          </a:p>
        </p:txBody>
      </p:sp>
    </p:spTree>
    <p:extLst>
      <p:ext uri="{BB962C8B-B14F-4D97-AF65-F5344CB8AC3E}">
        <p14:creationId xmlns:p14="http://schemas.microsoft.com/office/powerpoint/2010/main" val="2200729387"/>
      </p:ext>
    </p:extLst>
  </p:cSld>
  <p:clrMapOvr>
    <a:masterClrMapping/>
  </p:clrMapOvr>
</p:sld>
</file>

<file path=ppt/theme/theme1.xml><?xml version="1.0" encoding="utf-8"?>
<a:theme xmlns:a="http://schemas.openxmlformats.org/drawingml/2006/main" name="View">
  <a:themeElements>
    <a:clrScheme name="View">
      <a:dk1>
        <a:srgbClr val="000000"/>
      </a:dk1>
      <a:lt1>
        <a:srgbClr val="FFFFFF"/>
      </a:lt1>
      <a:dk2>
        <a:srgbClr val="46464A"/>
      </a:dk2>
      <a:lt2>
        <a:srgbClr val="D6D3CC"/>
      </a:lt2>
      <a:accent1>
        <a:srgbClr val="6F6F74"/>
      </a:accent1>
      <a:accent2>
        <a:srgbClr val="92A9B9"/>
      </a:accent2>
      <a:accent3>
        <a:srgbClr val="A7B789"/>
      </a:accent3>
      <a:accent4>
        <a:srgbClr val="B9A489"/>
      </a:accent4>
      <a:accent5>
        <a:srgbClr val="8D6374"/>
      </a:accent5>
      <a:accent6>
        <a:srgbClr val="9B7362"/>
      </a:accent6>
      <a:hlink>
        <a:srgbClr val="67AABF"/>
      </a:hlink>
      <a:folHlink>
        <a:srgbClr val="ABAFA5"/>
      </a:folHlink>
    </a:clrScheme>
    <a:fontScheme name="View">
      <a:maj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View">
      <a:fillStyleLst>
        <a:solidFill>
          <a:schemeClr val="phClr"/>
        </a:solidFill>
        <a:solidFill>
          <a:schemeClr val="phClr">
            <a:tint val="60000"/>
            <a:satMod val="120000"/>
          </a:schemeClr>
        </a:solidFill>
        <a:solidFill>
          <a:schemeClr val="phClr">
            <a:shade val="75000"/>
            <a:satMod val="160000"/>
          </a:schemeClr>
        </a:solidFill>
      </a:fillStyleLst>
      <a:lnStyleLst>
        <a:ln w="9525" cap="flat" cmpd="sng" algn="ctr">
          <a:solidFill>
            <a:schemeClr val="phClr"/>
          </a:solidFill>
          <a:prstDash val="solid"/>
        </a:ln>
        <a:ln w="13970" cap="flat" cmpd="sng" algn="ctr">
          <a:solidFill>
            <a:schemeClr val="phClr"/>
          </a:solidFill>
          <a:prstDash val="solid"/>
        </a:ln>
        <a:ln w="17145" cap="flat" cmpd="sng" algn="ctr">
          <a:solidFill>
            <a:schemeClr val="phClr">
              <a:shade val="95000"/>
              <a:alpha val="95000"/>
              <a:satMod val="150000"/>
            </a:schemeClr>
          </a:solidFill>
          <a:prstDash val="solid"/>
        </a:ln>
      </a:lnStyleLst>
      <a:effectStyleLst>
        <a:effectStyle>
          <a:effectLst/>
        </a:effectStyle>
        <a:effectStyle>
          <a:effectLst>
            <a:outerShdw blurRad="50800" dist="15240" dir="5400000" algn="tl" rotWithShape="0">
              <a:srgbClr val="000000">
                <a:alpha val="75000"/>
              </a:srgbClr>
            </a:outerShdw>
          </a:effectLst>
          <a:scene3d>
            <a:camera prst="orthographicFront">
              <a:rot lat="0" lon="0" rev="0"/>
            </a:camera>
            <a:lightRig rig="brightRoom" dir="tl"/>
          </a:scene3d>
          <a:sp3d contourW="9525" prstMaterial="flat">
            <a:bevelT w="0" h="0" prst="coolSlant"/>
            <a:contourClr>
              <a:schemeClr val="phClr">
                <a:shade val="35000"/>
                <a:satMod val="130000"/>
              </a:schemeClr>
            </a:contourClr>
          </a:sp3d>
        </a:effectStyle>
        <a:effectStyle>
          <a:effectLst>
            <a:outerShdw blurRad="76200" dist="25400" dir="5400000" algn="tl" rotWithShape="0">
              <a:srgbClr val="000000">
                <a:alpha val="55000"/>
              </a:srgbClr>
            </a:outerShdw>
          </a:effectLst>
          <a:scene3d>
            <a:camera prst="orthographicFront">
              <a:rot lat="0" lon="0" rev="0"/>
            </a:camera>
            <a:lightRig rig="brightRoom" dir="tl"/>
          </a:scene3d>
          <a:sp3d contourW="19050" prstMaterial="flat">
            <a:bevelT w="0" h="0" prst="coolSlant"/>
            <a:contourClr>
              <a:schemeClr val="phClr">
                <a:shade val="25000"/>
                <a:satMod val="140000"/>
              </a:schemeClr>
            </a:contourClr>
          </a:sp3d>
        </a:effectStyle>
      </a:effectStyleLst>
      <a:bgFillStyleLst>
        <a:solidFill>
          <a:schemeClr val="phClr"/>
        </a:solidFill>
        <a:solidFill>
          <a:schemeClr val="phClr">
            <a:tint val="95000"/>
            <a:satMod val="170000"/>
          </a:schemeClr>
        </a:solidFill>
        <a:gradFill rotWithShape="1">
          <a:gsLst>
            <a:gs pos="0">
              <a:schemeClr val="phClr">
                <a:tint val="94000"/>
                <a:shade val="98000"/>
                <a:satMod val="130000"/>
                <a:lumMod val="102000"/>
              </a:schemeClr>
            </a:gs>
            <a:gs pos="100000">
              <a:schemeClr val="phClr">
                <a:tint val="98000"/>
                <a:shade val="78000"/>
                <a:satMod val="140000"/>
              </a:schemeClr>
            </a:gs>
          </a:gsLst>
          <a:path path="circle">
            <a:fillToRect l="100000" t="100000" r="100000" b="100000"/>
          </a:path>
        </a:gradFill>
      </a:bgFillStyleLst>
    </a:fmtScheme>
  </a:themeElements>
  <a:objectDefaults/>
  <a:extraClrSchemeLst/>
  <a:extLst>
    <a:ext uri="{05A4C25C-085E-4340-85A3-A5531E510DB2}">
      <thm15:themeFamily xmlns:thm15="http://schemas.microsoft.com/office/thememl/2012/main" name="View" id="{BA0EB5A6-F2D4-4F82-977B-64ADEE4A2A69}" vid="{3969A8A2-35DB-4E3B-8885-16FD2056867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2376</TotalTime>
  <Words>1560</Words>
  <Application>Microsoft Office PowerPoint</Application>
  <PresentationFormat>Widescreen</PresentationFormat>
  <Paragraphs>175</Paragraphs>
  <Slides>11</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11</vt:i4>
      </vt:variant>
    </vt:vector>
  </HeadingPairs>
  <TitlesOfParts>
    <vt:vector size="17" baseType="lpstr">
      <vt:lpstr>Arial</vt:lpstr>
      <vt:lpstr>Calibri</vt:lpstr>
      <vt:lpstr>Cambria Math</vt:lpstr>
      <vt:lpstr>Century Schoolbook</vt:lpstr>
      <vt:lpstr>Wingdings 2</vt:lpstr>
      <vt:lpst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Kal</dc:creator>
  <cp:lastModifiedBy>Aaron Choong</cp:lastModifiedBy>
  <cp:revision>386</cp:revision>
  <dcterms:created xsi:type="dcterms:W3CDTF">2020-08-07T03:38:28Z</dcterms:created>
  <dcterms:modified xsi:type="dcterms:W3CDTF">2025-10-06T23:09:34Z</dcterms:modified>
</cp:coreProperties>
</file>