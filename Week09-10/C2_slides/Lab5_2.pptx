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0"/>
  </p:notesMasterIdLst>
  <p:sldIdLst>
    <p:sldId id="299" r:id="rId2"/>
    <p:sldId id="306" r:id="rId3"/>
    <p:sldId id="303" r:id="rId4"/>
    <p:sldId id="305" r:id="rId5"/>
    <p:sldId id="265" r:id="rId6"/>
    <p:sldId id="300" r:id="rId7"/>
    <p:sldId id="301" r:id="rId8"/>
    <p:sldId id="30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62" autoAdjust="0"/>
    <p:restoredTop sz="94660"/>
  </p:normalViewPr>
  <p:slideViewPr>
    <p:cSldViewPr snapToGrid="0">
      <p:cViewPr varScale="1">
        <p:scale>
          <a:sx n="74" d="100"/>
          <a:sy n="74" d="100"/>
        </p:scale>
        <p:origin x="352"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rris Gu" userId="69bc5ac2-d614-4924-b186-b5a72bcb1b0c" providerId="ADAL" clId="{C9BC9705-B297-4DBE-98C5-DC3A9E8CDA70}"/>
    <pc:docChg chg="undo modSld">
      <pc:chgData name="Morris Gu" userId="69bc5ac2-d614-4924-b186-b5a72bcb1b0c" providerId="ADAL" clId="{C9BC9705-B297-4DBE-98C5-DC3A9E8CDA70}" dt="2024-09-25T02:38:10.596" v="502" actId="20577"/>
      <pc:docMkLst>
        <pc:docMk/>
      </pc:docMkLst>
      <pc:sldChg chg="modSp">
        <pc:chgData name="Morris Gu" userId="69bc5ac2-d614-4924-b186-b5a72bcb1b0c" providerId="ADAL" clId="{C9BC9705-B297-4DBE-98C5-DC3A9E8CDA70}" dt="2024-09-25T01:20:20.250" v="1" actId="20577"/>
        <pc:sldMkLst>
          <pc:docMk/>
          <pc:sldMk cId="3633391282" sldId="275"/>
        </pc:sldMkLst>
        <pc:spChg chg="mod">
          <ac:chgData name="Morris Gu" userId="69bc5ac2-d614-4924-b186-b5a72bcb1b0c" providerId="ADAL" clId="{C9BC9705-B297-4DBE-98C5-DC3A9E8CDA70}" dt="2024-09-25T01:20:20.250" v="1" actId="20577"/>
          <ac:spMkLst>
            <pc:docMk/>
            <pc:sldMk cId="3633391282" sldId="275"/>
            <ac:spMk id="4" creationId="{CA0B27D3-7B85-4485-A10E-AAC012A9B3BB}"/>
          </ac:spMkLst>
        </pc:spChg>
      </pc:sldChg>
      <pc:sldChg chg="modSp">
        <pc:chgData name="Morris Gu" userId="69bc5ac2-d614-4924-b186-b5a72bcb1b0c" providerId="ADAL" clId="{C9BC9705-B297-4DBE-98C5-DC3A9E8CDA70}" dt="2024-09-25T02:38:10.596" v="502" actId="20577"/>
        <pc:sldMkLst>
          <pc:docMk/>
          <pc:sldMk cId="86247891" sldId="277"/>
        </pc:sldMkLst>
        <pc:spChg chg="mod">
          <ac:chgData name="Morris Gu" userId="69bc5ac2-d614-4924-b186-b5a72bcb1b0c" providerId="ADAL" clId="{C9BC9705-B297-4DBE-98C5-DC3A9E8CDA70}" dt="2024-09-25T02:38:10.596" v="502" actId="20577"/>
          <ac:spMkLst>
            <pc:docMk/>
            <pc:sldMk cId="86247891" sldId="277"/>
            <ac:spMk id="4" creationId="{CA0B27D3-7B85-4485-A10E-AAC012A9B3B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407A57-47BC-45C1-B9EB-906F4463B0AB}" type="datetimeFigureOut">
              <a:rPr lang="en-AU" smtClean="0"/>
              <a:t>22/09/2025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7838D7-8F53-414D-A178-F59763C42603}" type="slidenum">
              <a:rPr lang="en-AU" smtClean="0"/>
              <a:t>‹#›</a:t>
            </a:fld>
            <a:endParaRPr lang="en-AU"/>
          </a:p>
        </p:txBody>
      </p:sp>
    </p:spTree>
    <p:extLst>
      <p:ext uri="{BB962C8B-B14F-4D97-AF65-F5344CB8AC3E}">
        <p14:creationId xmlns:p14="http://schemas.microsoft.com/office/powerpoint/2010/main" val="2333873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205BC88-DBF0-4610-A802-A09E0A6ECD22}" type="datetimeFigureOut">
              <a:rPr lang="en-AU" smtClean="0"/>
              <a:t>22/09/2025</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A66E8694-4F18-4E32-9A46-A94098D129B3}"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804540178"/>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22/09/2025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416107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205BC88-DBF0-4610-A802-A09E0A6ECD22}" type="datetimeFigureOut">
              <a:rPr lang="en-AU" smtClean="0"/>
              <a:t>22/09/2025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77718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205BC88-DBF0-4610-A802-A09E0A6ECD22}" type="datetimeFigureOut">
              <a:rPr lang="en-AU" smtClean="0"/>
              <a:t>22/09/2025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9076581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205BC88-DBF0-4610-A802-A09E0A6ECD22}" type="datetimeFigureOut">
              <a:rPr lang="en-AU" smtClean="0"/>
              <a:t>22/09/2025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524378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205BC88-DBF0-4610-A802-A09E0A6ECD22}" type="datetimeFigureOut">
              <a:rPr lang="en-AU" smtClean="0"/>
              <a:t>22/09/2025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3675290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5BC88-DBF0-4610-A802-A09E0A6ECD22}" type="datetimeFigureOut">
              <a:rPr lang="en-AU" smtClean="0"/>
              <a:t>22/09/2025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31679538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05BC88-DBF0-4610-A802-A09E0A6ECD22}" type="datetimeFigureOut">
              <a:rPr lang="en-AU" smtClean="0"/>
              <a:t>22/09/2025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626184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05BC88-DBF0-4610-A802-A09E0A6ECD22}" type="datetimeFigureOut">
              <a:rPr lang="en-AU" smtClean="0"/>
              <a:t>22/09/2025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902053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22/09/2025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4000473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205BC88-DBF0-4610-A802-A09E0A6ECD22}" type="datetimeFigureOut">
              <a:rPr lang="en-AU" smtClean="0"/>
              <a:t>22/09/2025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A66E8694-4F18-4E32-9A46-A94098D129B3}" type="slidenum">
              <a:rPr lang="en-AU" smtClean="0"/>
              <a:t>‹#›</a:t>
            </a:fld>
            <a:endParaRPr lang="en-AU"/>
          </a:p>
        </p:txBody>
      </p:sp>
    </p:spTree>
    <p:extLst>
      <p:ext uri="{BB962C8B-B14F-4D97-AF65-F5344CB8AC3E}">
        <p14:creationId xmlns:p14="http://schemas.microsoft.com/office/powerpoint/2010/main" val="2096472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205BC88-DBF0-4610-A802-A09E0A6ECD22}" type="datetimeFigureOut">
              <a:rPr lang="en-AU" smtClean="0"/>
              <a:t>22/09/2025</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A66E8694-4F18-4E32-9A46-A94098D129B3}" type="slidenum">
              <a:rPr lang="en-AU" smtClean="0"/>
              <a:t>‹#›</a:t>
            </a:fld>
            <a:endParaRPr lang="en-AU"/>
          </a:p>
        </p:txBody>
      </p:sp>
    </p:spTree>
    <p:extLst>
      <p:ext uri="{BB962C8B-B14F-4D97-AF65-F5344CB8AC3E}">
        <p14:creationId xmlns:p14="http://schemas.microsoft.com/office/powerpoint/2010/main" val="401809481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craiyon.com/"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ECE4078  Intelligent robotics</a:t>
            </a:r>
          </a:p>
        </p:txBody>
      </p:sp>
      <p:sp>
        <p:nvSpPr>
          <p:cNvPr id="4" name="TextBox 3">
            <a:extLst>
              <a:ext uri="{FF2B5EF4-FFF2-40B4-BE49-F238E27FC236}">
                <a16:creationId xmlns:a16="http://schemas.microsoft.com/office/drawing/2014/main" id="{BFDE73F0-7AA3-4E8C-BC34-28C4D2A791F6}"/>
              </a:ext>
            </a:extLst>
          </p:cNvPr>
          <p:cNvSpPr txBox="1"/>
          <p:nvPr/>
        </p:nvSpPr>
        <p:spPr>
          <a:xfrm>
            <a:off x="735188" y="6316111"/>
            <a:ext cx="10721625" cy="369332"/>
          </a:xfrm>
          <a:prstGeom prst="rect">
            <a:avLst/>
          </a:prstGeom>
          <a:noFill/>
        </p:spPr>
        <p:txBody>
          <a:bodyPr wrap="square" rtlCol="0">
            <a:spAutoFit/>
          </a:bodyPr>
          <a:lstStyle/>
          <a:p>
            <a:pPr algn="ctr"/>
            <a:r>
              <a:rPr lang="en-US" dirty="0"/>
              <a:t>Lab 5: Integrated System</a:t>
            </a:r>
            <a:endParaRPr lang="en-AU" dirty="0"/>
          </a:p>
        </p:txBody>
      </p:sp>
      <p:pic>
        <p:nvPicPr>
          <p:cNvPr id="2" name="Picture 1" descr="A robot standing in a store&#10;&#10;Description automatically generated">
            <a:extLst>
              <a:ext uri="{FF2B5EF4-FFF2-40B4-BE49-F238E27FC236}">
                <a16:creationId xmlns:a16="http://schemas.microsoft.com/office/drawing/2014/main" id="{1E81932C-8517-2D4E-1E2B-26EC22116C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5345" y="1138645"/>
            <a:ext cx="4580709" cy="4580709"/>
          </a:xfrm>
          <a:prstGeom prst="rect">
            <a:avLst/>
          </a:prstGeom>
        </p:spPr>
      </p:pic>
      <p:sp>
        <p:nvSpPr>
          <p:cNvPr id="3" name="CustomShape 2">
            <a:extLst>
              <a:ext uri="{FF2B5EF4-FFF2-40B4-BE49-F238E27FC236}">
                <a16:creationId xmlns:a16="http://schemas.microsoft.com/office/drawing/2014/main" id="{D4B20FBA-41A7-167C-7A9B-53316EF443B4}"/>
              </a:ext>
            </a:extLst>
          </p:cNvPr>
          <p:cNvSpPr/>
          <p:nvPr/>
        </p:nvSpPr>
        <p:spPr>
          <a:xfrm>
            <a:off x="735120" y="5730008"/>
            <a:ext cx="10721160" cy="453078"/>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lstStyle/>
          <a:p>
            <a:pPr algn="ctr">
              <a:lnSpc>
                <a:spcPct val="100000"/>
              </a:lnSpc>
            </a:pPr>
            <a:r>
              <a:rPr lang="en-AU" sz="1200" b="0" strike="noStrike" spc="-1" dirty="0">
                <a:solidFill>
                  <a:srgbClr val="FFFFFF"/>
                </a:solidFill>
                <a:latin typeface="Century Schoolbook"/>
              </a:rPr>
              <a:t>AI art generated by </a:t>
            </a:r>
            <a:r>
              <a:rPr lang="en-AU" sz="1200" b="0" strike="noStrike" spc="-1" dirty="0">
                <a:solidFill>
                  <a:srgbClr val="FFFFFF"/>
                </a:solidFill>
                <a:latin typeface="Century Schoolbook"/>
                <a:hlinkClick r:id="rId3"/>
              </a:rPr>
              <a:t>https://www.craiyon.com/</a:t>
            </a:r>
            <a:endParaRPr lang="en-AU" sz="1200" b="0" strike="noStrike" spc="-1" dirty="0">
              <a:solidFill>
                <a:srgbClr val="FFFFFF"/>
              </a:solidFill>
              <a:latin typeface="Century Schoolbook"/>
            </a:endParaRPr>
          </a:p>
          <a:p>
            <a:pPr algn="ctr">
              <a:lnSpc>
                <a:spcPct val="100000"/>
              </a:lnSpc>
            </a:pPr>
            <a:r>
              <a:rPr lang="en-AU" sz="1200" b="0" strike="noStrike" spc="-1" dirty="0">
                <a:solidFill>
                  <a:srgbClr val="FFFFFF"/>
                </a:solidFill>
                <a:latin typeface="Century Schoolbook"/>
              </a:rPr>
              <a:t>(prompt: “</a:t>
            </a:r>
            <a:r>
              <a:rPr lang="en-GB" sz="1200" b="0" strike="noStrike" spc="-1" dirty="0">
                <a:solidFill>
                  <a:srgbClr val="FFFFFF"/>
                </a:solidFill>
                <a:latin typeface="Century Schoolbook"/>
              </a:rPr>
              <a:t>a penguin robot shopping for fruits and vegetables in a supermarket</a:t>
            </a:r>
            <a:r>
              <a:rPr lang="en-AU" sz="1200" b="0" strike="noStrike" spc="-1" dirty="0">
                <a:solidFill>
                  <a:srgbClr val="FFFFFF"/>
                </a:solidFill>
                <a:latin typeface="Century Schoolbook"/>
              </a:rPr>
              <a:t>”)</a:t>
            </a:r>
            <a:endParaRPr lang="en-AU" sz="1200" b="0" strike="noStrike" spc="-1" dirty="0">
              <a:latin typeface="Arial"/>
            </a:endParaRPr>
          </a:p>
        </p:txBody>
      </p:sp>
    </p:spTree>
    <p:extLst>
      <p:ext uri="{BB962C8B-B14F-4D97-AF65-F5344CB8AC3E}">
        <p14:creationId xmlns:p14="http://schemas.microsoft.com/office/powerpoint/2010/main" val="19759872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9252403-6DA3-F734-A179-9F0087C42EE5}"/>
              </a:ext>
            </a:extLst>
          </p:cNvPr>
          <p:cNvGraphicFramePr>
            <a:graphicFrameLocks/>
          </p:cNvGraphicFramePr>
          <p:nvPr/>
        </p:nvGraphicFramePr>
        <p:xfrm>
          <a:off x="1819740" y="1449174"/>
          <a:ext cx="8552520" cy="4511040"/>
        </p:xfrm>
        <a:graphic>
          <a:graphicData uri="http://schemas.openxmlformats.org/drawingml/2006/table">
            <a:tbl>
              <a:tblPr/>
              <a:tblGrid>
                <a:gridCol w="1265040">
                  <a:extLst>
                    <a:ext uri="{9D8B030D-6E8A-4147-A177-3AD203B41FA5}">
                      <a16:colId xmlns:a16="http://schemas.microsoft.com/office/drawing/2014/main" val="20000"/>
                    </a:ext>
                  </a:extLst>
                </a:gridCol>
                <a:gridCol w="3384720">
                  <a:extLst>
                    <a:ext uri="{9D8B030D-6E8A-4147-A177-3AD203B41FA5}">
                      <a16:colId xmlns:a16="http://schemas.microsoft.com/office/drawing/2014/main" val="20001"/>
                    </a:ext>
                  </a:extLst>
                </a:gridCol>
                <a:gridCol w="3902760">
                  <a:extLst>
                    <a:ext uri="{9D8B030D-6E8A-4147-A177-3AD203B41FA5}">
                      <a16:colId xmlns:a16="http://schemas.microsoft.com/office/drawing/2014/main" val="20002"/>
                    </a:ext>
                  </a:extLst>
                </a:gridCol>
              </a:tblGrid>
              <a:tr h="335160">
                <a:tc>
                  <a:txBody>
                    <a:bodyPr/>
                    <a:lstStyle/>
                    <a:p>
                      <a:pPr algn="ctr">
                        <a:lnSpc>
                          <a:spcPct val="100000"/>
                        </a:lnSpc>
                        <a:defRPr/>
                      </a:pPr>
                      <a:r>
                        <a:rPr lang="en-AU" sz="1600" b="1" strike="noStrike" spc="-1" dirty="0">
                          <a:solidFill>
                            <a:srgbClr val="000000"/>
                          </a:solidFill>
                          <a:latin typeface="Century Schoolbook"/>
                        </a:rPr>
                        <a:t>Week</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gn="ctr">
                        <a:lnSpc>
                          <a:spcPct val="100000"/>
                        </a:lnSpc>
                        <a:defRPr/>
                      </a:pPr>
                      <a:r>
                        <a:rPr lang="en-AU" sz="1600" b="1" strike="noStrike" spc="-1">
                          <a:solidFill>
                            <a:srgbClr val="000000"/>
                          </a:solidFill>
                          <a:latin typeface="Century Schoolbook"/>
                        </a:rPr>
                        <a:t>Objectives</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gn="ctr">
                        <a:lnSpc>
                          <a:spcPct val="100000"/>
                        </a:lnSpc>
                        <a:defRPr/>
                      </a:pPr>
                      <a:r>
                        <a:rPr lang="en-AU" sz="1600" b="1" strike="noStrike" spc="-1">
                          <a:solidFill>
                            <a:srgbClr val="000000"/>
                          </a:solidFill>
                          <a:latin typeface="Century Schoolbook"/>
                        </a:rPr>
                        <a:t>Milestones</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0"/>
                  </a:ext>
                </a:extLst>
              </a:tr>
              <a:tr h="335160">
                <a:tc>
                  <a:txBody>
                    <a:bodyPr/>
                    <a:lstStyle/>
                    <a:p>
                      <a:pPr>
                        <a:lnSpc>
                          <a:spcPct val="100000"/>
                        </a:lnSpc>
                        <a:defRPr/>
                      </a:pPr>
                      <a:r>
                        <a:rPr lang="en-AU" sz="1600" b="0" strike="noStrike" spc="-1" dirty="0">
                          <a:solidFill>
                            <a:srgbClr val="000000"/>
                          </a:solidFill>
                          <a:latin typeface="Century Schoolbook"/>
                        </a:rPr>
                        <a:t>1: C1-1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Introduction and setup</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defRPr/>
                      </a:pPr>
                      <a:endParaRPr lang="en-US" dirty="0"/>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1"/>
                  </a:ext>
                </a:extLst>
              </a:tr>
              <a:tr h="0">
                <a:tc>
                  <a:txBody>
                    <a:bodyPr/>
                    <a:lstStyle/>
                    <a:p>
                      <a:pPr>
                        <a:lnSpc>
                          <a:spcPct val="100000"/>
                        </a:lnSpc>
                        <a:defRPr/>
                      </a:pPr>
                      <a:r>
                        <a:rPr lang="en-AU" sz="1600" b="0" strike="noStrike" spc="-1" dirty="0">
                          <a:solidFill>
                            <a:srgbClr val="000000"/>
                          </a:solidFill>
                          <a:latin typeface="Century Schoolbook"/>
                        </a:rPr>
                        <a:t>2: M1-1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a:solidFill>
                            <a:srgbClr val="000000"/>
                          </a:solidFill>
                          <a:latin typeface="Century Schoolbook"/>
                        </a:rPr>
                        <a:t>Calibration, ARUCO markers</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C1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2"/>
                  </a:ext>
                </a:extLst>
              </a:tr>
              <a:tr h="335160">
                <a:tc>
                  <a:txBody>
                    <a:bodyPr/>
                    <a:lstStyle/>
                    <a:p>
                      <a:pPr>
                        <a:lnSpc>
                          <a:spcPct val="100000"/>
                        </a:lnSpc>
                        <a:defRPr/>
                      </a:pPr>
                      <a:r>
                        <a:rPr lang="en-AU" sz="1600" b="0" strike="noStrike" spc="-1" dirty="0">
                          <a:solidFill>
                            <a:srgbClr val="000000"/>
                          </a:solidFill>
                          <a:latin typeface="Century Schoolbook"/>
                        </a:rPr>
                        <a:t>3: M1-2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SLAM</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defRPr/>
                      </a:pPr>
                      <a:endParaRPr lang="en-US"/>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3"/>
                  </a:ext>
                </a:extLst>
              </a:tr>
              <a:tr h="0">
                <a:tc>
                  <a:txBody>
                    <a:bodyPr/>
                    <a:lstStyle/>
                    <a:p>
                      <a:pPr>
                        <a:lnSpc>
                          <a:spcPct val="100000"/>
                        </a:lnSpc>
                        <a:defRPr/>
                      </a:pPr>
                      <a:r>
                        <a:rPr lang="en-AU" sz="1600" b="0" strike="noStrike" spc="-1" dirty="0">
                          <a:solidFill>
                            <a:srgbClr val="000000"/>
                          </a:solidFill>
                          <a:latin typeface="Century Schoolbook"/>
                        </a:rPr>
                        <a:t>4: M1-3</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a:solidFill>
                            <a:srgbClr val="000000"/>
                          </a:solidFill>
                          <a:latin typeface="Century Schoolbook"/>
                        </a:rPr>
                        <a:t>SLAM</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defRPr/>
                      </a:pPr>
                      <a:endParaRPr lang="en-US"/>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4"/>
                  </a:ext>
                </a:extLst>
              </a:tr>
              <a:tr h="335160">
                <a:tc>
                  <a:txBody>
                    <a:bodyPr/>
                    <a:lstStyle/>
                    <a:p>
                      <a:pPr>
                        <a:lnSpc>
                          <a:spcPct val="100000"/>
                        </a:lnSpc>
                        <a:defRPr/>
                      </a:pPr>
                      <a:r>
                        <a:rPr lang="en-AU" sz="1600" b="0" strike="noStrike" spc="-1" dirty="0">
                          <a:solidFill>
                            <a:srgbClr val="000000"/>
                          </a:solidFill>
                          <a:latin typeface="Century Schoolbook"/>
                        </a:rPr>
                        <a:t>5: M2-1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Object recognition &amp; localisation</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M1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5"/>
                  </a:ext>
                </a:extLst>
              </a:tr>
              <a:tr h="0">
                <a:tc>
                  <a:txBody>
                    <a:bodyPr/>
                    <a:lstStyle/>
                    <a:p>
                      <a:pPr>
                        <a:lnSpc>
                          <a:spcPct val="100000"/>
                        </a:lnSpc>
                        <a:defRPr/>
                      </a:pPr>
                      <a:r>
                        <a:rPr lang="en-AU" sz="1600" b="0" strike="noStrike" spc="-1" dirty="0">
                          <a:solidFill>
                            <a:srgbClr val="000000"/>
                          </a:solidFill>
                          <a:latin typeface="Century Schoolbook"/>
                        </a:rPr>
                        <a:t>6: M2-2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Object recognition &amp; localisation</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defRPr/>
                      </a:pPr>
                      <a:endParaRPr lang="en-US" dirty="0"/>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6"/>
                  </a:ext>
                </a:extLst>
              </a:tr>
              <a:tr h="335160">
                <a:tc>
                  <a:txBody>
                    <a:bodyPr/>
                    <a:lstStyle/>
                    <a:p>
                      <a:pPr>
                        <a:lnSpc>
                          <a:spcPct val="100000"/>
                        </a:lnSpc>
                        <a:defRPr/>
                      </a:pPr>
                      <a:r>
                        <a:rPr lang="en-AU" sz="1600" b="0" strike="noStrike" spc="-1" dirty="0">
                          <a:solidFill>
                            <a:srgbClr val="000000"/>
                          </a:solidFill>
                          <a:latin typeface="Century Schoolbook"/>
                        </a:rPr>
                        <a:t>7: M3-1</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a:solidFill>
                            <a:srgbClr val="000000"/>
                          </a:solidFill>
                          <a:latin typeface="Century Schoolbook"/>
                        </a:rPr>
                        <a:t>Navigation &amp; Planning</a:t>
                      </a:r>
                      <a:endParaRPr lang="en-AU" sz="1600" b="0" strike="noStrike" spc="-1">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M2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7"/>
                  </a:ext>
                </a:extLst>
              </a:tr>
              <a:tr h="335160">
                <a:tc>
                  <a:txBody>
                    <a:bodyPr/>
                    <a:lstStyle/>
                    <a:p>
                      <a:pPr>
                        <a:lnSpc>
                          <a:spcPct val="100000"/>
                        </a:lnSpc>
                        <a:defRPr/>
                      </a:pPr>
                      <a:r>
                        <a:rPr lang="en-AU" sz="1600" b="0" strike="noStrike" spc="-1" dirty="0">
                          <a:solidFill>
                            <a:srgbClr val="000000"/>
                          </a:solidFill>
                          <a:latin typeface="Century Schoolbook"/>
                        </a:rPr>
                        <a:t>8: M3-2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Navigation &amp; Planning</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defRPr/>
                      </a:pPr>
                      <a:endParaRPr lang="en-US"/>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08"/>
                  </a:ext>
                </a:extLst>
              </a:tr>
              <a:tr h="331560">
                <a:tc>
                  <a:txBody>
                    <a:bodyPr/>
                    <a:lstStyle/>
                    <a:p>
                      <a:pPr>
                        <a:lnSpc>
                          <a:spcPct val="100000"/>
                        </a:lnSpc>
                        <a:defRPr/>
                      </a:pPr>
                      <a:r>
                        <a:rPr lang="en-AU" sz="1600" b="0" strike="noStrike" spc="-1" dirty="0">
                          <a:solidFill>
                            <a:srgbClr val="000000"/>
                          </a:solidFill>
                          <a:latin typeface="Century Schoolbook"/>
                        </a:rPr>
                        <a:t>9: C2</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Integration &amp; Improvement</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M3 due</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09"/>
                  </a:ext>
                </a:extLst>
              </a:tr>
              <a:tr h="335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dirty="0">
                          <a:solidFill>
                            <a:srgbClr val="000000"/>
                          </a:solidFill>
                          <a:latin typeface="Century Schoolbook"/>
                        </a:rPr>
                        <a:t>10: Final</a:t>
                      </a:r>
                      <a:endParaRPr lang="en-AU" sz="1600" b="0" strike="noStrike" spc="-1" dirty="0">
                        <a:latin typeface="+mn-lt"/>
                      </a:endParaRPr>
                    </a:p>
                  </a:txBody>
                  <a:tcPr>
                    <a:lnL w="12240" algn="ctr">
                      <a:solidFill>
                        <a:srgbClr val="000000"/>
                      </a:solidFill>
                    </a:lnL>
                    <a:lnR w="12240" cap="flat" cmpd="sng" algn="ctr">
                      <a:solidFill>
                        <a:srgbClr val="000000"/>
                      </a:solidFill>
                      <a:prstDash val="solid"/>
                      <a:round/>
                      <a:headEnd type="none" w="med" len="med"/>
                      <a:tailEnd type="none" w="med" len="med"/>
                    </a:lnR>
                    <a:lnT w="12240" algn="ctr">
                      <a:solidFill>
                        <a:srgbClr val="000000"/>
                      </a:solidFill>
                    </a:lnT>
                    <a:lnB w="12240" cap="flat" cmpd="sng" algn="ctr">
                      <a:solidFill>
                        <a:srgbClr val="000000"/>
                      </a:solidFill>
                      <a:prstDash val="solid"/>
                      <a:round/>
                      <a:headEnd type="none" w="med" len="med"/>
                      <a:tailEnd type="none" w="med" len="med"/>
                    </a:lnB>
                    <a:solidFill>
                      <a:srgbClr val="E7E7E7"/>
                    </a:solidFill>
                  </a:tcPr>
                </a:tc>
                <a:tc>
                  <a:txBody>
                    <a:bodyPr/>
                    <a:lstStyle/>
                    <a:p>
                      <a:pPr>
                        <a:lnSpc>
                          <a:spcPct val="100000"/>
                        </a:lnSpc>
                        <a:defRPr/>
                      </a:pPr>
                      <a:r>
                        <a:rPr lang="en-AU" sz="1600" b="0" strike="noStrike" spc="-1" dirty="0">
                          <a:solidFill>
                            <a:srgbClr val="000000"/>
                          </a:solidFill>
                          <a:latin typeface="Century Schoolbook"/>
                        </a:rPr>
                        <a:t>Trial run of final demo</a:t>
                      </a:r>
                      <a:endParaRPr lang="en-AU" sz="1600" b="0" strike="noStrike" spc="-1" dirty="0">
                        <a:latin typeface="Arial"/>
                      </a:endParaRPr>
                    </a:p>
                  </a:txBody>
                  <a:tcPr>
                    <a:lnL w="12240" cap="flat" cmpd="sng" algn="ctr">
                      <a:solidFill>
                        <a:srgbClr val="000000"/>
                      </a:solidFill>
                      <a:prstDash val="solid"/>
                      <a:round/>
                      <a:headEnd type="none" w="med" len="med"/>
                      <a:tailEnd type="none" w="med" len="med"/>
                    </a:lnL>
                    <a:lnR w="12240" cap="flat" cmpd="sng" algn="ctr">
                      <a:solidFill>
                        <a:srgbClr val="000000"/>
                      </a:solidFill>
                      <a:prstDash val="solid"/>
                      <a:round/>
                      <a:headEnd type="none" w="med" len="med"/>
                      <a:tailEnd type="none" w="med" len="med"/>
                    </a:lnR>
                    <a:lnT w="12240" algn="ctr">
                      <a:solidFill>
                        <a:srgbClr val="000000"/>
                      </a:solidFill>
                    </a:lnT>
                    <a:lnB w="12240" cap="flat" cmpd="sng" algn="ctr">
                      <a:solidFill>
                        <a:srgbClr val="000000"/>
                      </a:solidFill>
                      <a:prstDash val="solid"/>
                      <a:round/>
                      <a:headEnd type="none" w="med" len="med"/>
                      <a:tailEnd type="none" w="med" len="med"/>
                    </a:lnB>
                    <a:solidFill>
                      <a:srgbClr val="E7E7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a:solidFill>
                            <a:srgbClr val="000000"/>
                          </a:solidFill>
                          <a:latin typeface="+mn-lt"/>
                        </a:rPr>
                        <a:t>C2 due</a:t>
                      </a:r>
                      <a:endParaRPr lang="en-AU" sz="1600" b="0" strike="noStrike" spc="-1">
                        <a:latin typeface="+mn-lt"/>
                      </a:endParaRPr>
                    </a:p>
                  </a:txBody>
                  <a:tcPr>
                    <a:lnL w="12240" cap="flat" cmpd="sng" algn="ctr">
                      <a:solidFill>
                        <a:srgbClr val="000000"/>
                      </a:solidFill>
                      <a:prstDash val="solid"/>
                      <a:round/>
                      <a:headEnd type="none" w="med" len="med"/>
                      <a:tailEnd type="none" w="med" len="med"/>
                    </a:lnL>
                    <a:lnR w="12240" algn="ctr">
                      <a:solidFill>
                        <a:srgbClr val="000000"/>
                      </a:solidFill>
                    </a:lnR>
                    <a:lnT w="12240" algn="ctr">
                      <a:solidFill>
                        <a:srgbClr val="000000"/>
                      </a:solidFill>
                    </a:lnT>
                    <a:lnB w="12240" cap="flat" cmpd="sng" algn="ctr">
                      <a:solidFill>
                        <a:srgbClr val="000000"/>
                      </a:solidFill>
                      <a:prstDash val="solid"/>
                      <a:round/>
                      <a:headEnd type="none" w="med" len="med"/>
                      <a:tailEnd type="none" w="med" len="med"/>
                    </a:lnB>
                    <a:solidFill>
                      <a:srgbClr val="E7E7E7"/>
                    </a:solidFill>
                  </a:tcPr>
                </a:tc>
                <a:extLst>
                  <a:ext uri="{0D108BD9-81ED-4DB2-BD59-A6C34878D82A}">
                    <a16:rowId xmlns:a16="http://schemas.microsoft.com/office/drawing/2014/main" val="2927731480"/>
                  </a:ext>
                </a:extLst>
              </a:tr>
              <a:tr h="335160">
                <a:tc>
                  <a:txBody>
                    <a:bodyPr/>
                    <a:lstStyle/>
                    <a:p>
                      <a:pPr>
                        <a:lnSpc>
                          <a:spcPct val="100000"/>
                        </a:lnSpc>
                        <a:defRPr/>
                      </a:pPr>
                      <a:r>
                        <a:rPr lang="en-AU" sz="1600" b="0" strike="noStrike" spc="-1" dirty="0">
                          <a:solidFill>
                            <a:srgbClr val="000000"/>
                          </a:solidFill>
                          <a:latin typeface="Century Schoolbook"/>
                        </a:rPr>
                        <a:t>11: Final</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a:lnSpc>
                          <a:spcPct val="100000"/>
                        </a:lnSpc>
                        <a:defRPr/>
                      </a:pPr>
                      <a:r>
                        <a:rPr lang="en-AU" sz="1600" b="0" strike="noStrike" spc="-1" dirty="0">
                          <a:solidFill>
                            <a:srgbClr val="000000"/>
                          </a:solidFill>
                          <a:latin typeface="Century Schoolbook"/>
                        </a:rPr>
                        <a:t>Final demo</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600" b="0" strike="noStrike" spc="-1" dirty="0">
                          <a:solidFill>
                            <a:srgbClr val="000000"/>
                          </a:solidFill>
                          <a:latin typeface="Century Schoolbook"/>
                        </a:rPr>
                        <a:t>Final demo due</a:t>
                      </a:r>
                      <a:r>
                        <a:rPr lang="en-AU" sz="1600" b="0" strike="noStrike" spc="-1" dirty="0">
                          <a:solidFill>
                            <a:srgbClr val="000000"/>
                          </a:solidFill>
                          <a:latin typeface="Arial"/>
                        </a:rPr>
                        <a:t> </a:t>
                      </a:r>
                      <a:endParaRPr lang="en-AU" sz="1600" b="0" strike="noStrike" spc="-1" dirty="0">
                        <a:latin typeface="+mn-lt"/>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E7E7E7"/>
                    </a:solidFill>
                  </a:tcPr>
                </a:tc>
                <a:extLst>
                  <a:ext uri="{0D108BD9-81ED-4DB2-BD59-A6C34878D82A}">
                    <a16:rowId xmlns:a16="http://schemas.microsoft.com/office/drawing/2014/main" val="10010"/>
                  </a:ext>
                </a:extLst>
              </a:tr>
              <a:tr h="335160">
                <a:tc>
                  <a:txBody>
                    <a:bodyPr/>
                    <a:lstStyle/>
                    <a:p>
                      <a:pPr>
                        <a:lnSpc>
                          <a:spcPct val="100000"/>
                        </a:lnSpc>
                        <a:defRPr/>
                      </a:pPr>
                      <a:r>
                        <a:rPr lang="en-AU" sz="1600" b="0" strike="noStrike" spc="-1" dirty="0">
                          <a:solidFill>
                            <a:srgbClr val="000000"/>
                          </a:solidFill>
                          <a:latin typeface="Century Schoolbook"/>
                        </a:rPr>
                        <a:t>12: No lab</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N/A</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tc>
                  <a:txBody>
                    <a:bodyPr/>
                    <a:lstStyle/>
                    <a:p>
                      <a:pPr>
                        <a:lnSpc>
                          <a:spcPct val="100000"/>
                        </a:lnSpc>
                        <a:defRPr/>
                      </a:pPr>
                      <a:r>
                        <a:rPr lang="en-AU" sz="1600" b="0" strike="noStrike" spc="-1" dirty="0">
                          <a:solidFill>
                            <a:srgbClr val="000000"/>
                          </a:solidFill>
                          <a:latin typeface="Century Schoolbook"/>
                        </a:rPr>
                        <a:t>N/A</a:t>
                      </a:r>
                      <a:endParaRPr lang="en-AU" sz="1600" b="0" strike="noStrike" spc="-1" dirty="0">
                        <a:latin typeface="Arial"/>
                      </a:endParaRPr>
                    </a:p>
                  </a:txBody>
                  <a:tcPr>
                    <a:lnL w="12240" algn="ctr">
                      <a:solidFill>
                        <a:srgbClr val="000000"/>
                      </a:solidFill>
                    </a:lnL>
                    <a:lnR w="12240" algn="ctr">
                      <a:solidFill>
                        <a:srgbClr val="000000"/>
                      </a:solidFill>
                    </a:lnR>
                    <a:lnT w="12240" algn="ctr">
                      <a:solidFill>
                        <a:srgbClr val="000000"/>
                      </a:solidFill>
                    </a:lnT>
                    <a:lnB w="12240" algn="ctr">
                      <a:solidFill>
                        <a:srgbClr val="000000"/>
                      </a:solidFill>
                    </a:lnB>
                    <a:solidFill>
                      <a:srgbClr val="CCCCCC"/>
                    </a:solidFill>
                  </a:tcPr>
                </a:tc>
                <a:extLst>
                  <a:ext uri="{0D108BD9-81ED-4DB2-BD59-A6C34878D82A}">
                    <a16:rowId xmlns:a16="http://schemas.microsoft.com/office/drawing/2014/main" val="10011"/>
                  </a:ext>
                </a:extLst>
              </a:tr>
            </a:tbl>
          </a:graphicData>
        </a:graphic>
      </p:graphicFrame>
      <p:sp>
        <p:nvSpPr>
          <p:cNvPr id="7" name="TextBox 6">
            <a:extLst>
              <a:ext uri="{FF2B5EF4-FFF2-40B4-BE49-F238E27FC236}">
                <a16:creationId xmlns:a16="http://schemas.microsoft.com/office/drawing/2014/main" id="{11DA8C29-89B7-1BB4-7072-B8C58D3F2A9D}"/>
              </a:ext>
            </a:extLst>
          </p:cNvPr>
          <p:cNvSpPr txBox="1"/>
          <p:nvPr/>
        </p:nvSpPr>
        <p:spPr>
          <a:xfrm>
            <a:off x="478180" y="172557"/>
            <a:ext cx="11713820" cy="830997"/>
          </a:xfrm>
          <a:prstGeom prst="rect">
            <a:avLst/>
          </a:prstGeom>
          <a:noFill/>
        </p:spPr>
        <p:txBody>
          <a:bodyPr wrap="square" rtlCol="0">
            <a:spAutoFit/>
          </a:bodyPr>
          <a:lstStyle/>
          <a:p>
            <a:pPr algn="ctr"/>
            <a:r>
              <a:rPr lang="en-AU" sz="4800" dirty="0"/>
              <a:t>ECE4078  Intelligent robotics</a:t>
            </a:r>
          </a:p>
        </p:txBody>
      </p:sp>
      <p:sp>
        <p:nvSpPr>
          <p:cNvPr id="15" name="TextBox 14">
            <a:extLst>
              <a:ext uri="{FF2B5EF4-FFF2-40B4-BE49-F238E27FC236}">
                <a16:creationId xmlns:a16="http://schemas.microsoft.com/office/drawing/2014/main" id="{8B9A753A-0CD7-4DBC-D7D8-4301D1546DCD}"/>
              </a:ext>
            </a:extLst>
          </p:cNvPr>
          <p:cNvSpPr txBox="1"/>
          <p:nvPr/>
        </p:nvSpPr>
        <p:spPr>
          <a:xfrm>
            <a:off x="1474591" y="4963460"/>
            <a:ext cx="325186" cy="523220"/>
          </a:xfrm>
          <a:prstGeom prst="rect">
            <a:avLst/>
          </a:prstGeom>
          <a:noFill/>
        </p:spPr>
        <p:txBody>
          <a:bodyPr wrap="square" rtlCol="0">
            <a:spAutoFit/>
          </a:bodyPr>
          <a:lstStyle/>
          <a:p>
            <a:r>
              <a:rPr lang="en-AU" sz="2800" dirty="0">
                <a:solidFill>
                  <a:srgbClr val="FF0000"/>
                </a:solidFill>
              </a:rPr>
              <a:t>*</a:t>
            </a:r>
          </a:p>
        </p:txBody>
      </p:sp>
      <p:cxnSp>
        <p:nvCxnSpPr>
          <p:cNvPr id="16" name="Straight Connector 15">
            <a:extLst>
              <a:ext uri="{FF2B5EF4-FFF2-40B4-BE49-F238E27FC236}">
                <a16:creationId xmlns:a16="http://schemas.microsoft.com/office/drawing/2014/main" id="{7E34DF76-20EA-E6C2-BA3D-D5ECE824BB57}"/>
              </a:ext>
            </a:extLst>
          </p:cNvPr>
          <p:cNvCxnSpPr/>
          <p:nvPr/>
        </p:nvCxnSpPr>
        <p:spPr>
          <a:xfrm>
            <a:off x="1637548" y="1894540"/>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86C7EF5-6D49-C8E0-794D-6012175ED245}"/>
              </a:ext>
            </a:extLst>
          </p:cNvPr>
          <p:cNvCxnSpPr/>
          <p:nvPr/>
        </p:nvCxnSpPr>
        <p:spPr>
          <a:xfrm>
            <a:off x="1640174" y="2267658"/>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177AF33-9CFD-1288-975F-5714FD1C6D63}"/>
              </a:ext>
            </a:extLst>
          </p:cNvPr>
          <p:cNvCxnSpPr/>
          <p:nvPr/>
        </p:nvCxnSpPr>
        <p:spPr>
          <a:xfrm>
            <a:off x="1637184" y="2635206"/>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2D4700F-C358-D2D8-5FFD-B9FB241CBAE2}"/>
              </a:ext>
            </a:extLst>
          </p:cNvPr>
          <p:cNvCxnSpPr/>
          <p:nvPr/>
        </p:nvCxnSpPr>
        <p:spPr>
          <a:xfrm>
            <a:off x="1658471" y="3037772"/>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836F6F4-5171-AAA2-1504-92E8F8BC211A}"/>
              </a:ext>
            </a:extLst>
          </p:cNvPr>
          <p:cNvCxnSpPr/>
          <p:nvPr/>
        </p:nvCxnSpPr>
        <p:spPr>
          <a:xfrm>
            <a:off x="1637184" y="3429000"/>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1A47E0D-2DA2-3F91-EA61-267D3F82D2BF}"/>
              </a:ext>
            </a:extLst>
          </p:cNvPr>
          <p:cNvCxnSpPr/>
          <p:nvPr/>
        </p:nvCxnSpPr>
        <p:spPr>
          <a:xfrm>
            <a:off x="1637184" y="3768142"/>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C5D25AF-1B09-8BDB-30EA-FB6DC29B6567}"/>
              </a:ext>
            </a:extLst>
          </p:cNvPr>
          <p:cNvCxnSpPr/>
          <p:nvPr/>
        </p:nvCxnSpPr>
        <p:spPr>
          <a:xfrm>
            <a:off x="1637184" y="4075818"/>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9A6A4A-F50F-45C4-2E4B-173B39A6FFCD}"/>
              </a:ext>
            </a:extLst>
          </p:cNvPr>
          <p:cNvCxnSpPr/>
          <p:nvPr/>
        </p:nvCxnSpPr>
        <p:spPr>
          <a:xfrm>
            <a:off x="1637184" y="4452505"/>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94044F2B-BD17-E667-1F1E-E81142B0BF33}"/>
              </a:ext>
            </a:extLst>
          </p:cNvPr>
          <p:cNvCxnSpPr/>
          <p:nvPr/>
        </p:nvCxnSpPr>
        <p:spPr>
          <a:xfrm>
            <a:off x="1637184" y="4794686"/>
            <a:ext cx="8875058" cy="0"/>
          </a:xfrm>
          <a:prstGeom prst="line">
            <a:avLst/>
          </a:prstGeom>
          <a:ln w="38100">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3034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7379"/>
            <a:ext cx="11713820" cy="830997"/>
          </a:xfrm>
          <a:prstGeom prst="rect">
            <a:avLst/>
          </a:prstGeom>
          <a:noFill/>
        </p:spPr>
        <p:txBody>
          <a:bodyPr wrap="square" rtlCol="0">
            <a:spAutoFit/>
          </a:bodyPr>
          <a:lstStyle/>
          <a:p>
            <a:pPr algn="ctr"/>
            <a:r>
              <a:rPr lang="en-AU" sz="4800" dirty="0"/>
              <a:t>Checkpoint 2: Integration</a:t>
            </a:r>
          </a:p>
        </p:txBody>
      </p:sp>
      <p:sp>
        <p:nvSpPr>
          <p:cNvPr id="4" name="TextBox 3">
            <a:extLst>
              <a:ext uri="{FF2B5EF4-FFF2-40B4-BE49-F238E27FC236}">
                <a16:creationId xmlns:a16="http://schemas.microsoft.com/office/drawing/2014/main" id="{CA0B27D3-7B85-4485-A10E-AAC012A9B3BB}"/>
              </a:ext>
            </a:extLst>
          </p:cNvPr>
          <p:cNvSpPr txBox="1"/>
          <p:nvPr/>
        </p:nvSpPr>
        <p:spPr>
          <a:xfrm>
            <a:off x="478180" y="806896"/>
            <a:ext cx="11588314" cy="5632311"/>
          </a:xfrm>
          <a:prstGeom prst="rect">
            <a:avLst/>
          </a:prstGeom>
          <a:noFill/>
        </p:spPr>
        <p:txBody>
          <a:bodyPr wrap="square" rtlCol="0">
            <a:spAutoFit/>
          </a:bodyPr>
          <a:lstStyle/>
          <a:p>
            <a:r>
              <a:rPr lang="en-GB" dirty="0"/>
              <a:t>Checkpoint 2 (C2) is designed to give you time to integrate all the modules you completed in the previous milestones and an opportunity to practice the final demo. It integrates your work from M1 to M3 so that the robot can create a map of the arena containing the estimated poses of 10 </a:t>
            </a:r>
            <a:r>
              <a:rPr lang="en-GB" dirty="0" err="1"/>
              <a:t>ArUco</a:t>
            </a:r>
            <a:r>
              <a:rPr lang="en-GB" dirty="0"/>
              <a:t> markers (M1), 10 objects (M2), to then perform the grocery shopping task (M3).</a:t>
            </a:r>
          </a:p>
          <a:p>
            <a:br>
              <a:rPr lang="en-US" dirty="0"/>
            </a:br>
            <a:r>
              <a:rPr lang="en-US" b="1" dirty="0"/>
              <a:t>C2 is a practice run of the Final demo process.</a:t>
            </a:r>
            <a:r>
              <a:rPr lang="en-US" dirty="0"/>
              <a:t>	</a:t>
            </a:r>
          </a:p>
          <a:p>
            <a:br>
              <a:rPr lang="en-US" dirty="0"/>
            </a:br>
            <a:r>
              <a:rPr lang="en-US" dirty="0"/>
              <a:t>Final Demo Information:</a:t>
            </a:r>
          </a:p>
          <a:p>
            <a:pPr marL="342900" indent="-342900">
              <a:buFont typeface="Arial" panose="020B0604020202020204" pitchFamily="34" charset="0"/>
              <a:buChar char="•"/>
            </a:pPr>
            <a:r>
              <a:rPr lang="en-US" dirty="0"/>
              <a:t>The arena will always contain:</a:t>
            </a:r>
          </a:p>
          <a:p>
            <a:pPr marL="342900" indent="-342900">
              <a:buFont typeface="Arial" panose="020B0604020202020204" pitchFamily="34" charset="0"/>
              <a:buChar char="•"/>
            </a:pPr>
            <a:r>
              <a:rPr lang="en-US" dirty="0"/>
              <a:t>10 </a:t>
            </a:r>
            <a:r>
              <a:rPr lang="en-US" dirty="0" err="1"/>
              <a:t>ArUco</a:t>
            </a:r>
            <a:r>
              <a:rPr lang="en-US" dirty="0"/>
              <a:t> markers</a:t>
            </a:r>
          </a:p>
          <a:p>
            <a:pPr marL="342900" indent="-342900">
              <a:buFont typeface="Arial" panose="020B0604020202020204" pitchFamily="34" charset="0"/>
              <a:buChar char="•"/>
            </a:pPr>
            <a:r>
              <a:rPr lang="en-US" dirty="0"/>
              <a:t>5 unique </a:t>
            </a:r>
            <a:r>
              <a:rPr lang="en-US" dirty="0" err="1"/>
              <a:t>fruits&amp;vegs</a:t>
            </a:r>
            <a:r>
              <a:rPr lang="en-US" dirty="0"/>
              <a:t> as targets for navigation (given shopping list)</a:t>
            </a:r>
          </a:p>
          <a:p>
            <a:pPr marL="342900" indent="-342900">
              <a:buFont typeface="Arial" panose="020B0604020202020204" pitchFamily="34" charset="0"/>
              <a:buChar char="•"/>
            </a:pPr>
            <a:r>
              <a:rPr lang="en-US" dirty="0"/>
              <a:t>5 obstacle </a:t>
            </a:r>
            <a:r>
              <a:rPr lang="en-US" dirty="0" err="1"/>
              <a:t>fruits&amp;vegs</a:t>
            </a:r>
            <a:r>
              <a:rPr lang="en-US" dirty="0"/>
              <a:t> (can contain duplicates)</a:t>
            </a:r>
          </a:p>
          <a:p>
            <a:pPr marL="342900" indent="-342900">
              <a:buFont typeface="Arial" panose="020B0604020202020204" pitchFamily="34" charset="0"/>
              <a:buChar char="•"/>
            </a:pPr>
            <a:r>
              <a:rPr lang="en-US" dirty="0"/>
              <a:t>There are two evaluation components:</a:t>
            </a:r>
          </a:p>
          <a:p>
            <a:pPr marL="342900" indent="-342900">
              <a:buFont typeface="Arial" panose="020B0604020202020204" pitchFamily="34" charset="0"/>
              <a:buChar char="•"/>
            </a:pPr>
            <a:endParaRPr lang="en-US" dirty="0"/>
          </a:p>
          <a:p>
            <a:r>
              <a:rPr lang="en-US" dirty="0"/>
              <a:t>Final Demo Tasks:</a:t>
            </a:r>
          </a:p>
          <a:p>
            <a:pPr marL="342900" indent="-342900">
              <a:buFont typeface="Arial" panose="020B0604020202020204" pitchFamily="34" charset="0"/>
              <a:buChar char="•"/>
            </a:pPr>
            <a:r>
              <a:rPr lang="en-US" dirty="0"/>
              <a:t>Arena mapping (manual or fully-autonomous)</a:t>
            </a:r>
          </a:p>
          <a:p>
            <a:pPr marL="800100" lvl="1" indent="-342900">
              <a:buFont typeface="Arial" panose="020B0604020202020204" pitchFamily="34" charset="0"/>
              <a:buChar char="•"/>
            </a:pPr>
            <a:r>
              <a:rPr lang="en-US" dirty="0"/>
              <a:t>SLAM map</a:t>
            </a:r>
          </a:p>
          <a:p>
            <a:pPr marL="800100" lvl="1" indent="-342900">
              <a:buFont typeface="Arial" panose="020B0604020202020204" pitchFamily="34" charset="0"/>
              <a:buChar char="•"/>
            </a:pPr>
            <a:r>
              <a:rPr lang="en-US" dirty="0"/>
              <a:t>Target map</a:t>
            </a:r>
          </a:p>
          <a:p>
            <a:pPr marL="342900" indent="-342900">
              <a:buFont typeface="Arial" panose="020B0604020202020204" pitchFamily="34" charset="0"/>
              <a:buChar char="•"/>
            </a:pPr>
            <a:r>
              <a:rPr lang="en-US" dirty="0"/>
              <a:t>Grocery shopping / navigation: fully-autonomous navigation</a:t>
            </a:r>
          </a:p>
          <a:p>
            <a:pPr marL="342900" indent="-342900">
              <a:buFont typeface="Arial" panose="020B0604020202020204" pitchFamily="34" charset="0"/>
              <a:buChar char="•"/>
            </a:pPr>
            <a:r>
              <a:rPr lang="en-US" dirty="0"/>
              <a:t>Fully-autonomous mapping must be done simultaneously with navigation </a:t>
            </a:r>
          </a:p>
        </p:txBody>
      </p:sp>
    </p:spTree>
    <p:extLst>
      <p:ext uri="{BB962C8B-B14F-4D97-AF65-F5344CB8AC3E}">
        <p14:creationId xmlns:p14="http://schemas.microsoft.com/office/powerpoint/2010/main" val="12900507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94DD9-516C-98B7-53FA-D87F85565C76}"/>
            </a:ext>
          </a:extLst>
        </p:cNvPr>
        <p:cNvGrpSpPr/>
        <p:nvPr/>
      </p:nvGrpSpPr>
      <p:grpSpPr>
        <a:xfrm>
          <a:off x="0" y="0"/>
          <a:ext cx="0" cy="0"/>
          <a:chOff x="0" y="0"/>
          <a:chExt cx="0" cy="0"/>
        </a:xfrm>
      </p:grpSpPr>
      <p:sp>
        <p:nvSpPr>
          <p:cNvPr id="50" name="TextBox 49">
            <a:extLst>
              <a:ext uri="{FF2B5EF4-FFF2-40B4-BE49-F238E27FC236}">
                <a16:creationId xmlns:a16="http://schemas.microsoft.com/office/drawing/2014/main" id="{90F82F25-0B4D-E96D-FEE0-DA81A2AAB2CF}"/>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Levels</a:t>
            </a:r>
          </a:p>
        </p:txBody>
      </p:sp>
      <p:sp>
        <p:nvSpPr>
          <p:cNvPr id="4" name="TextBox 3">
            <a:extLst>
              <a:ext uri="{FF2B5EF4-FFF2-40B4-BE49-F238E27FC236}">
                <a16:creationId xmlns:a16="http://schemas.microsoft.com/office/drawing/2014/main" id="{5FF8DFD6-A6C5-B7AB-C354-3B206B693582}"/>
              </a:ext>
            </a:extLst>
          </p:cNvPr>
          <p:cNvSpPr txBox="1"/>
          <p:nvPr/>
        </p:nvSpPr>
        <p:spPr>
          <a:xfrm>
            <a:off x="478180" y="806896"/>
            <a:ext cx="11588314" cy="5355312"/>
          </a:xfrm>
          <a:prstGeom prst="rect">
            <a:avLst/>
          </a:prstGeom>
          <a:noFill/>
        </p:spPr>
        <p:txBody>
          <a:bodyPr wrap="square" rtlCol="0">
            <a:spAutoFit/>
          </a:bodyPr>
          <a:lstStyle/>
          <a:p>
            <a:r>
              <a:rPr lang="en-GB" dirty="0"/>
              <a:t>The task is separated into three task levels, these levels are:</a:t>
            </a:r>
          </a:p>
          <a:p>
            <a:pPr marL="285750" indent="-285750">
              <a:buFont typeface="Arial" panose="020B0604020202020204" pitchFamily="34" charset="0"/>
              <a:buChar char="•"/>
            </a:pPr>
            <a:r>
              <a:rPr lang="en-GB" dirty="0"/>
              <a:t>Level 1: Manual Mapping and Fully-Autonomous Navigation </a:t>
            </a:r>
          </a:p>
          <a:p>
            <a:pPr marL="742950" lvl="1" indent="-285750">
              <a:buFont typeface="Arial" panose="020B0604020202020204" pitchFamily="34" charset="0"/>
              <a:buChar char="•"/>
            </a:pPr>
            <a:r>
              <a:rPr lang="en-GB" dirty="0"/>
              <a:t>The robot can be teleoperated for the Mapping task</a:t>
            </a:r>
          </a:p>
          <a:p>
            <a:pPr marL="742950" lvl="1" indent="-285750">
              <a:buFont typeface="Arial" panose="020B0604020202020204" pitchFamily="34" charset="0"/>
              <a:buChar char="•"/>
            </a:pPr>
            <a:r>
              <a:rPr lang="en-GB" dirty="0"/>
              <a:t>The robot must navigate around the arena autonomously</a:t>
            </a:r>
          </a:p>
          <a:p>
            <a:pPr marL="742950" lvl="1" indent="-285750">
              <a:buFont typeface="Arial" panose="020B0604020202020204" pitchFamily="34" charset="0"/>
              <a:buChar char="•"/>
            </a:pPr>
            <a:r>
              <a:rPr lang="en-GB" dirty="0"/>
              <a:t>You must navigate to targets on the shopping list in the specified order</a:t>
            </a:r>
          </a:p>
          <a:p>
            <a:pPr marL="742950" lvl="1"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Level 2: Manual Mapping and Fully-Autonomous Navigation with Swapped Objects</a:t>
            </a:r>
          </a:p>
          <a:p>
            <a:pPr marL="742950" lvl="1" indent="-285750">
              <a:buFont typeface="Arial" panose="020B0604020202020204" pitchFamily="34" charset="0"/>
              <a:buChar char="•"/>
            </a:pPr>
            <a:r>
              <a:rPr lang="en-GB" dirty="0"/>
              <a:t>The robot can be teleoperated for the Mapping task</a:t>
            </a:r>
          </a:p>
          <a:p>
            <a:pPr marL="742950" lvl="1" indent="-285750">
              <a:buFont typeface="Arial" panose="020B0604020202020204" pitchFamily="34" charset="0"/>
              <a:buChar char="•"/>
            </a:pPr>
            <a:r>
              <a:rPr lang="en-GB" dirty="0"/>
              <a:t>The robot must navigate around the arena autonomously</a:t>
            </a:r>
          </a:p>
          <a:p>
            <a:pPr marL="742950" lvl="1" indent="-285750">
              <a:buFont typeface="Arial" panose="020B0604020202020204" pitchFamily="34" charset="0"/>
              <a:buChar char="•"/>
            </a:pPr>
            <a:r>
              <a:rPr lang="en-GB" dirty="0"/>
              <a:t>After mapping occurs, target and/or obstacles objects will change locations</a:t>
            </a:r>
          </a:p>
          <a:p>
            <a:pPr marL="742950" lvl="1" indent="-285750">
              <a:buFont typeface="Arial" panose="020B0604020202020204" pitchFamily="34" charset="0"/>
              <a:buChar char="•"/>
            </a:pPr>
            <a:r>
              <a:rPr lang="en-GB" dirty="0"/>
              <a:t>You must navigate to targets on the shopping list in the specified order</a:t>
            </a:r>
          </a:p>
          <a:p>
            <a:pPr marL="742950" lvl="1"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Level 3: Fully-Autonomous Mapping and Navigation</a:t>
            </a:r>
          </a:p>
          <a:p>
            <a:pPr marL="742950" lvl="1" indent="-285750">
              <a:buFont typeface="Arial" panose="020B0604020202020204" pitchFamily="34" charset="0"/>
              <a:buChar char="•"/>
            </a:pPr>
            <a:r>
              <a:rPr lang="en-GB" dirty="0"/>
              <a:t>The robot performs simultaneous mapping and navigation around the arena autonomously</a:t>
            </a:r>
          </a:p>
          <a:p>
            <a:pPr marL="742950" lvl="1" indent="-285750">
              <a:buFont typeface="Arial" panose="020B0604020202020204" pitchFamily="34" charset="0"/>
              <a:buChar char="•"/>
            </a:pPr>
            <a:r>
              <a:rPr lang="en-GB" dirty="0"/>
              <a:t>You may navigate to objects in any order</a:t>
            </a:r>
          </a:p>
          <a:p>
            <a:pPr marL="742950" lvl="1" indent="-285750">
              <a:buFont typeface="Arial" panose="020B0604020202020204" pitchFamily="34" charset="0"/>
              <a:buChar char="•"/>
            </a:pPr>
            <a:r>
              <a:rPr lang="en-GB" dirty="0"/>
              <a:t>You are still provided a shopping list, but you do not need to navigate to the targets in the same order as the list. Due to the removal of shopping list order, you must clearly indicate if the robot is stopping for an object by printing the label of the specified object to terminal and notifying the TA of the robot's intention to stop at the specific target. </a:t>
            </a:r>
            <a:endParaRPr lang="en-US" dirty="0"/>
          </a:p>
        </p:txBody>
      </p:sp>
    </p:spTree>
    <p:extLst>
      <p:ext uri="{BB962C8B-B14F-4D97-AF65-F5344CB8AC3E}">
        <p14:creationId xmlns:p14="http://schemas.microsoft.com/office/powerpoint/2010/main" val="2673768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11336318" cy="3416320"/>
          </a:xfrm>
          <a:prstGeom prst="rect">
            <a:avLst/>
          </a:prstGeom>
          <a:noFill/>
        </p:spPr>
        <p:txBody>
          <a:bodyPr wrap="square" rtlCol="0">
            <a:spAutoFit/>
          </a:bodyPr>
          <a:lstStyle/>
          <a:p>
            <a:r>
              <a:rPr lang="en-AU" dirty="0"/>
              <a:t>Practice </a:t>
            </a:r>
            <a:r>
              <a:rPr lang="en-AU" dirty="0" err="1"/>
              <a:t>practice</a:t>
            </a:r>
            <a:r>
              <a:rPr lang="en-AU" dirty="0"/>
              <a:t> </a:t>
            </a:r>
            <a:r>
              <a:rPr lang="en-AU" dirty="0" err="1"/>
              <a:t>practice</a:t>
            </a:r>
            <a:r>
              <a:rPr lang="en-AU" dirty="0"/>
              <a:t>! (again)</a:t>
            </a:r>
          </a:p>
          <a:p>
            <a:pPr marL="285750" indent="-285750">
              <a:buFont typeface="Arial" panose="020B0604020202020204" pitchFamily="34" charset="0"/>
              <a:buChar char="•"/>
            </a:pPr>
            <a:r>
              <a:rPr lang="en-AU" dirty="0"/>
              <a:t>The easiest and most influential recommendation.</a:t>
            </a:r>
          </a:p>
          <a:p>
            <a:pPr marL="285750" indent="-285750">
              <a:buFont typeface="Arial" panose="020B0604020202020204" pitchFamily="34" charset="0"/>
              <a:buChar char="•"/>
            </a:pPr>
            <a:r>
              <a:rPr lang="en-AU" dirty="0"/>
              <a:t>Remember this ALSO includes setting up the environment as quick as you can.</a:t>
            </a:r>
          </a:p>
          <a:p>
            <a:pPr marL="285750" indent="-285750">
              <a:buFont typeface="Arial" panose="020B0604020202020204" pitchFamily="34" charset="0"/>
              <a:buChar char="•"/>
            </a:pPr>
            <a:r>
              <a:rPr lang="en-AU" dirty="0"/>
              <a:t>Try and practice on a wide range of maps whilst trying your best to replicate the EXACT same 	conditions you will be performing the live demo under.</a:t>
            </a:r>
          </a:p>
          <a:p>
            <a:endParaRPr lang="en-AU" dirty="0"/>
          </a:p>
          <a:p>
            <a:r>
              <a:rPr lang="en-AU" dirty="0"/>
              <a:t>Develop, plan and discuss a strategy </a:t>
            </a:r>
          </a:p>
          <a:p>
            <a:pPr marL="285750" indent="-285750">
              <a:buFont typeface="Arial" panose="020B0604020202020204" pitchFamily="34" charset="0"/>
              <a:buChar char="•"/>
            </a:pPr>
            <a:r>
              <a:rPr lang="en-AU" dirty="0"/>
              <a:t>Try and find a “meta” strategy that will give you the most marks in the limited live demo time</a:t>
            </a:r>
          </a:p>
          <a:p>
            <a:pPr marL="285750" indent="-285750">
              <a:buFont typeface="Arial" panose="020B0604020202020204" pitchFamily="34" charset="0"/>
              <a:buChar char="•"/>
            </a:pPr>
            <a:r>
              <a:rPr lang="en-AU" dirty="0"/>
              <a:t>Is it better to brute force the task with many fast attempts as possible? Or is it better to try and take it slow and be more consistent? </a:t>
            </a:r>
          </a:p>
          <a:p>
            <a:pPr marL="285750" indent="-285750">
              <a:buFont typeface="Arial" panose="020B0604020202020204" pitchFamily="34" charset="0"/>
              <a:buChar char="•"/>
            </a:pPr>
            <a:r>
              <a:rPr lang="en-AU" dirty="0"/>
              <a:t>Is there a specific driving strategy you should follow when mapping the arena?</a:t>
            </a:r>
          </a:p>
          <a:p>
            <a:pPr marL="285750" indent="-285750">
              <a:buFont typeface="Arial" panose="020B0604020202020204" pitchFamily="34" charset="0"/>
              <a:buChar char="•"/>
            </a:pPr>
            <a:r>
              <a:rPr lang="en-AU" dirty="0"/>
              <a:t>Discuss and solidify a plan with your group with what kind of strategy you should use.</a:t>
            </a:r>
          </a:p>
        </p:txBody>
      </p:sp>
    </p:spTree>
    <p:extLst>
      <p:ext uri="{BB962C8B-B14F-4D97-AF65-F5344CB8AC3E}">
        <p14:creationId xmlns:p14="http://schemas.microsoft.com/office/powerpoint/2010/main" val="4886157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 (optional)</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8338922" cy="2585323"/>
          </a:xfrm>
          <a:prstGeom prst="rect">
            <a:avLst/>
          </a:prstGeom>
          <a:noFill/>
        </p:spPr>
        <p:txBody>
          <a:bodyPr wrap="square" rtlCol="0">
            <a:spAutoFit/>
          </a:bodyPr>
          <a:lstStyle/>
          <a:p>
            <a:r>
              <a:rPr lang="en-AU" dirty="0"/>
              <a:t>- Improved GUI</a:t>
            </a:r>
          </a:p>
          <a:p>
            <a:r>
              <a:rPr lang="en-AU" dirty="0"/>
              <a:t>	</a:t>
            </a:r>
          </a:p>
          <a:p>
            <a:r>
              <a:rPr lang="en-AU" dirty="0"/>
              <a:t>	An improved GUI can really help out the mapping and navigation</a:t>
            </a:r>
            <a:br>
              <a:rPr lang="en-AU" dirty="0"/>
            </a:br>
            <a:endParaRPr lang="en-AU" dirty="0"/>
          </a:p>
          <a:p>
            <a:r>
              <a:rPr lang="en-AU" dirty="0"/>
              <a:t>	Rendering the trajectory on screen can be helpful to check early on if the 	generated path of the robot is a viable one (and for you to decide if you 	want to go ahead with this path / waypoint or to generate a new one 	before starting the navigation)</a:t>
            </a:r>
          </a:p>
          <a:p>
            <a:endParaRPr lang="en-AU" dirty="0"/>
          </a:p>
        </p:txBody>
      </p:sp>
      <p:pic>
        <p:nvPicPr>
          <p:cNvPr id="2" name="Picture 1">
            <a:extLst>
              <a:ext uri="{FF2B5EF4-FFF2-40B4-BE49-F238E27FC236}">
                <a16:creationId xmlns:a16="http://schemas.microsoft.com/office/drawing/2014/main" id="{1FC471D2-F34F-4AB8-4F0A-101C3579C249}"/>
              </a:ext>
            </a:extLst>
          </p:cNvPr>
          <p:cNvPicPr>
            <a:picLocks noChangeAspect="1"/>
          </p:cNvPicPr>
          <p:nvPr/>
        </p:nvPicPr>
        <p:blipFill rotWithShape="1">
          <a:blip r:embed="rId2"/>
          <a:srcRect l="3992" t="24240" r="30113" b="4397"/>
          <a:stretch/>
        </p:blipFill>
        <p:spPr>
          <a:xfrm>
            <a:off x="9005853" y="1104222"/>
            <a:ext cx="2989039" cy="3377672"/>
          </a:xfrm>
          <a:prstGeom prst="rect">
            <a:avLst/>
          </a:prstGeom>
        </p:spPr>
      </p:pic>
      <p:sp>
        <p:nvSpPr>
          <p:cNvPr id="4" name="TextBox 3">
            <a:extLst>
              <a:ext uri="{FF2B5EF4-FFF2-40B4-BE49-F238E27FC236}">
                <a16:creationId xmlns:a16="http://schemas.microsoft.com/office/drawing/2014/main" id="{E8BC462E-8726-5A8C-B7B7-50DDBF4F072B}"/>
              </a:ext>
            </a:extLst>
          </p:cNvPr>
          <p:cNvSpPr txBox="1"/>
          <p:nvPr/>
        </p:nvSpPr>
        <p:spPr>
          <a:xfrm>
            <a:off x="666931" y="4481894"/>
            <a:ext cx="11256930" cy="1754326"/>
          </a:xfrm>
          <a:prstGeom prst="rect">
            <a:avLst/>
          </a:prstGeom>
          <a:noFill/>
        </p:spPr>
        <p:txBody>
          <a:bodyPr wrap="square">
            <a:spAutoFit/>
          </a:bodyPr>
          <a:lstStyle/>
          <a:p>
            <a:endParaRPr lang="en-AU" dirty="0"/>
          </a:p>
          <a:p>
            <a:r>
              <a:rPr lang="en-AU" dirty="0"/>
              <a:t>- Path planning selection </a:t>
            </a:r>
            <a:br>
              <a:rPr lang="en-AU" dirty="0"/>
            </a:br>
            <a:r>
              <a:rPr lang="en-AU" dirty="0"/>
              <a:t>	If you are using a stochastic path planning algorithm (or multiple path planning algorithms), it may  	be beneficial to initially generate multiple potential trajectories which the robot can select from</a:t>
            </a:r>
          </a:p>
          <a:p>
            <a:br>
              <a:rPr lang="en-AU" dirty="0"/>
            </a:br>
            <a:r>
              <a:rPr lang="en-AU" dirty="0"/>
              <a:t>	Remember, you can only press ONE button to start your script</a:t>
            </a:r>
          </a:p>
        </p:txBody>
      </p:sp>
    </p:spTree>
    <p:extLst>
      <p:ext uri="{BB962C8B-B14F-4D97-AF65-F5344CB8AC3E}">
        <p14:creationId xmlns:p14="http://schemas.microsoft.com/office/powerpoint/2010/main" val="39366243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172557"/>
            <a:ext cx="11713820" cy="830997"/>
          </a:xfrm>
          <a:prstGeom prst="rect">
            <a:avLst/>
          </a:prstGeom>
          <a:noFill/>
        </p:spPr>
        <p:txBody>
          <a:bodyPr wrap="square" rtlCol="0">
            <a:spAutoFit/>
          </a:bodyPr>
          <a:lstStyle/>
          <a:p>
            <a:pPr algn="ctr"/>
            <a:r>
              <a:rPr lang="en-AU" sz="4800" dirty="0"/>
              <a:t>Additional recommendations (optional)</a:t>
            </a:r>
          </a:p>
        </p:txBody>
      </p:sp>
      <p:sp>
        <p:nvSpPr>
          <p:cNvPr id="51" name="TextBox 50">
            <a:extLst>
              <a:ext uri="{FF2B5EF4-FFF2-40B4-BE49-F238E27FC236}">
                <a16:creationId xmlns:a16="http://schemas.microsoft.com/office/drawing/2014/main" id="{23C81F35-1469-4804-9BCB-5A04321DD9C5}"/>
              </a:ext>
            </a:extLst>
          </p:cNvPr>
          <p:cNvSpPr txBox="1"/>
          <p:nvPr/>
        </p:nvSpPr>
        <p:spPr>
          <a:xfrm>
            <a:off x="666931" y="1104222"/>
            <a:ext cx="11387610" cy="4247317"/>
          </a:xfrm>
          <a:prstGeom prst="rect">
            <a:avLst/>
          </a:prstGeom>
          <a:noFill/>
        </p:spPr>
        <p:txBody>
          <a:bodyPr wrap="square" rtlCol="0">
            <a:spAutoFit/>
          </a:bodyPr>
          <a:lstStyle/>
          <a:p>
            <a:r>
              <a:rPr lang="en-AU" dirty="0"/>
              <a:t>- Waypoint thresholding</a:t>
            </a:r>
          </a:p>
          <a:p>
            <a:r>
              <a:rPr lang="en-AU" dirty="0"/>
              <a:t>	You can set an appropriate threshold so the robot doesn’t have to get too close to a waypoint point 	and get fixated at trying to do so</a:t>
            </a:r>
          </a:p>
          <a:p>
            <a:br>
              <a:rPr lang="en-AU" dirty="0"/>
            </a:br>
            <a:r>
              <a:rPr lang="en-AU" dirty="0"/>
              <a:t>	If this fixation is due to the robot thinking it “teleported” due to an update of its position from seeing 	an </a:t>
            </a:r>
            <a:r>
              <a:rPr lang="en-AU" dirty="0" err="1"/>
              <a:t>ArUco</a:t>
            </a:r>
            <a:r>
              <a:rPr lang="en-AU" dirty="0"/>
              <a:t> marker, then you may need to decrease the uncertainty in the predict step so it relies on 	the robot’s dynamics a bit more </a:t>
            </a:r>
          </a:p>
          <a:p>
            <a:endParaRPr lang="en-AU" dirty="0"/>
          </a:p>
          <a:p>
            <a:endParaRPr lang="en-AU" dirty="0"/>
          </a:p>
          <a:p>
            <a:endParaRPr lang="en-AU" dirty="0"/>
          </a:p>
          <a:p>
            <a:r>
              <a:rPr lang="en-AU" dirty="0"/>
              <a:t>Remember, the skeleton codes are for reference only and you’ll have to improve the codes or write your own to get better marks. As long as your codes perform the task and generate estimation maps that can be marked according to the evaluation schemes and scripts you are free to modify the skeleton codes.</a:t>
            </a:r>
          </a:p>
          <a:p>
            <a:endParaRPr lang="en-AU" dirty="0"/>
          </a:p>
          <a:p>
            <a:endParaRPr lang="en-AU" dirty="0"/>
          </a:p>
        </p:txBody>
      </p:sp>
    </p:spTree>
    <p:extLst>
      <p:ext uri="{BB962C8B-B14F-4D97-AF65-F5344CB8AC3E}">
        <p14:creationId xmlns:p14="http://schemas.microsoft.com/office/powerpoint/2010/main" val="2468866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BF948A99-782B-4139-A61F-6C2663DAEB76}"/>
              </a:ext>
            </a:extLst>
          </p:cNvPr>
          <p:cNvSpPr txBox="1"/>
          <p:nvPr/>
        </p:nvSpPr>
        <p:spPr>
          <a:xfrm>
            <a:off x="478180" y="7379"/>
            <a:ext cx="11713820" cy="830997"/>
          </a:xfrm>
          <a:prstGeom prst="rect">
            <a:avLst/>
          </a:prstGeom>
          <a:noFill/>
        </p:spPr>
        <p:txBody>
          <a:bodyPr wrap="square" rtlCol="0">
            <a:spAutoFit/>
          </a:bodyPr>
          <a:lstStyle/>
          <a:p>
            <a:pPr algn="ctr"/>
            <a:r>
              <a:rPr lang="en-AU" sz="4800" dirty="0"/>
              <a:t>Final Demo: Evaluation</a:t>
            </a:r>
          </a:p>
        </p:txBody>
      </p:sp>
      <p:sp>
        <p:nvSpPr>
          <p:cNvPr id="4" name="TextBox 3">
            <a:extLst>
              <a:ext uri="{FF2B5EF4-FFF2-40B4-BE49-F238E27FC236}">
                <a16:creationId xmlns:a16="http://schemas.microsoft.com/office/drawing/2014/main" id="{CA0B27D3-7B85-4485-A10E-AAC012A9B3BB}"/>
              </a:ext>
            </a:extLst>
          </p:cNvPr>
          <p:cNvSpPr txBox="1"/>
          <p:nvPr/>
        </p:nvSpPr>
        <p:spPr>
          <a:xfrm>
            <a:off x="478180" y="723232"/>
            <a:ext cx="11588314" cy="646331"/>
          </a:xfrm>
          <a:prstGeom prst="rect">
            <a:avLst/>
          </a:prstGeom>
          <a:noFill/>
        </p:spPr>
        <p:txBody>
          <a:bodyPr wrap="square" rtlCol="0">
            <a:spAutoFit/>
          </a:bodyPr>
          <a:lstStyle/>
          <a:p>
            <a:pPr algn="ctr"/>
            <a:r>
              <a:rPr lang="en-AU" sz="3600" dirty="0"/>
              <a:t>To be added later</a:t>
            </a:r>
            <a:endParaRPr lang="en-US" sz="3600" dirty="0"/>
          </a:p>
        </p:txBody>
      </p:sp>
    </p:spTree>
    <p:extLst>
      <p:ext uri="{BB962C8B-B14F-4D97-AF65-F5344CB8AC3E}">
        <p14:creationId xmlns:p14="http://schemas.microsoft.com/office/powerpoint/2010/main" val="996172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2353</TotalTime>
  <Words>938</Words>
  <Application>Microsoft Office PowerPoint</Application>
  <PresentationFormat>Widescreen</PresentationFormat>
  <Paragraphs>102</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Century Schoolbook</vt:lpstr>
      <vt:lpstr>Wingdings 2</vt: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Kal</dc:creator>
  <cp:lastModifiedBy>Aaron Choong</cp:lastModifiedBy>
  <cp:revision>381</cp:revision>
  <dcterms:created xsi:type="dcterms:W3CDTF">2020-08-07T03:38:28Z</dcterms:created>
  <dcterms:modified xsi:type="dcterms:W3CDTF">2025-09-22T18:44:50Z</dcterms:modified>
</cp:coreProperties>
</file>