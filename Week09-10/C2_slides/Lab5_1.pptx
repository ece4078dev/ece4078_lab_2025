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2"/>
  </p:notesMasterIdLst>
  <p:sldIdLst>
    <p:sldId id="299" r:id="rId2"/>
    <p:sldId id="302" r:id="rId3"/>
    <p:sldId id="279" r:id="rId4"/>
    <p:sldId id="275" r:id="rId5"/>
    <p:sldId id="303" r:id="rId6"/>
    <p:sldId id="265" r:id="rId7"/>
    <p:sldId id="300" r:id="rId8"/>
    <p:sldId id="301" r:id="rId9"/>
    <p:sldId id="295" r:id="rId10"/>
    <p:sldId id="280"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62" autoAdjust="0"/>
    <p:restoredTop sz="94660"/>
  </p:normalViewPr>
  <p:slideViewPr>
    <p:cSldViewPr snapToGrid="0">
      <p:cViewPr varScale="1">
        <p:scale>
          <a:sx n="74" d="100"/>
          <a:sy n="74" d="100"/>
        </p:scale>
        <p:origin x="35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407A57-47BC-45C1-B9EB-906F4463B0AB}" type="datetimeFigureOut">
              <a:rPr lang="en-AU" smtClean="0"/>
              <a:t>22/09/2025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57838D7-8F53-414D-A178-F59763C42603}" type="slidenum">
              <a:rPr lang="en-AU" smtClean="0"/>
              <a:t>‹#›</a:t>
            </a:fld>
            <a:endParaRPr lang="en-AU"/>
          </a:p>
        </p:txBody>
      </p:sp>
    </p:spTree>
    <p:extLst>
      <p:ext uri="{BB962C8B-B14F-4D97-AF65-F5344CB8AC3E}">
        <p14:creationId xmlns:p14="http://schemas.microsoft.com/office/powerpoint/2010/main" val="2333873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1205BC88-DBF0-4610-A802-A09E0A6ECD22}" type="datetimeFigureOut">
              <a:rPr lang="en-AU" smtClean="0"/>
              <a:t>22/09/2025</a:t>
            </a:fld>
            <a:endParaRPr lang="en-AU"/>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AU"/>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A66E8694-4F18-4E32-9A46-A94098D129B3}" type="slidenum">
              <a:rPr lang="en-AU" smtClean="0"/>
              <a:t>‹#›</a:t>
            </a:fld>
            <a:endParaRPr lang="en-AU"/>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Tree>
    <p:extLst>
      <p:ext uri="{BB962C8B-B14F-4D97-AF65-F5344CB8AC3E}">
        <p14:creationId xmlns:p14="http://schemas.microsoft.com/office/powerpoint/2010/main" val="804540178"/>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05BC88-DBF0-4610-A802-A09E0A6ECD22}" type="datetimeFigureOut">
              <a:rPr lang="en-AU" smtClean="0"/>
              <a:t>22/09/2025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66E8694-4F18-4E32-9A46-A94098D129B3}" type="slidenum">
              <a:rPr lang="en-AU" smtClean="0"/>
              <a:t>‹#›</a:t>
            </a:fld>
            <a:endParaRPr lang="en-AU"/>
          </a:p>
        </p:txBody>
      </p:sp>
    </p:spTree>
    <p:extLst>
      <p:ext uri="{BB962C8B-B14F-4D97-AF65-F5344CB8AC3E}">
        <p14:creationId xmlns:p14="http://schemas.microsoft.com/office/powerpoint/2010/main" val="24161071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205BC88-DBF0-4610-A802-A09E0A6ECD22}" type="datetimeFigureOut">
              <a:rPr lang="en-AU" smtClean="0"/>
              <a:t>22/09/2025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66E8694-4F18-4E32-9A46-A94098D129B3}" type="slidenum">
              <a:rPr lang="en-AU" smtClean="0"/>
              <a:t>‹#›</a:t>
            </a:fld>
            <a:endParaRPr lang="en-AU"/>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777182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205BC88-DBF0-4610-A802-A09E0A6ECD22}" type="datetimeFigureOut">
              <a:rPr lang="en-AU" smtClean="0"/>
              <a:t>22/09/2025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66E8694-4F18-4E32-9A46-A94098D129B3}" type="slidenum">
              <a:rPr lang="en-AU" smtClean="0"/>
              <a:t>‹#›</a:t>
            </a:fld>
            <a:endParaRPr lang="en-AU"/>
          </a:p>
        </p:txBody>
      </p:sp>
    </p:spTree>
    <p:extLst>
      <p:ext uri="{BB962C8B-B14F-4D97-AF65-F5344CB8AC3E}">
        <p14:creationId xmlns:p14="http://schemas.microsoft.com/office/powerpoint/2010/main" val="29076581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205BC88-DBF0-4610-A802-A09E0A6ECD22}" type="datetimeFigureOut">
              <a:rPr lang="en-AU" smtClean="0"/>
              <a:t>22/09/2025</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A66E8694-4F18-4E32-9A46-A94098D129B3}" type="slidenum">
              <a:rPr lang="en-AU" smtClean="0"/>
              <a:t>‹#›</a:t>
            </a:fld>
            <a:endParaRPr lang="en-AU"/>
          </a:p>
        </p:txBody>
      </p:sp>
    </p:spTree>
    <p:extLst>
      <p:ext uri="{BB962C8B-B14F-4D97-AF65-F5344CB8AC3E}">
        <p14:creationId xmlns:p14="http://schemas.microsoft.com/office/powerpoint/2010/main" val="5243782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205BC88-DBF0-4610-A802-A09E0A6ECD22}" type="datetimeFigureOut">
              <a:rPr lang="en-AU" smtClean="0"/>
              <a:t>22/09/2025</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A66E8694-4F18-4E32-9A46-A94098D129B3}" type="slidenum">
              <a:rPr lang="en-AU" smtClean="0"/>
              <a:t>‹#›</a:t>
            </a:fld>
            <a:endParaRPr lang="en-AU"/>
          </a:p>
        </p:txBody>
      </p:sp>
    </p:spTree>
    <p:extLst>
      <p:ext uri="{BB962C8B-B14F-4D97-AF65-F5344CB8AC3E}">
        <p14:creationId xmlns:p14="http://schemas.microsoft.com/office/powerpoint/2010/main" val="36752908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205BC88-DBF0-4610-A802-A09E0A6ECD22}" type="datetimeFigureOut">
              <a:rPr lang="en-AU" smtClean="0"/>
              <a:t>22/09/2025</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A66E8694-4F18-4E32-9A46-A94098D129B3}" type="slidenum">
              <a:rPr lang="en-AU" smtClean="0"/>
              <a:t>‹#›</a:t>
            </a:fld>
            <a:endParaRPr lang="en-AU"/>
          </a:p>
        </p:txBody>
      </p:sp>
    </p:spTree>
    <p:extLst>
      <p:ext uri="{BB962C8B-B14F-4D97-AF65-F5344CB8AC3E}">
        <p14:creationId xmlns:p14="http://schemas.microsoft.com/office/powerpoint/2010/main" val="31679538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05BC88-DBF0-4610-A802-A09E0A6ECD22}" type="datetimeFigureOut">
              <a:rPr lang="en-AU" smtClean="0"/>
              <a:t>22/09/2025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66E8694-4F18-4E32-9A46-A94098D129B3}" type="slidenum">
              <a:rPr lang="en-AU" smtClean="0"/>
              <a:t>‹#›</a:t>
            </a:fld>
            <a:endParaRPr lang="en-AU"/>
          </a:p>
        </p:txBody>
      </p:sp>
    </p:spTree>
    <p:extLst>
      <p:ext uri="{BB962C8B-B14F-4D97-AF65-F5344CB8AC3E}">
        <p14:creationId xmlns:p14="http://schemas.microsoft.com/office/powerpoint/2010/main" val="26261842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205BC88-DBF0-4610-A802-A09E0A6ECD22}" type="datetimeFigureOut">
              <a:rPr lang="en-AU" smtClean="0"/>
              <a:t>22/09/2025</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66E8694-4F18-4E32-9A46-A94098D129B3}" type="slidenum">
              <a:rPr lang="en-AU" smtClean="0"/>
              <a:t>‹#›</a:t>
            </a:fld>
            <a:endParaRPr lang="en-AU"/>
          </a:p>
        </p:txBody>
      </p:sp>
    </p:spTree>
    <p:extLst>
      <p:ext uri="{BB962C8B-B14F-4D97-AF65-F5344CB8AC3E}">
        <p14:creationId xmlns:p14="http://schemas.microsoft.com/office/powerpoint/2010/main" val="290205363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05BC88-DBF0-4610-A802-A09E0A6ECD22}" type="datetimeFigureOut">
              <a:rPr lang="en-AU" smtClean="0"/>
              <a:t>22/09/2025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66E8694-4F18-4E32-9A46-A94098D129B3}" type="slidenum">
              <a:rPr lang="en-AU" smtClean="0"/>
              <a:t>‹#›</a:t>
            </a:fld>
            <a:endParaRPr lang="en-AU"/>
          </a:p>
        </p:txBody>
      </p:sp>
    </p:spTree>
    <p:extLst>
      <p:ext uri="{BB962C8B-B14F-4D97-AF65-F5344CB8AC3E}">
        <p14:creationId xmlns:p14="http://schemas.microsoft.com/office/powerpoint/2010/main" val="400047397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05BC88-DBF0-4610-A802-A09E0A6ECD22}" type="datetimeFigureOut">
              <a:rPr lang="en-AU" smtClean="0"/>
              <a:t>22/09/2025</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66E8694-4F18-4E32-9A46-A94098D129B3}" type="slidenum">
              <a:rPr lang="en-AU" smtClean="0"/>
              <a:t>‹#›</a:t>
            </a:fld>
            <a:endParaRPr lang="en-AU"/>
          </a:p>
        </p:txBody>
      </p:sp>
    </p:spTree>
    <p:extLst>
      <p:ext uri="{BB962C8B-B14F-4D97-AF65-F5344CB8AC3E}">
        <p14:creationId xmlns:p14="http://schemas.microsoft.com/office/powerpoint/2010/main" val="20964729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AU"/>
          </a:p>
        </p:txBody>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1205BC88-DBF0-4610-A802-A09E0A6ECD22}" type="datetimeFigureOut">
              <a:rPr lang="en-AU" smtClean="0"/>
              <a:t>22/09/2025</a:t>
            </a:fld>
            <a:endParaRPr lang="en-AU"/>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AU"/>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A66E8694-4F18-4E32-9A46-A94098D129B3}" type="slidenum">
              <a:rPr lang="en-AU" smtClean="0"/>
              <a:t>‹#›</a:t>
            </a:fld>
            <a:endParaRPr lang="en-AU"/>
          </a:p>
        </p:txBody>
      </p:sp>
    </p:spTree>
    <p:extLst>
      <p:ext uri="{BB962C8B-B14F-4D97-AF65-F5344CB8AC3E}">
        <p14:creationId xmlns:p14="http://schemas.microsoft.com/office/powerpoint/2010/main" val="4018094817"/>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www.craiyon.com/" TargetMode="External"/><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BF948A99-782B-4139-A61F-6C2663DAEB76}"/>
              </a:ext>
            </a:extLst>
          </p:cNvPr>
          <p:cNvSpPr txBox="1"/>
          <p:nvPr/>
        </p:nvSpPr>
        <p:spPr>
          <a:xfrm>
            <a:off x="478180" y="172557"/>
            <a:ext cx="11713820" cy="830997"/>
          </a:xfrm>
          <a:prstGeom prst="rect">
            <a:avLst/>
          </a:prstGeom>
          <a:noFill/>
        </p:spPr>
        <p:txBody>
          <a:bodyPr wrap="square" rtlCol="0">
            <a:spAutoFit/>
          </a:bodyPr>
          <a:lstStyle/>
          <a:p>
            <a:pPr algn="ctr"/>
            <a:r>
              <a:rPr lang="en-AU" sz="4800" dirty="0"/>
              <a:t>ECE4078  Intelligent robotics</a:t>
            </a:r>
          </a:p>
        </p:txBody>
      </p:sp>
      <p:sp>
        <p:nvSpPr>
          <p:cNvPr id="4" name="TextBox 3">
            <a:extLst>
              <a:ext uri="{FF2B5EF4-FFF2-40B4-BE49-F238E27FC236}">
                <a16:creationId xmlns:a16="http://schemas.microsoft.com/office/drawing/2014/main" id="{BFDE73F0-7AA3-4E8C-BC34-28C4D2A791F6}"/>
              </a:ext>
            </a:extLst>
          </p:cNvPr>
          <p:cNvSpPr txBox="1"/>
          <p:nvPr/>
        </p:nvSpPr>
        <p:spPr>
          <a:xfrm>
            <a:off x="735188" y="6316111"/>
            <a:ext cx="10721625" cy="369332"/>
          </a:xfrm>
          <a:prstGeom prst="rect">
            <a:avLst/>
          </a:prstGeom>
          <a:noFill/>
        </p:spPr>
        <p:txBody>
          <a:bodyPr wrap="square" rtlCol="0">
            <a:spAutoFit/>
          </a:bodyPr>
          <a:lstStyle/>
          <a:p>
            <a:pPr algn="ctr"/>
            <a:r>
              <a:rPr lang="en-US" dirty="0"/>
              <a:t>Lab 5: Integrated System</a:t>
            </a:r>
            <a:endParaRPr lang="en-AU" dirty="0"/>
          </a:p>
        </p:txBody>
      </p:sp>
      <p:pic>
        <p:nvPicPr>
          <p:cNvPr id="2" name="Picture 1" descr="A robot standing in a store&#10;&#10;Description automatically generated">
            <a:extLst>
              <a:ext uri="{FF2B5EF4-FFF2-40B4-BE49-F238E27FC236}">
                <a16:creationId xmlns:a16="http://schemas.microsoft.com/office/drawing/2014/main" id="{1E81932C-8517-2D4E-1E2B-26EC22116C2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805345" y="1138645"/>
            <a:ext cx="4580709" cy="4580709"/>
          </a:xfrm>
          <a:prstGeom prst="rect">
            <a:avLst/>
          </a:prstGeom>
        </p:spPr>
      </p:pic>
      <p:sp>
        <p:nvSpPr>
          <p:cNvPr id="3" name="CustomShape 2">
            <a:extLst>
              <a:ext uri="{FF2B5EF4-FFF2-40B4-BE49-F238E27FC236}">
                <a16:creationId xmlns:a16="http://schemas.microsoft.com/office/drawing/2014/main" id="{D4B20FBA-41A7-167C-7A9B-53316EF443B4}"/>
              </a:ext>
            </a:extLst>
          </p:cNvPr>
          <p:cNvSpPr/>
          <p:nvPr/>
        </p:nvSpPr>
        <p:spPr>
          <a:xfrm>
            <a:off x="735120" y="5730008"/>
            <a:ext cx="10721160" cy="453078"/>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pPr>
            <a:r>
              <a:rPr lang="en-AU" sz="1200" b="0" strike="noStrike" spc="-1" dirty="0">
                <a:solidFill>
                  <a:srgbClr val="FFFFFF"/>
                </a:solidFill>
                <a:latin typeface="Century Schoolbook"/>
              </a:rPr>
              <a:t>AI art generated by </a:t>
            </a:r>
            <a:r>
              <a:rPr lang="en-AU" sz="1200" b="0" strike="noStrike" spc="-1" dirty="0">
                <a:solidFill>
                  <a:srgbClr val="FFFFFF"/>
                </a:solidFill>
                <a:latin typeface="Century Schoolbook"/>
                <a:hlinkClick r:id="rId3"/>
              </a:rPr>
              <a:t>https://www.craiyon.com/</a:t>
            </a:r>
            <a:endParaRPr lang="en-AU" sz="1200" b="0" strike="noStrike" spc="-1" dirty="0">
              <a:solidFill>
                <a:srgbClr val="FFFFFF"/>
              </a:solidFill>
              <a:latin typeface="Century Schoolbook"/>
            </a:endParaRPr>
          </a:p>
          <a:p>
            <a:pPr algn="ctr">
              <a:lnSpc>
                <a:spcPct val="100000"/>
              </a:lnSpc>
            </a:pPr>
            <a:r>
              <a:rPr lang="en-AU" sz="1200" b="0" strike="noStrike" spc="-1" dirty="0">
                <a:solidFill>
                  <a:srgbClr val="FFFFFF"/>
                </a:solidFill>
                <a:latin typeface="Century Schoolbook"/>
              </a:rPr>
              <a:t>(prompt: “</a:t>
            </a:r>
            <a:r>
              <a:rPr lang="en-GB" sz="1200" b="0" strike="noStrike" spc="-1" dirty="0">
                <a:solidFill>
                  <a:srgbClr val="FFFFFF"/>
                </a:solidFill>
                <a:latin typeface="Century Schoolbook"/>
              </a:rPr>
              <a:t>a penguin robot shopping for fruits and vegetables in a supermarket</a:t>
            </a:r>
            <a:r>
              <a:rPr lang="en-AU" sz="1200" b="0" strike="noStrike" spc="-1" dirty="0">
                <a:solidFill>
                  <a:srgbClr val="FFFFFF"/>
                </a:solidFill>
                <a:latin typeface="Century Schoolbook"/>
              </a:rPr>
              <a:t>”)</a:t>
            </a:r>
            <a:endParaRPr lang="en-AU" sz="1200" b="0" strike="noStrike" spc="-1" dirty="0">
              <a:latin typeface="Arial"/>
            </a:endParaRPr>
          </a:p>
        </p:txBody>
      </p:sp>
    </p:spTree>
    <p:extLst>
      <p:ext uri="{BB962C8B-B14F-4D97-AF65-F5344CB8AC3E}">
        <p14:creationId xmlns:p14="http://schemas.microsoft.com/office/powerpoint/2010/main" val="19759872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E9252403-6DA3-F734-A179-9F0087C42EE5}"/>
              </a:ext>
            </a:extLst>
          </p:cNvPr>
          <p:cNvGraphicFramePr>
            <a:graphicFrameLocks/>
          </p:cNvGraphicFramePr>
          <p:nvPr/>
        </p:nvGraphicFramePr>
        <p:xfrm>
          <a:off x="1819740" y="1449174"/>
          <a:ext cx="8552520" cy="4511040"/>
        </p:xfrm>
        <a:graphic>
          <a:graphicData uri="http://schemas.openxmlformats.org/drawingml/2006/table">
            <a:tbl>
              <a:tblPr/>
              <a:tblGrid>
                <a:gridCol w="1265040">
                  <a:extLst>
                    <a:ext uri="{9D8B030D-6E8A-4147-A177-3AD203B41FA5}">
                      <a16:colId xmlns:a16="http://schemas.microsoft.com/office/drawing/2014/main" val="20000"/>
                    </a:ext>
                  </a:extLst>
                </a:gridCol>
                <a:gridCol w="3384720">
                  <a:extLst>
                    <a:ext uri="{9D8B030D-6E8A-4147-A177-3AD203B41FA5}">
                      <a16:colId xmlns:a16="http://schemas.microsoft.com/office/drawing/2014/main" val="20001"/>
                    </a:ext>
                  </a:extLst>
                </a:gridCol>
                <a:gridCol w="3902760">
                  <a:extLst>
                    <a:ext uri="{9D8B030D-6E8A-4147-A177-3AD203B41FA5}">
                      <a16:colId xmlns:a16="http://schemas.microsoft.com/office/drawing/2014/main" val="20002"/>
                    </a:ext>
                  </a:extLst>
                </a:gridCol>
              </a:tblGrid>
              <a:tr h="335160">
                <a:tc>
                  <a:txBody>
                    <a:bodyPr/>
                    <a:lstStyle/>
                    <a:p>
                      <a:pPr algn="ctr">
                        <a:lnSpc>
                          <a:spcPct val="100000"/>
                        </a:lnSpc>
                        <a:defRPr/>
                      </a:pPr>
                      <a:r>
                        <a:rPr lang="en-AU" sz="1600" b="1" strike="noStrike" spc="-1" dirty="0">
                          <a:solidFill>
                            <a:srgbClr val="000000"/>
                          </a:solidFill>
                          <a:latin typeface="Century Schoolbook"/>
                        </a:rPr>
                        <a:t>Week</a:t>
                      </a:r>
                      <a:endParaRPr lang="en-AU" sz="1600" b="0" strike="noStrike" spc="-1" dirty="0">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E7E7E7"/>
                    </a:solidFill>
                  </a:tcPr>
                </a:tc>
                <a:tc>
                  <a:txBody>
                    <a:bodyPr/>
                    <a:lstStyle/>
                    <a:p>
                      <a:pPr algn="ctr">
                        <a:lnSpc>
                          <a:spcPct val="100000"/>
                        </a:lnSpc>
                        <a:defRPr/>
                      </a:pPr>
                      <a:r>
                        <a:rPr lang="en-AU" sz="1600" b="1" strike="noStrike" spc="-1">
                          <a:solidFill>
                            <a:srgbClr val="000000"/>
                          </a:solidFill>
                          <a:latin typeface="Century Schoolbook"/>
                        </a:rPr>
                        <a:t>Objectives</a:t>
                      </a:r>
                      <a:endParaRPr lang="en-AU" sz="1600" b="0" strike="noStrike" spc="-1">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E7E7E7"/>
                    </a:solidFill>
                  </a:tcPr>
                </a:tc>
                <a:tc>
                  <a:txBody>
                    <a:bodyPr/>
                    <a:lstStyle/>
                    <a:p>
                      <a:pPr algn="ctr">
                        <a:lnSpc>
                          <a:spcPct val="100000"/>
                        </a:lnSpc>
                        <a:defRPr/>
                      </a:pPr>
                      <a:r>
                        <a:rPr lang="en-AU" sz="1600" b="1" strike="noStrike" spc="-1">
                          <a:solidFill>
                            <a:srgbClr val="000000"/>
                          </a:solidFill>
                          <a:latin typeface="Century Schoolbook"/>
                        </a:rPr>
                        <a:t>Milestones</a:t>
                      </a:r>
                      <a:endParaRPr lang="en-AU" sz="1600" b="0" strike="noStrike" spc="-1">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E7E7E7"/>
                    </a:solidFill>
                  </a:tcPr>
                </a:tc>
                <a:extLst>
                  <a:ext uri="{0D108BD9-81ED-4DB2-BD59-A6C34878D82A}">
                    <a16:rowId xmlns:a16="http://schemas.microsoft.com/office/drawing/2014/main" val="10000"/>
                  </a:ext>
                </a:extLst>
              </a:tr>
              <a:tr h="335160">
                <a:tc>
                  <a:txBody>
                    <a:bodyPr/>
                    <a:lstStyle/>
                    <a:p>
                      <a:pPr>
                        <a:lnSpc>
                          <a:spcPct val="100000"/>
                        </a:lnSpc>
                        <a:defRPr/>
                      </a:pPr>
                      <a:r>
                        <a:rPr lang="en-AU" sz="1600" b="0" strike="noStrike" spc="-1" dirty="0">
                          <a:solidFill>
                            <a:srgbClr val="000000"/>
                          </a:solidFill>
                          <a:latin typeface="Century Schoolbook"/>
                        </a:rPr>
                        <a:t>1: C1-1</a:t>
                      </a:r>
                      <a:endParaRPr lang="en-AU" sz="1600" b="0" strike="noStrike" spc="-1" dirty="0">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CCCCCC"/>
                    </a:solidFill>
                  </a:tcPr>
                </a:tc>
                <a:tc>
                  <a:txBody>
                    <a:bodyPr/>
                    <a:lstStyle/>
                    <a:p>
                      <a:pPr>
                        <a:lnSpc>
                          <a:spcPct val="100000"/>
                        </a:lnSpc>
                        <a:defRPr/>
                      </a:pPr>
                      <a:r>
                        <a:rPr lang="en-AU" sz="1600" b="0" strike="noStrike" spc="-1">
                          <a:solidFill>
                            <a:srgbClr val="000000"/>
                          </a:solidFill>
                          <a:latin typeface="Century Schoolbook"/>
                        </a:rPr>
                        <a:t>Introduction and setup</a:t>
                      </a:r>
                      <a:endParaRPr lang="en-AU" sz="1600" b="0" strike="noStrike" spc="-1">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CCCCCC"/>
                    </a:solidFill>
                  </a:tcPr>
                </a:tc>
                <a:tc>
                  <a:txBody>
                    <a:bodyPr/>
                    <a:lstStyle/>
                    <a:p>
                      <a:pPr>
                        <a:defRPr/>
                      </a:pPr>
                      <a:endParaRPr lang="en-US" dirty="0"/>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CCCCCC"/>
                    </a:solidFill>
                  </a:tcPr>
                </a:tc>
                <a:extLst>
                  <a:ext uri="{0D108BD9-81ED-4DB2-BD59-A6C34878D82A}">
                    <a16:rowId xmlns:a16="http://schemas.microsoft.com/office/drawing/2014/main" val="10001"/>
                  </a:ext>
                </a:extLst>
              </a:tr>
              <a:tr h="0">
                <a:tc>
                  <a:txBody>
                    <a:bodyPr/>
                    <a:lstStyle/>
                    <a:p>
                      <a:pPr>
                        <a:lnSpc>
                          <a:spcPct val="100000"/>
                        </a:lnSpc>
                        <a:defRPr/>
                      </a:pPr>
                      <a:r>
                        <a:rPr lang="en-AU" sz="1600" b="0" strike="noStrike" spc="-1" dirty="0">
                          <a:solidFill>
                            <a:srgbClr val="000000"/>
                          </a:solidFill>
                          <a:latin typeface="Century Schoolbook"/>
                        </a:rPr>
                        <a:t>2: M1-1</a:t>
                      </a:r>
                      <a:endParaRPr lang="en-AU" sz="1600" b="0" strike="noStrike" spc="-1" dirty="0">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E7E7E7"/>
                    </a:solidFill>
                  </a:tcPr>
                </a:tc>
                <a:tc>
                  <a:txBody>
                    <a:bodyPr/>
                    <a:lstStyle/>
                    <a:p>
                      <a:pPr>
                        <a:lnSpc>
                          <a:spcPct val="100000"/>
                        </a:lnSpc>
                        <a:defRPr/>
                      </a:pPr>
                      <a:r>
                        <a:rPr lang="en-AU" sz="1600" b="0" strike="noStrike" spc="-1">
                          <a:solidFill>
                            <a:srgbClr val="000000"/>
                          </a:solidFill>
                          <a:latin typeface="Century Schoolbook"/>
                        </a:rPr>
                        <a:t>Calibration, ARUCO markers</a:t>
                      </a:r>
                      <a:endParaRPr lang="en-AU" sz="1600" b="0" strike="noStrike" spc="-1">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E7E7E7"/>
                    </a:solidFill>
                  </a:tcPr>
                </a:tc>
                <a:tc>
                  <a:txBody>
                    <a:bodyPr/>
                    <a:lstStyle/>
                    <a:p>
                      <a:pPr>
                        <a:lnSpc>
                          <a:spcPct val="100000"/>
                        </a:lnSpc>
                        <a:defRPr/>
                      </a:pPr>
                      <a:r>
                        <a:rPr lang="en-AU" sz="1600" b="0" strike="noStrike" spc="-1" dirty="0">
                          <a:solidFill>
                            <a:srgbClr val="000000"/>
                          </a:solidFill>
                          <a:latin typeface="Century Schoolbook"/>
                        </a:rPr>
                        <a:t>C1 due</a:t>
                      </a:r>
                      <a:endParaRPr lang="en-AU" sz="1600" b="0" strike="noStrike" spc="-1" dirty="0">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E7E7E7"/>
                    </a:solidFill>
                  </a:tcPr>
                </a:tc>
                <a:extLst>
                  <a:ext uri="{0D108BD9-81ED-4DB2-BD59-A6C34878D82A}">
                    <a16:rowId xmlns:a16="http://schemas.microsoft.com/office/drawing/2014/main" val="10002"/>
                  </a:ext>
                </a:extLst>
              </a:tr>
              <a:tr h="335160">
                <a:tc>
                  <a:txBody>
                    <a:bodyPr/>
                    <a:lstStyle/>
                    <a:p>
                      <a:pPr>
                        <a:lnSpc>
                          <a:spcPct val="100000"/>
                        </a:lnSpc>
                        <a:defRPr/>
                      </a:pPr>
                      <a:r>
                        <a:rPr lang="en-AU" sz="1600" b="0" strike="noStrike" spc="-1" dirty="0">
                          <a:solidFill>
                            <a:srgbClr val="000000"/>
                          </a:solidFill>
                          <a:latin typeface="Century Schoolbook"/>
                        </a:rPr>
                        <a:t>3: M1-2</a:t>
                      </a:r>
                      <a:endParaRPr lang="en-AU" sz="1600" b="0" strike="noStrike" spc="-1" dirty="0">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CCCCCC"/>
                    </a:solidFill>
                  </a:tcPr>
                </a:tc>
                <a:tc>
                  <a:txBody>
                    <a:bodyPr/>
                    <a:lstStyle/>
                    <a:p>
                      <a:pPr>
                        <a:lnSpc>
                          <a:spcPct val="100000"/>
                        </a:lnSpc>
                        <a:defRPr/>
                      </a:pPr>
                      <a:r>
                        <a:rPr lang="en-AU" sz="1600" b="0" strike="noStrike" spc="-1">
                          <a:solidFill>
                            <a:srgbClr val="000000"/>
                          </a:solidFill>
                          <a:latin typeface="Century Schoolbook"/>
                        </a:rPr>
                        <a:t>SLAM</a:t>
                      </a:r>
                      <a:endParaRPr lang="en-AU" sz="1600" b="0" strike="noStrike" spc="-1">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CCCCCC"/>
                    </a:solidFill>
                  </a:tcPr>
                </a:tc>
                <a:tc>
                  <a:txBody>
                    <a:bodyPr/>
                    <a:lstStyle/>
                    <a:p>
                      <a:pPr>
                        <a:defRPr/>
                      </a:pPr>
                      <a:endParaRPr lang="en-US"/>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CCCCCC"/>
                    </a:solidFill>
                  </a:tcPr>
                </a:tc>
                <a:extLst>
                  <a:ext uri="{0D108BD9-81ED-4DB2-BD59-A6C34878D82A}">
                    <a16:rowId xmlns:a16="http://schemas.microsoft.com/office/drawing/2014/main" val="10003"/>
                  </a:ext>
                </a:extLst>
              </a:tr>
              <a:tr h="0">
                <a:tc>
                  <a:txBody>
                    <a:bodyPr/>
                    <a:lstStyle/>
                    <a:p>
                      <a:pPr>
                        <a:lnSpc>
                          <a:spcPct val="100000"/>
                        </a:lnSpc>
                        <a:defRPr/>
                      </a:pPr>
                      <a:r>
                        <a:rPr lang="en-AU" sz="1600" b="0" strike="noStrike" spc="-1" dirty="0">
                          <a:solidFill>
                            <a:srgbClr val="000000"/>
                          </a:solidFill>
                          <a:latin typeface="Century Schoolbook"/>
                        </a:rPr>
                        <a:t>4: M1-3</a:t>
                      </a:r>
                      <a:endParaRPr lang="en-AU" sz="1600" b="0" strike="noStrike" spc="-1" dirty="0">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E7E7E7"/>
                    </a:solidFill>
                  </a:tcPr>
                </a:tc>
                <a:tc>
                  <a:txBody>
                    <a:bodyPr/>
                    <a:lstStyle/>
                    <a:p>
                      <a:pPr>
                        <a:lnSpc>
                          <a:spcPct val="100000"/>
                        </a:lnSpc>
                        <a:defRPr/>
                      </a:pPr>
                      <a:r>
                        <a:rPr lang="en-AU" sz="1600" b="0" strike="noStrike" spc="-1">
                          <a:solidFill>
                            <a:srgbClr val="000000"/>
                          </a:solidFill>
                          <a:latin typeface="Century Schoolbook"/>
                        </a:rPr>
                        <a:t>SLAM</a:t>
                      </a:r>
                      <a:endParaRPr lang="en-AU" sz="1600" b="0" strike="noStrike" spc="-1">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E7E7E7"/>
                    </a:solidFill>
                  </a:tcPr>
                </a:tc>
                <a:tc>
                  <a:txBody>
                    <a:bodyPr/>
                    <a:lstStyle/>
                    <a:p>
                      <a:pPr>
                        <a:defRPr/>
                      </a:pPr>
                      <a:endParaRPr lang="en-US"/>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E7E7E7"/>
                    </a:solidFill>
                  </a:tcPr>
                </a:tc>
                <a:extLst>
                  <a:ext uri="{0D108BD9-81ED-4DB2-BD59-A6C34878D82A}">
                    <a16:rowId xmlns:a16="http://schemas.microsoft.com/office/drawing/2014/main" val="10004"/>
                  </a:ext>
                </a:extLst>
              </a:tr>
              <a:tr h="335160">
                <a:tc>
                  <a:txBody>
                    <a:bodyPr/>
                    <a:lstStyle/>
                    <a:p>
                      <a:pPr>
                        <a:lnSpc>
                          <a:spcPct val="100000"/>
                        </a:lnSpc>
                        <a:defRPr/>
                      </a:pPr>
                      <a:r>
                        <a:rPr lang="en-AU" sz="1600" b="0" strike="noStrike" spc="-1" dirty="0">
                          <a:solidFill>
                            <a:srgbClr val="000000"/>
                          </a:solidFill>
                          <a:latin typeface="Century Schoolbook"/>
                        </a:rPr>
                        <a:t>5: M2-1</a:t>
                      </a:r>
                      <a:endParaRPr lang="en-AU" sz="1600" b="0" strike="noStrike" spc="-1" dirty="0">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CCCCCC"/>
                    </a:solidFill>
                  </a:tcPr>
                </a:tc>
                <a:tc>
                  <a:txBody>
                    <a:bodyPr/>
                    <a:lstStyle/>
                    <a:p>
                      <a:pPr>
                        <a:lnSpc>
                          <a:spcPct val="100000"/>
                        </a:lnSpc>
                        <a:defRPr/>
                      </a:pPr>
                      <a:r>
                        <a:rPr lang="en-AU" sz="1600" b="0" strike="noStrike" spc="-1">
                          <a:solidFill>
                            <a:srgbClr val="000000"/>
                          </a:solidFill>
                          <a:latin typeface="Century Schoolbook"/>
                        </a:rPr>
                        <a:t>Object recognition &amp; localisation</a:t>
                      </a:r>
                      <a:endParaRPr lang="en-AU" sz="1600" b="0" strike="noStrike" spc="-1">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CCCCCC"/>
                    </a:solidFill>
                  </a:tcPr>
                </a:tc>
                <a:tc>
                  <a:txBody>
                    <a:bodyPr/>
                    <a:lstStyle/>
                    <a:p>
                      <a:pPr>
                        <a:lnSpc>
                          <a:spcPct val="100000"/>
                        </a:lnSpc>
                        <a:defRPr/>
                      </a:pPr>
                      <a:r>
                        <a:rPr lang="en-AU" sz="1600" b="0" strike="noStrike" spc="-1" dirty="0">
                          <a:solidFill>
                            <a:srgbClr val="000000"/>
                          </a:solidFill>
                          <a:latin typeface="Century Schoolbook"/>
                        </a:rPr>
                        <a:t>M1 due</a:t>
                      </a:r>
                      <a:endParaRPr lang="en-AU" sz="1600" b="0" strike="noStrike" spc="-1" dirty="0">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CCCCCC"/>
                    </a:solidFill>
                  </a:tcPr>
                </a:tc>
                <a:extLst>
                  <a:ext uri="{0D108BD9-81ED-4DB2-BD59-A6C34878D82A}">
                    <a16:rowId xmlns:a16="http://schemas.microsoft.com/office/drawing/2014/main" val="10005"/>
                  </a:ext>
                </a:extLst>
              </a:tr>
              <a:tr h="0">
                <a:tc>
                  <a:txBody>
                    <a:bodyPr/>
                    <a:lstStyle/>
                    <a:p>
                      <a:pPr>
                        <a:lnSpc>
                          <a:spcPct val="100000"/>
                        </a:lnSpc>
                        <a:defRPr/>
                      </a:pPr>
                      <a:r>
                        <a:rPr lang="en-AU" sz="1600" b="0" strike="noStrike" spc="-1" dirty="0">
                          <a:solidFill>
                            <a:srgbClr val="000000"/>
                          </a:solidFill>
                          <a:latin typeface="Century Schoolbook"/>
                        </a:rPr>
                        <a:t>6: M2-2</a:t>
                      </a:r>
                      <a:endParaRPr lang="en-AU" sz="1600" b="0" strike="noStrike" spc="-1" dirty="0">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E7E7E7"/>
                    </a:solidFill>
                  </a:tcPr>
                </a:tc>
                <a:tc>
                  <a:txBody>
                    <a:bodyPr/>
                    <a:lstStyle/>
                    <a:p>
                      <a:pPr>
                        <a:lnSpc>
                          <a:spcPct val="100000"/>
                        </a:lnSpc>
                        <a:defRPr/>
                      </a:pPr>
                      <a:r>
                        <a:rPr lang="en-AU" sz="1600" b="0" strike="noStrike" spc="-1" dirty="0">
                          <a:solidFill>
                            <a:srgbClr val="000000"/>
                          </a:solidFill>
                          <a:latin typeface="Century Schoolbook"/>
                        </a:rPr>
                        <a:t>Object recognition &amp; localisation</a:t>
                      </a:r>
                      <a:endParaRPr lang="en-AU" sz="1600" b="0" strike="noStrike" spc="-1" dirty="0">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E7E7E7"/>
                    </a:solidFill>
                  </a:tcPr>
                </a:tc>
                <a:tc>
                  <a:txBody>
                    <a:bodyPr/>
                    <a:lstStyle/>
                    <a:p>
                      <a:pPr>
                        <a:defRPr/>
                      </a:pPr>
                      <a:endParaRPr lang="en-US" dirty="0"/>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E7E7E7"/>
                    </a:solidFill>
                  </a:tcPr>
                </a:tc>
                <a:extLst>
                  <a:ext uri="{0D108BD9-81ED-4DB2-BD59-A6C34878D82A}">
                    <a16:rowId xmlns:a16="http://schemas.microsoft.com/office/drawing/2014/main" val="10006"/>
                  </a:ext>
                </a:extLst>
              </a:tr>
              <a:tr h="335160">
                <a:tc>
                  <a:txBody>
                    <a:bodyPr/>
                    <a:lstStyle/>
                    <a:p>
                      <a:pPr>
                        <a:lnSpc>
                          <a:spcPct val="100000"/>
                        </a:lnSpc>
                        <a:defRPr/>
                      </a:pPr>
                      <a:r>
                        <a:rPr lang="en-AU" sz="1600" b="0" strike="noStrike" spc="-1" dirty="0">
                          <a:solidFill>
                            <a:srgbClr val="000000"/>
                          </a:solidFill>
                          <a:latin typeface="Century Schoolbook"/>
                        </a:rPr>
                        <a:t>7: M3-1</a:t>
                      </a:r>
                      <a:endParaRPr lang="en-AU" sz="1600" b="0" strike="noStrike" spc="-1" dirty="0">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CCCCCC"/>
                    </a:solidFill>
                  </a:tcPr>
                </a:tc>
                <a:tc>
                  <a:txBody>
                    <a:bodyPr/>
                    <a:lstStyle/>
                    <a:p>
                      <a:pPr>
                        <a:lnSpc>
                          <a:spcPct val="100000"/>
                        </a:lnSpc>
                        <a:defRPr/>
                      </a:pPr>
                      <a:r>
                        <a:rPr lang="en-AU" sz="1600" b="0" strike="noStrike" spc="-1">
                          <a:solidFill>
                            <a:srgbClr val="000000"/>
                          </a:solidFill>
                          <a:latin typeface="Century Schoolbook"/>
                        </a:rPr>
                        <a:t>Navigation &amp; Planning</a:t>
                      </a:r>
                      <a:endParaRPr lang="en-AU" sz="1600" b="0" strike="noStrike" spc="-1">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CCCCCC"/>
                    </a:solidFill>
                  </a:tcPr>
                </a:tc>
                <a:tc>
                  <a:txBody>
                    <a:bodyPr/>
                    <a:lstStyle/>
                    <a:p>
                      <a:pPr>
                        <a:lnSpc>
                          <a:spcPct val="100000"/>
                        </a:lnSpc>
                        <a:defRPr/>
                      </a:pPr>
                      <a:r>
                        <a:rPr lang="en-AU" sz="1600" b="0" strike="noStrike" spc="-1" dirty="0">
                          <a:solidFill>
                            <a:srgbClr val="000000"/>
                          </a:solidFill>
                          <a:latin typeface="Century Schoolbook"/>
                        </a:rPr>
                        <a:t>M2 due</a:t>
                      </a:r>
                      <a:endParaRPr lang="en-AU" sz="1600" b="0" strike="noStrike" spc="-1" dirty="0">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CCCCCC"/>
                    </a:solidFill>
                  </a:tcPr>
                </a:tc>
                <a:extLst>
                  <a:ext uri="{0D108BD9-81ED-4DB2-BD59-A6C34878D82A}">
                    <a16:rowId xmlns:a16="http://schemas.microsoft.com/office/drawing/2014/main" val="10007"/>
                  </a:ext>
                </a:extLst>
              </a:tr>
              <a:tr h="335160">
                <a:tc>
                  <a:txBody>
                    <a:bodyPr/>
                    <a:lstStyle/>
                    <a:p>
                      <a:pPr>
                        <a:lnSpc>
                          <a:spcPct val="100000"/>
                        </a:lnSpc>
                        <a:defRPr/>
                      </a:pPr>
                      <a:r>
                        <a:rPr lang="en-AU" sz="1600" b="0" strike="noStrike" spc="-1" dirty="0">
                          <a:solidFill>
                            <a:srgbClr val="000000"/>
                          </a:solidFill>
                          <a:latin typeface="Century Schoolbook"/>
                        </a:rPr>
                        <a:t>8: M3-2</a:t>
                      </a:r>
                      <a:endParaRPr lang="en-AU" sz="1600" b="0" strike="noStrike" spc="-1" dirty="0">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E7E7E7"/>
                    </a:solidFill>
                  </a:tcPr>
                </a:tc>
                <a:tc>
                  <a:txBody>
                    <a:bodyPr/>
                    <a:lstStyle/>
                    <a:p>
                      <a:pPr>
                        <a:lnSpc>
                          <a:spcPct val="100000"/>
                        </a:lnSpc>
                        <a:defRPr/>
                      </a:pPr>
                      <a:r>
                        <a:rPr lang="en-AU" sz="1600" b="0" strike="noStrike" spc="-1" dirty="0">
                          <a:solidFill>
                            <a:srgbClr val="000000"/>
                          </a:solidFill>
                          <a:latin typeface="Century Schoolbook"/>
                        </a:rPr>
                        <a:t>Navigation &amp; Planning</a:t>
                      </a:r>
                      <a:endParaRPr lang="en-AU" sz="1600" b="0" strike="noStrike" spc="-1" dirty="0">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E7E7E7"/>
                    </a:solidFill>
                  </a:tcPr>
                </a:tc>
                <a:tc>
                  <a:txBody>
                    <a:bodyPr/>
                    <a:lstStyle/>
                    <a:p>
                      <a:pPr>
                        <a:defRPr/>
                      </a:pPr>
                      <a:endParaRPr lang="en-US"/>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E7E7E7"/>
                    </a:solidFill>
                  </a:tcPr>
                </a:tc>
                <a:extLst>
                  <a:ext uri="{0D108BD9-81ED-4DB2-BD59-A6C34878D82A}">
                    <a16:rowId xmlns:a16="http://schemas.microsoft.com/office/drawing/2014/main" val="10008"/>
                  </a:ext>
                </a:extLst>
              </a:tr>
              <a:tr h="331560">
                <a:tc>
                  <a:txBody>
                    <a:bodyPr/>
                    <a:lstStyle/>
                    <a:p>
                      <a:pPr>
                        <a:lnSpc>
                          <a:spcPct val="100000"/>
                        </a:lnSpc>
                        <a:defRPr/>
                      </a:pPr>
                      <a:r>
                        <a:rPr lang="en-AU" sz="1600" b="0" strike="noStrike" spc="-1" dirty="0">
                          <a:solidFill>
                            <a:srgbClr val="000000"/>
                          </a:solidFill>
                          <a:latin typeface="Century Schoolbook"/>
                        </a:rPr>
                        <a:t>9: C2</a:t>
                      </a:r>
                      <a:endParaRPr lang="en-AU" sz="1600" b="0" strike="noStrike" spc="-1" dirty="0">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CCCCCC"/>
                    </a:solidFill>
                  </a:tcPr>
                </a:tc>
                <a:tc>
                  <a:txBody>
                    <a:bodyPr/>
                    <a:lstStyle/>
                    <a:p>
                      <a:pPr>
                        <a:lnSpc>
                          <a:spcPct val="100000"/>
                        </a:lnSpc>
                        <a:defRPr/>
                      </a:pPr>
                      <a:r>
                        <a:rPr lang="en-AU" sz="1600" b="0" strike="noStrike" spc="-1" dirty="0">
                          <a:solidFill>
                            <a:srgbClr val="000000"/>
                          </a:solidFill>
                          <a:latin typeface="Century Schoolbook"/>
                        </a:rPr>
                        <a:t>Integration &amp; Improvement</a:t>
                      </a:r>
                      <a:endParaRPr lang="en-AU" sz="1600" b="0" strike="noStrike" spc="-1" dirty="0">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CCCCCC"/>
                    </a:solidFill>
                  </a:tcPr>
                </a:tc>
                <a:tc>
                  <a:txBody>
                    <a:bodyPr/>
                    <a:lstStyle/>
                    <a:p>
                      <a:pPr>
                        <a:lnSpc>
                          <a:spcPct val="100000"/>
                        </a:lnSpc>
                        <a:defRPr/>
                      </a:pPr>
                      <a:r>
                        <a:rPr lang="en-AU" sz="1600" b="0" strike="noStrike" spc="-1" dirty="0">
                          <a:solidFill>
                            <a:srgbClr val="000000"/>
                          </a:solidFill>
                          <a:latin typeface="Century Schoolbook"/>
                        </a:rPr>
                        <a:t>M3 due</a:t>
                      </a:r>
                      <a:endParaRPr lang="en-AU" sz="1600" b="0" strike="noStrike" spc="-1" dirty="0">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CCCCCC"/>
                    </a:solidFill>
                  </a:tcPr>
                </a:tc>
                <a:extLst>
                  <a:ext uri="{0D108BD9-81ED-4DB2-BD59-A6C34878D82A}">
                    <a16:rowId xmlns:a16="http://schemas.microsoft.com/office/drawing/2014/main" val="10009"/>
                  </a:ext>
                </a:extLst>
              </a:tr>
              <a:tr h="3351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600" b="0" strike="noStrike" spc="-1" dirty="0">
                          <a:solidFill>
                            <a:srgbClr val="000000"/>
                          </a:solidFill>
                          <a:latin typeface="Century Schoolbook"/>
                        </a:rPr>
                        <a:t>10: Final</a:t>
                      </a:r>
                      <a:endParaRPr lang="en-AU" sz="1600" b="0" strike="noStrike" spc="-1" dirty="0">
                        <a:latin typeface="+mn-lt"/>
                      </a:endParaRPr>
                    </a:p>
                  </a:txBody>
                  <a:tcPr>
                    <a:lnL w="12240" algn="ctr">
                      <a:solidFill>
                        <a:srgbClr val="000000"/>
                      </a:solidFill>
                    </a:lnL>
                    <a:lnR w="12240" cap="flat" cmpd="sng" algn="ctr">
                      <a:solidFill>
                        <a:srgbClr val="000000"/>
                      </a:solidFill>
                      <a:prstDash val="solid"/>
                      <a:round/>
                      <a:headEnd type="none" w="med" len="med"/>
                      <a:tailEnd type="none" w="med" len="med"/>
                    </a:lnR>
                    <a:lnT w="12240" algn="ctr">
                      <a:solidFill>
                        <a:srgbClr val="000000"/>
                      </a:solidFill>
                    </a:lnT>
                    <a:lnB w="12240" cap="flat" cmpd="sng" algn="ctr">
                      <a:solidFill>
                        <a:srgbClr val="000000"/>
                      </a:solidFill>
                      <a:prstDash val="solid"/>
                      <a:round/>
                      <a:headEnd type="none" w="med" len="med"/>
                      <a:tailEnd type="none" w="med" len="med"/>
                    </a:lnB>
                    <a:solidFill>
                      <a:srgbClr val="E7E7E7"/>
                    </a:solidFill>
                  </a:tcPr>
                </a:tc>
                <a:tc>
                  <a:txBody>
                    <a:bodyPr/>
                    <a:lstStyle/>
                    <a:p>
                      <a:pPr>
                        <a:lnSpc>
                          <a:spcPct val="100000"/>
                        </a:lnSpc>
                        <a:defRPr/>
                      </a:pPr>
                      <a:r>
                        <a:rPr lang="en-AU" sz="1600" b="0" strike="noStrike" spc="-1" dirty="0">
                          <a:solidFill>
                            <a:srgbClr val="000000"/>
                          </a:solidFill>
                          <a:latin typeface="Century Schoolbook"/>
                        </a:rPr>
                        <a:t>Trial run of final demo</a:t>
                      </a:r>
                      <a:endParaRPr lang="en-AU" sz="1600" b="0" strike="noStrike" spc="-1" dirty="0">
                        <a:latin typeface="Arial"/>
                      </a:endParaRPr>
                    </a:p>
                  </a:txBody>
                  <a:tcPr>
                    <a:lnL w="12240" cap="flat" cmpd="sng" algn="ctr">
                      <a:solidFill>
                        <a:srgbClr val="000000"/>
                      </a:solidFill>
                      <a:prstDash val="solid"/>
                      <a:round/>
                      <a:headEnd type="none" w="med" len="med"/>
                      <a:tailEnd type="none" w="med" len="med"/>
                    </a:lnL>
                    <a:lnR w="12240" cap="flat" cmpd="sng" algn="ctr">
                      <a:solidFill>
                        <a:srgbClr val="000000"/>
                      </a:solidFill>
                      <a:prstDash val="solid"/>
                      <a:round/>
                      <a:headEnd type="none" w="med" len="med"/>
                      <a:tailEnd type="none" w="med" len="med"/>
                    </a:lnR>
                    <a:lnT w="12240" algn="ctr">
                      <a:solidFill>
                        <a:srgbClr val="000000"/>
                      </a:solidFill>
                    </a:lnT>
                    <a:lnB w="12240" cap="flat" cmpd="sng" algn="ctr">
                      <a:solidFill>
                        <a:srgbClr val="000000"/>
                      </a:solidFill>
                      <a:prstDash val="solid"/>
                      <a:round/>
                      <a:headEnd type="none" w="med" len="med"/>
                      <a:tailEnd type="none" w="med" len="med"/>
                    </a:lnB>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600" b="0" strike="noStrike" spc="-1">
                          <a:solidFill>
                            <a:srgbClr val="000000"/>
                          </a:solidFill>
                          <a:latin typeface="+mn-lt"/>
                        </a:rPr>
                        <a:t>C2 due</a:t>
                      </a:r>
                      <a:endParaRPr lang="en-AU" sz="1600" b="0" strike="noStrike" spc="-1">
                        <a:latin typeface="+mn-lt"/>
                      </a:endParaRPr>
                    </a:p>
                  </a:txBody>
                  <a:tcPr>
                    <a:lnL w="12240" cap="flat" cmpd="sng" algn="ctr">
                      <a:solidFill>
                        <a:srgbClr val="000000"/>
                      </a:solidFill>
                      <a:prstDash val="solid"/>
                      <a:round/>
                      <a:headEnd type="none" w="med" len="med"/>
                      <a:tailEnd type="none" w="med" len="med"/>
                    </a:lnL>
                    <a:lnR w="12240" algn="ctr">
                      <a:solidFill>
                        <a:srgbClr val="000000"/>
                      </a:solidFill>
                    </a:lnR>
                    <a:lnT w="12240" algn="ctr">
                      <a:solidFill>
                        <a:srgbClr val="000000"/>
                      </a:solidFill>
                    </a:lnT>
                    <a:lnB w="12240" cap="flat" cmpd="sng" algn="ctr">
                      <a:solidFill>
                        <a:srgbClr val="000000"/>
                      </a:solidFill>
                      <a:prstDash val="solid"/>
                      <a:round/>
                      <a:headEnd type="none" w="med" len="med"/>
                      <a:tailEnd type="none" w="med" len="med"/>
                    </a:lnB>
                    <a:solidFill>
                      <a:srgbClr val="E7E7E7"/>
                    </a:solidFill>
                  </a:tcPr>
                </a:tc>
                <a:extLst>
                  <a:ext uri="{0D108BD9-81ED-4DB2-BD59-A6C34878D82A}">
                    <a16:rowId xmlns:a16="http://schemas.microsoft.com/office/drawing/2014/main" val="2927731480"/>
                  </a:ext>
                </a:extLst>
              </a:tr>
              <a:tr h="335160">
                <a:tc>
                  <a:txBody>
                    <a:bodyPr/>
                    <a:lstStyle/>
                    <a:p>
                      <a:pPr>
                        <a:lnSpc>
                          <a:spcPct val="100000"/>
                        </a:lnSpc>
                        <a:defRPr/>
                      </a:pPr>
                      <a:r>
                        <a:rPr lang="en-AU" sz="1600" b="0" strike="noStrike" spc="-1" dirty="0">
                          <a:solidFill>
                            <a:srgbClr val="000000"/>
                          </a:solidFill>
                          <a:latin typeface="Century Schoolbook"/>
                        </a:rPr>
                        <a:t>11: Final</a:t>
                      </a:r>
                      <a:endParaRPr lang="en-AU" sz="1600" b="0" strike="noStrike" spc="-1" dirty="0">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E7E7E7"/>
                    </a:solidFill>
                  </a:tcPr>
                </a:tc>
                <a:tc>
                  <a:txBody>
                    <a:bodyPr/>
                    <a:lstStyle/>
                    <a:p>
                      <a:pPr>
                        <a:lnSpc>
                          <a:spcPct val="100000"/>
                        </a:lnSpc>
                        <a:defRPr/>
                      </a:pPr>
                      <a:r>
                        <a:rPr lang="en-AU" sz="1600" b="0" strike="noStrike" spc="-1" dirty="0">
                          <a:solidFill>
                            <a:srgbClr val="000000"/>
                          </a:solidFill>
                          <a:latin typeface="Century Schoolbook"/>
                        </a:rPr>
                        <a:t>Final demo</a:t>
                      </a:r>
                      <a:endParaRPr lang="en-AU" sz="1600" b="0" strike="noStrike" spc="-1" dirty="0">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E7E7E7"/>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AU" sz="1600" b="0" strike="noStrike" spc="-1" dirty="0">
                          <a:solidFill>
                            <a:srgbClr val="000000"/>
                          </a:solidFill>
                          <a:latin typeface="Century Schoolbook"/>
                        </a:rPr>
                        <a:t>Final demo due</a:t>
                      </a:r>
                      <a:r>
                        <a:rPr lang="en-AU" sz="1600" b="0" strike="noStrike" spc="-1" dirty="0">
                          <a:solidFill>
                            <a:srgbClr val="000000"/>
                          </a:solidFill>
                          <a:latin typeface="Arial"/>
                        </a:rPr>
                        <a:t> </a:t>
                      </a:r>
                      <a:endParaRPr lang="en-AU" sz="1600" b="0" strike="noStrike" spc="-1" dirty="0">
                        <a:latin typeface="+mn-lt"/>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E7E7E7"/>
                    </a:solidFill>
                  </a:tcPr>
                </a:tc>
                <a:extLst>
                  <a:ext uri="{0D108BD9-81ED-4DB2-BD59-A6C34878D82A}">
                    <a16:rowId xmlns:a16="http://schemas.microsoft.com/office/drawing/2014/main" val="10010"/>
                  </a:ext>
                </a:extLst>
              </a:tr>
              <a:tr h="335160">
                <a:tc>
                  <a:txBody>
                    <a:bodyPr/>
                    <a:lstStyle/>
                    <a:p>
                      <a:pPr>
                        <a:lnSpc>
                          <a:spcPct val="100000"/>
                        </a:lnSpc>
                        <a:defRPr/>
                      </a:pPr>
                      <a:r>
                        <a:rPr lang="en-AU" sz="1600" b="0" strike="noStrike" spc="-1" dirty="0">
                          <a:solidFill>
                            <a:srgbClr val="000000"/>
                          </a:solidFill>
                          <a:latin typeface="Century Schoolbook"/>
                        </a:rPr>
                        <a:t>12: No lab</a:t>
                      </a:r>
                      <a:endParaRPr lang="en-AU" sz="1600" b="0" strike="noStrike" spc="-1" dirty="0">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CCCCCC"/>
                    </a:solidFill>
                  </a:tcPr>
                </a:tc>
                <a:tc>
                  <a:txBody>
                    <a:bodyPr/>
                    <a:lstStyle/>
                    <a:p>
                      <a:pPr>
                        <a:lnSpc>
                          <a:spcPct val="100000"/>
                        </a:lnSpc>
                        <a:defRPr/>
                      </a:pPr>
                      <a:r>
                        <a:rPr lang="en-AU" sz="1600" b="0" strike="noStrike" spc="-1" dirty="0">
                          <a:solidFill>
                            <a:srgbClr val="000000"/>
                          </a:solidFill>
                          <a:latin typeface="Century Schoolbook"/>
                        </a:rPr>
                        <a:t>N/A</a:t>
                      </a:r>
                      <a:endParaRPr lang="en-AU" sz="1600" b="0" strike="noStrike" spc="-1" dirty="0">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CCCCCC"/>
                    </a:solidFill>
                  </a:tcPr>
                </a:tc>
                <a:tc>
                  <a:txBody>
                    <a:bodyPr/>
                    <a:lstStyle/>
                    <a:p>
                      <a:pPr>
                        <a:lnSpc>
                          <a:spcPct val="100000"/>
                        </a:lnSpc>
                        <a:defRPr/>
                      </a:pPr>
                      <a:r>
                        <a:rPr lang="en-AU" sz="1600" b="0" strike="noStrike" spc="-1" dirty="0">
                          <a:solidFill>
                            <a:srgbClr val="000000"/>
                          </a:solidFill>
                          <a:latin typeface="Century Schoolbook"/>
                        </a:rPr>
                        <a:t>N/A</a:t>
                      </a:r>
                      <a:endParaRPr lang="en-AU" sz="1600" b="0" strike="noStrike" spc="-1" dirty="0">
                        <a:latin typeface="Arial"/>
                      </a:endParaRPr>
                    </a:p>
                  </a:txBody>
                  <a:tcPr>
                    <a:lnL w="12240" algn="ctr">
                      <a:solidFill>
                        <a:srgbClr val="000000"/>
                      </a:solidFill>
                    </a:lnL>
                    <a:lnR w="12240" algn="ctr">
                      <a:solidFill>
                        <a:srgbClr val="000000"/>
                      </a:solidFill>
                    </a:lnR>
                    <a:lnT w="12240" algn="ctr">
                      <a:solidFill>
                        <a:srgbClr val="000000"/>
                      </a:solidFill>
                    </a:lnT>
                    <a:lnB w="12240" algn="ctr">
                      <a:solidFill>
                        <a:srgbClr val="000000"/>
                      </a:solidFill>
                    </a:lnB>
                    <a:solidFill>
                      <a:srgbClr val="CCCCCC"/>
                    </a:solidFill>
                  </a:tcPr>
                </a:tc>
                <a:extLst>
                  <a:ext uri="{0D108BD9-81ED-4DB2-BD59-A6C34878D82A}">
                    <a16:rowId xmlns:a16="http://schemas.microsoft.com/office/drawing/2014/main" val="10011"/>
                  </a:ext>
                </a:extLst>
              </a:tr>
            </a:tbl>
          </a:graphicData>
        </a:graphic>
      </p:graphicFrame>
      <p:sp>
        <p:nvSpPr>
          <p:cNvPr id="7" name="TextBox 6">
            <a:extLst>
              <a:ext uri="{FF2B5EF4-FFF2-40B4-BE49-F238E27FC236}">
                <a16:creationId xmlns:a16="http://schemas.microsoft.com/office/drawing/2014/main" id="{11DA8C29-89B7-1BB4-7072-B8C58D3F2A9D}"/>
              </a:ext>
            </a:extLst>
          </p:cNvPr>
          <p:cNvSpPr txBox="1"/>
          <p:nvPr/>
        </p:nvSpPr>
        <p:spPr>
          <a:xfrm>
            <a:off x="478180" y="172557"/>
            <a:ext cx="11713820" cy="830997"/>
          </a:xfrm>
          <a:prstGeom prst="rect">
            <a:avLst/>
          </a:prstGeom>
          <a:noFill/>
        </p:spPr>
        <p:txBody>
          <a:bodyPr wrap="square" rtlCol="0">
            <a:spAutoFit/>
          </a:bodyPr>
          <a:lstStyle/>
          <a:p>
            <a:pPr algn="ctr"/>
            <a:r>
              <a:rPr lang="en-AU" sz="4800" dirty="0"/>
              <a:t>ECE4078  Intelligent robotics</a:t>
            </a:r>
          </a:p>
        </p:txBody>
      </p:sp>
      <p:sp>
        <p:nvSpPr>
          <p:cNvPr id="15" name="TextBox 14">
            <a:extLst>
              <a:ext uri="{FF2B5EF4-FFF2-40B4-BE49-F238E27FC236}">
                <a16:creationId xmlns:a16="http://schemas.microsoft.com/office/drawing/2014/main" id="{8B9A753A-0CD7-4DBC-D7D8-4301D1546DCD}"/>
              </a:ext>
            </a:extLst>
          </p:cNvPr>
          <p:cNvSpPr txBox="1"/>
          <p:nvPr/>
        </p:nvSpPr>
        <p:spPr>
          <a:xfrm>
            <a:off x="1474591" y="4548771"/>
            <a:ext cx="325186" cy="523220"/>
          </a:xfrm>
          <a:prstGeom prst="rect">
            <a:avLst/>
          </a:prstGeom>
          <a:noFill/>
        </p:spPr>
        <p:txBody>
          <a:bodyPr wrap="square" rtlCol="0">
            <a:spAutoFit/>
          </a:bodyPr>
          <a:lstStyle/>
          <a:p>
            <a:r>
              <a:rPr lang="en-AU" sz="2800" dirty="0">
                <a:solidFill>
                  <a:srgbClr val="FF0000"/>
                </a:solidFill>
              </a:rPr>
              <a:t>*</a:t>
            </a:r>
          </a:p>
        </p:txBody>
      </p:sp>
      <p:cxnSp>
        <p:nvCxnSpPr>
          <p:cNvPr id="16" name="Straight Connector 15">
            <a:extLst>
              <a:ext uri="{FF2B5EF4-FFF2-40B4-BE49-F238E27FC236}">
                <a16:creationId xmlns:a16="http://schemas.microsoft.com/office/drawing/2014/main" id="{7E34DF76-20EA-E6C2-BA3D-D5ECE824BB57}"/>
              </a:ext>
            </a:extLst>
          </p:cNvPr>
          <p:cNvCxnSpPr/>
          <p:nvPr/>
        </p:nvCxnSpPr>
        <p:spPr>
          <a:xfrm>
            <a:off x="1637548" y="1894540"/>
            <a:ext cx="8875058" cy="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986C7EF5-6D49-C8E0-794D-6012175ED245}"/>
              </a:ext>
            </a:extLst>
          </p:cNvPr>
          <p:cNvCxnSpPr/>
          <p:nvPr/>
        </p:nvCxnSpPr>
        <p:spPr>
          <a:xfrm>
            <a:off x="1640174" y="2267658"/>
            <a:ext cx="8875058" cy="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E177AF33-9CFD-1288-975F-5714FD1C6D63}"/>
              </a:ext>
            </a:extLst>
          </p:cNvPr>
          <p:cNvCxnSpPr/>
          <p:nvPr/>
        </p:nvCxnSpPr>
        <p:spPr>
          <a:xfrm>
            <a:off x="1637184" y="2635206"/>
            <a:ext cx="8875058" cy="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92D4700F-C358-D2D8-5FFD-B9FB241CBAE2}"/>
              </a:ext>
            </a:extLst>
          </p:cNvPr>
          <p:cNvCxnSpPr/>
          <p:nvPr/>
        </p:nvCxnSpPr>
        <p:spPr>
          <a:xfrm>
            <a:off x="1658471" y="3037772"/>
            <a:ext cx="8875058" cy="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B836F6F4-5171-AAA2-1504-92E8F8BC211A}"/>
              </a:ext>
            </a:extLst>
          </p:cNvPr>
          <p:cNvCxnSpPr/>
          <p:nvPr/>
        </p:nvCxnSpPr>
        <p:spPr>
          <a:xfrm>
            <a:off x="1637184" y="3429000"/>
            <a:ext cx="8875058" cy="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11A47E0D-2DA2-3F91-EA61-267D3F82D2BF}"/>
              </a:ext>
            </a:extLst>
          </p:cNvPr>
          <p:cNvCxnSpPr/>
          <p:nvPr/>
        </p:nvCxnSpPr>
        <p:spPr>
          <a:xfrm>
            <a:off x="1637184" y="3768142"/>
            <a:ext cx="8875058" cy="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C5D25AF-1B09-8BDB-30EA-FB6DC29B6567}"/>
              </a:ext>
            </a:extLst>
          </p:cNvPr>
          <p:cNvCxnSpPr/>
          <p:nvPr/>
        </p:nvCxnSpPr>
        <p:spPr>
          <a:xfrm>
            <a:off x="1637184" y="4075818"/>
            <a:ext cx="8875058" cy="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E9A6A4A-F50F-45C4-2E4B-173B39A6FFCD}"/>
              </a:ext>
            </a:extLst>
          </p:cNvPr>
          <p:cNvCxnSpPr/>
          <p:nvPr/>
        </p:nvCxnSpPr>
        <p:spPr>
          <a:xfrm>
            <a:off x="1637184" y="4452505"/>
            <a:ext cx="8875058" cy="0"/>
          </a:xfrm>
          <a:prstGeom prst="line">
            <a:avLst/>
          </a:prstGeom>
          <a:ln w="38100">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215789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BF948A99-782B-4139-A61F-6C2663DAEB76}"/>
              </a:ext>
            </a:extLst>
          </p:cNvPr>
          <p:cNvSpPr txBox="1"/>
          <p:nvPr/>
        </p:nvSpPr>
        <p:spPr>
          <a:xfrm>
            <a:off x="478180" y="7379"/>
            <a:ext cx="11713820" cy="830997"/>
          </a:xfrm>
          <a:prstGeom prst="rect">
            <a:avLst/>
          </a:prstGeom>
          <a:noFill/>
        </p:spPr>
        <p:txBody>
          <a:bodyPr wrap="square" rtlCol="0">
            <a:spAutoFit/>
          </a:bodyPr>
          <a:lstStyle/>
          <a:p>
            <a:pPr algn="ctr"/>
            <a:r>
              <a:rPr lang="en-AU" sz="4800" dirty="0"/>
              <a:t>ECE4078 in a nutshell</a:t>
            </a:r>
          </a:p>
        </p:txBody>
      </p:sp>
      <p:pic>
        <p:nvPicPr>
          <p:cNvPr id="3" name="Picture 2" descr="A white board with writing on it&#10;&#10;Description automatically generated with medium confidence">
            <a:extLst>
              <a:ext uri="{FF2B5EF4-FFF2-40B4-BE49-F238E27FC236}">
                <a16:creationId xmlns:a16="http://schemas.microsoft.com/office/drawing/2014/main" id="{83D156BD-E54A-923D-E2AC-66AB2B35BDF1}"/>
              </a:ext>
            </a:extLst>
          </p:cNvPr>
          <p:cNvPicPr>
            <a:picLocks noChangeAspect="1"/>
          </p:cNvPicPr>
          <p:nvPr/>
        </p:nvPicPr>
        <p:blipFill rotWithShape="1">
          <a:blip r:embed="rId2">
            <a:extLst>
              <a:ext uri="{28A0092B-C50C-407E-A947-70E740481C1C}">
                <a14:useLocalDpi xmlns:a14="http://schemas.microsoft.com/office/drawing/2010/main" val="0"/>
              </a:ext>
            </a:extLst>
          </a:blip>
          <a:srcRect l="7722" t="6427" r="2135" b="35156"/>
          <a:stretch/>
        </p:blipFill>
        <p:spPr>
          <a:xfrm>
            <a:off x="1421920" y="1119976"/>
            <a:ext cx="9826340" cy="4775930"/>
          </a:xfrm>
          <a:prstGeom prst="rect">
            <a:avLst/>
          </a:prstGeom>
        </p:spPr>
      </p:pic>
      <p:sp>
        <p:nvSpPr>
          <p:cNvPr id="5" name="TextBox 4">
            <a:extLst>
              <a:ext uri="{FF2B5EF4-FFF2-40B4-BE49-F238E27FC236}">
                <a16:creationId xmlns:a16="http://schemas.microsoft.com/office/drawing/2014/main" id="{29EB3D6C-D355-E1C0-B9B4-6F32DCF35792}"/>
              </a:ext>
            </a:extLst>
          </p:cNvPr>
          <p:cNvSpPr txBox="1"/>
          <p:nvPr/>
        </p:nvSpPr>
        <p:spPr>
          <a:xfrm>
            <a:off x="8120543" y="6332766"/>
            <a:ext cx="3378531" cy="369332"/>
          </a:xfrm>
          <a:prstGeom prst="rect">
            <a:avLst/>
          </a:prstGeom>
          <a:noFill/>
        </p:spPr>
        <p:txBody>
          <a:bodyPr wrap="square" rtlCol="0">
            <a:spAutoFit/>
          </a:bodyPr>
          <a:lstStyle/>
          <a:p>
            <a:r>
              <a:rPr lang="en-US" dirty="0"/>
              <a:t>- By unknown 2022 student</a:t>
            </a:r>
          </a:p>
        </p:txBody>
      </p:sp>
    </p:spTree>
    <p:extLst>
      <p:ext uri="{BB962C8B-B14F-4D97-AF65-F5344CB8AC3E}">
        <p14:creationId xmlns:p14="http://schemas.microsoft.com/office/powerpoint/2010/main" val="2900762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BF948A99-782B-4139-A61F-6C2663DAEB76}"/>
              </a:ext>
            </a:extLst>
          </p:cNvPr>
          <p:cNvSpPr txBox="1"/>
          <p:nvPr/>
        </p:nvSpPr>
        <p:spPr>
          <a:xfrm>
            <a:off x="478180" y="7379"/>
            <a:ext cx="11713820" cy="830997"/>
          </a:xfrm>
          <a:prstGeom prst="rect">
            <a:avLst/>
          </a:prstGeom>
          <a:noFill/>
        </p:spPr>
        <p:txBody>
          <a:bodyPr wrap="square" rtlCol="0">
            <a:spAutoFit/>
          </a:bodyPr>
          <a:lstStyle/>
          <a:p>
            <a:pPr algn="ctr"/>
            <a:r>
              <a:rPr lang="en-AU" sz="4800" dirty="0"/>
              <a:t>Checkpoint 2: Integration</a:t>
            </a:r>
          </a:p>
        </p:txBody>
      </p:sp>
      <p:sp>
        <p:nvSpPr>
          <p:cNvPr id="4" name="TextBox 3">
            <a:extLst>
              <a:ext uri="{FF2B5EF4-FFF2-40B4-BE49-F238E27FC236}">
                <a16:creationId xmlns:a16="http://schemas.microsoft.com/office/drawing/2014/main" id="{CA0B27D3-7B85-4485-A10E-AAC012A9B3BB}"/>
              </a:ext>
            </a:extLst>
          </p:cNvPr>
          <p:cNvSpPr txBox="1"/>
          <p:nvPr/>
        </p:nvSpPr>
        <p:spPr>
          <a:xfrm>
            <a:off x="478180" y="806896"/>
            <a:ext cx="11588314" cy="5632311"/>
          </a:xfrm>
          <a:prstGeom prst="rect">
            <a:avLst/>
          </a:prstGeom>
          <a:noFill/>
        </p:spPr>
        <p:txBody>
          <a:bodyPr wrap="square" rtlCol="0">
            <a:spAutoFit/>
          </a:bodyPr>
          <a:lstStyle/>
          <a:p>
            <a:r>
              <a:rPr lang="en-GB" dirty="0"/>
              <a:t>Checkpoint 2 (C2) is designed to give you time to integrate all the modules you completed in the previous milestones and an opportunity to practice the final demo. It integrates your work from M1 to M3 so that the robot can create a map of the arena containing the estimated poses of 10 </a:t>
            </a:r>
            <a:r>
              <a:rPr lang="en-GB" dirty="0" err="1"/>
              <a:t>ArUco</a:t>
            </a:r>
            <a:r>
              <a:rPr lang="en-GB" dirty="0"/>
              <a:t> markers (M1), 10 objects (M2), to then perform the grocery shopping task (M3).</a:t>
            </a:r>
          </a:p>
          <a:p>
            <a:br>
              <a:rPr lang="en-US" dirty="0"/>
            </a:br>
            <a:r>
              <a:rPr lang="en-US" b="1" dirty="0"/>
              <a:t>C2 is a practice run of the Final demo process.</a:t>
            </a:r>
            <a:r>
              <a:rPr lang="en-US" dirty="0"/>
              <a:t>	</a:t>
            </a:r>
          </a:p>
          <a:p>
            <a:br>
              <a:rPr lang="en-US" dirty="0"/>
            </a:br>
            <a:r>
              <a:rPr lang="en-US" dirty="0"/>
              <a:t>Final Demo Information:</a:t>
            </a:r>
          </a:p>
          <a:p>
            <a:pPr marL="342900" indent="-342900">
              <a:buFont typeface="Arial" panose="020B0604020202020204" pitchFamily="34" charset="0"/>
              <a:buChar char="•"/>
            </a:pPr>
            <a:r>
              <a:rPr lang="en-US" dirty="0"/>
              <a:t>The arena will contain:</a:t>
            </a:r>
          </a:p>
          <a:p>
            <a:pPr marL="342900" indent="-342900">
              <a:buFont typeface="Arial" panose="020B0604020202020204" pitchFamily="34" charset="0"/>
              <a:buChar char="•"/>
            </a:pPr>
            <a:r>
              <a:rPr lang="en-US" dirty="0"/>
              <a:t>10 </a:t>
            </a:r>
            <a:r>
              <a:rPr lang="en-US" dirty="0" err="1"/>
              <a:t>ArUco</a:t>
            </a:r>
            <a:r>
              <a:rPr lang="en-US" dirty="0"/>
              <a:t> markers</a:t>
            </a:r>
          </a:p>
          <a:p>
            <a:pPr marL="342900" indent="-342900">
              <a:buFont typeface="Arial" panose="020B0604020202020204" pitchFamily="34" charset="0"/>
              <a:buChar char="•"/>
            </a:pPr>
            <a:r>
              <a:rPr lang="en-US" dirty="0"/>
              <a:t>5 unique </a:t>
            </a:r>
            <a:r>
              <a:rPr lang="en-US" dirty="0" err="1"/>
              <a:t>fruits&amp;vegs</a:t>
            </a:r>
            <a:r>
              <a:rPr lang="en-US" dirty="0"/>
              <a:t> as targets for navigation (given shopping list)</a:t>
            </a:r>
          </a:p>
          <a:p>
            <a:pPr marL="342900" indent="-342900">
              <a:buFont typeface="Arial" panose="020B0604020202020204" pitchFamily="34" charset="0"/>
              <a:buChar char="•"/>
            </a:pPr>
            <a:r>
              <a:rPr lang="en-US" dirty="0"/>
              <a:t>5 obstacle </a:t>
            </a:r>
            <a:r>
              <a:rPr lang="en-US" dirty="0" err="1"/>
              <a:t>fruits&amp;vegs</a:t>
            </a:r>
            <a:r>
              <a:rPr lang="en-US" dirty="0"/>
              <a:t> (can contain duplicates)</a:t>
            </a:r>
          </a:p>
          <a:p>
            <a:pPr marL="342900" indent="-342900">
              <a:buFont typeface="Arial" panose="020B0604020202020204" pitchFamily="34" charset="0"/>
              <a:buChar char="•"/>
            </a:pPr>
            <a:r>
              <a:rPr lang="en-US" dirty="0"/>
              <a:t>There are two evaluation components:</a:t>
            </a:r>
          </a:p>
          <a:p>
            <a:pPr marL="342900" indent="-342900">
              <a:buFont typeface="Arial" panose="020B0604020202020204" pitchFamily="34" charset="0"/>
              <a:buChar char="•"/>
            </a:pPr>
            <a:endParaRPr lang="en-US" dirty="0"/>
          </a:p>
          <a:p>
            <a:r>
              <a:rPr lang="en-US" dirty="0"/>
              <a:t>Final Demo Tasks:</a:t>
            </a:r>
          </a:p>
          <a:p>
            <a:pPr marL="342900" indent="-342900">
              <a:buFont typeface="Arial" panose="020B0604020202020204" pitchFamily="34" charset="0"/>
              <a:buChar char="•"/>
            </a:pPr>
            <a:r>
              <a:rPr lang="en-US" dirty="0"/>
              <a:t>Arena mapping (manual or fully-autonomous)</a:t>
            </a:r>
          </a:p>
          <a:p>
            <a:pPr marL="800100" lvl="1" indent="-342900">
              <a:buFont typeface="Arial" panose="020B0604020202020204" pitchFamily="34" charset="0"/>
              <a:buChar char="•"/>
            </a:pPr>
            <a:r>
              <a:rPr lang="en-US" dirty="0"/>
              <a:t>SLAM map</a:t>
            </a:r>
          </a:p>
          <a:p>
            <a:pPr marL="800100" lvl="1" indent="-342900">
              <a:buFont typeface="Arial" panose="020B0604020202020204" pitchFamily="34" charset="0"/>
              <a:buChar char="•"/>
            </a:pPr>
            <a:r>
              <a:rPr lang="en-US" dirty="0"/>
              <a:t>Target map</a:t>
            </a:r>
          </a:p>
          <a:p>
            <a:pPr marL="342900" indent="-342900">
              <a:buFont typeface="Arial" panose="020B0604020202020204" pitchFamily="34" charset="0"/>
              <a:buChar char="•"/>
            </a:pPr>
            <a:r>
              <a:rPr lang="en-US" dirty="0"/>
              <a:t>Grocery shopping / navigation: fully-autonomous navigation</a:t>
            </a:r>
          </a:p>
          <a:p>
            <a:pPr marL="342900" indent="-342900">
              <a:buFont typeface="Arial" panose="020B0604020202020204" pitchFamily="34" charset="0"/>
              <a:buChar char="•"/>
            </a:pPr>
            <a:r>
              <a:rPr lang="en-US" dirty="0"/>
              <a:t>Fully-autonomous mapping must be done simultaneously with navigation </a:t>
            </a:r>
          </a:p>
        </p:txBody>
      </p:sp>
    </p:spTree>
    <p:extLst>
      <p:ext uri="{BB962C8B-B14F-4D97-AF65-F5344CB8AC3E}">
        <p14:creationId xmlns:p14="http://schemas.microsoft.com/office/powerpoint/2010/main" val="36333912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594DD9-516C-98B7-53FA-D87F85565C76}"/>
            </a:ext>
          </a:extLst>
        </p:cNvPr>
        <p:cNvGrpSpPr/>
        <p:nvPr/>
      </p:nvGrpSpPr>
      <p:grpSpPr>
        <a:xfrm>
          <a:off x="0" y="0"/>
          <a:ext cx="0" cy="0"/>
          <a:chOff x="0" y="0"/>
          <a:chExt cx="0" cy="0"/>
        </a:xfrm>
      </p:grpSpPr>
      <p:sp>
        <p:nvSpPr>
          <p:cNvPr id="50" name="TextBox 49">
            <a:extLst>
              <a:ext uri="{FF2B5EF4-FFF2-40B4-BE49-F238E27FC236}">
                <a16:creationId xmlns:a16="http://schemas.microsoft.com/office/drawing/2014/main" id="{90F82F25-0B4D-E96D-FEE0-DA81A2AAB2CF}"/>
              </a:ext>
            </a:extLst>
          </p:cNvPr>
          <p:cNvSpPr txBox="1"/>
          <p:nvPr/>
        </p:nvSpPr>
        <p:spPr>
          <a:xfrm>
            <a:off x="478180" y="7379"/>
            <a:ext cx="11713820" cy="830997"/>
          </a:xfrm>
          <a:prstGeom prst="rect">
            <a:avLst/>
          </a:prstGeom>
          <a:noFill/>
        </p:spPr>
        <p:txBody>
          <a:bodyPr wrap="square" rtlCol="0">
            <a:spAutoFit/>
          </a:bodyPr>
          <a:lstStyle/>
          <a:p>
            <a:pPr algn="ctr"/>
            <a:r>
              <a:rPr lang="en-AU" sz="4800" dirty="0"/>
              <a:t>Final Demo: Levels</a:t>
            </a:r>
          </a:p>
        </p:txBody>
      </p:sp>
      <p:sp>
        <p:nvSpPr>
          <p:cNvPr id="4" name="TextBox 3">
            <a:extLst>
              <a:ext uri="{FF2B5EF4-FFF2-40B4-BE49-F238E27FC236}">
                <a16:creationId xmlns:a16="http://schemas.microsoft.com/office/drawing/2014/main" id="{5FF8DFD6-A6C5-B7AB-C354-3B206B693582}"/>
              </a:ext>
            </a:extLst>
          </p:cNvPr>
          <p:cNvSpPr txBox="1"/>
          <p:nvPr/>
        </p:nvSpPr>
        <p:spPr>
          <a:xfrm>
            <a:off x="478180" y="806896"/>
            <a:ext cx="11588314" cy="5355312"/>
          </a:xfrm>
          <a:prstGeom prst="rect">
            <a:avLst/>
          </a:prstGeom>
          <a:noFill/>
        </p:spPr>
        <p:txBody>
          <a:bodyPr wrap="square" rtlCol="0">
            <a:spAutoFit/>
          </a:bodyPr>
          <a:lstStyle/>
          <a:p>
            <a:r>
              <a:rPr lang="en-GB" dirty="0"/>
              <a:t>The task is separated into three task levels, these levels are:</a:t>
            </a:r>
          </a:p>
          <a:p>
            <a:pPr marL="285750" indent="-285750">
              <a:buFont typeface="Arial" panose="020B0604020202020204" pitchFamily="34" charset="0"/>
              <a:buChar char="•"/>
            </a:pPr>
            <a:r>
              <a:rPr lang="en-GB" dirty="0"/>
              <a:t>Level 1: Manual Mapping and Fully-Autonomous Navigation </a:t>
            </a:r>
          </a:p>
          <a:p>
            <a:pPr marL="742950" lvl="1" indent="-285750">
              <a:buFont typeface="Arial" panose="020B0604020202020204" pitchFamily="34" charset="0"/>
              <a:buChar char="•"/>
            </a:pPr>
            <a:r>
              <a:rPr lang="en-GB" dirty="0"/>
              <a:t>The robot can be teleoperated for the Mapping task</a:t>
            </a:r>
          </a:p>
          <a:p>
            <a:pPr marL="742950" lvl="1" indent="-285750">
              <a:buFont typeface="Arial" panose="020B0604020202020204" pitchFamily="34" charset="0"/>
              <a:buChar char="•"/>
            </a:pPr>
            <a:r>
              <a:rPr lang="en-GB" dirty="0"/>
              <a:t>The robot must navigate around the arena autonomously</a:t>
            </a:r>
          </a:p>
          <a:p>
            <a:pPr marL="742950" lvl="1" indent="-285750">
              <a:buFont typeface="Arial" panose="020B0604020202020204" pitchFamily="34" charset="0"/>
              <a:buChar char="•"/>
            </a:pPr>
            <a:r>
              <a:rPr lang="en-GB" dirty="0"/>
              <a:t>You must navigate to targets on the shopping list in the specified order</a:t>
            </a:r>
          </a:p>
          <a:p>
            <a:pPr marL="742950" lvl="1"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Level 2: Manual Mapping and Fully-Autonomous Navigation with Swapped Objects</a:t>
            </a:r>
          </a:p>
          <a:p>
            <a:pPr marL="742950" lvl="1" indent="-285750">
              <a:buFont typeface="Arial" panose="020B0604020202020204" pitchFamily="34" charset="0"/>
              <a:buChar char="•"/>
            </a:pPr>
            <a:r>
              <a:rPr lang="en-GB" dirty="0"/>
              <a:t>The robot can be teleoperated for the Mapping task</a:t>
            </a:r>
          </a:p>
          <a:p>
            <a:pPr marL="742950" lvl="1" indent="-285750">
              <a:buFont typeface="Arial" panose="020B0604020202020204" pitchFamily="34" charset="0"/>
              <a:buChar char="•"/>
            </a:pPr>
            <a:r>
              <a:rPr lang="en-GB" dirty="0"/>
              <a:t>The robot must navigate around the arena autonomously</a:t>
            </a:r>
          </a:p>
          <a:p>
            <a:pPr marL="742950" lvl="1" indent="-285750">
              <a:buFont typeface="Arial" panose="020B0604020202020204" pitchFamily="34" charset="0"/>
              <a:buChar char="•"/>
            </a:pPr>
            <a:r>
              <a:rPr lang="en-GB" dirty="0"/>
              <a:t>After mapping occurs, target and/or obstacles objects will change locations</a:t>
            </a:r>
          </a:p>
          <a:p>
            <a:pPr marL="742950" lvl="1" indent="-285750">
              <a:buFont typeface="Arial" panose="020B0604020202020204" pitchFamily="34" charset="0"/>
              <a:buChar char="•"/>
            </a:pPr>
            <a:r>
              <a:rPr lang="en-GB" dirty="0"/>
              <a:t>You must navigate to targets on the shopping list in the specified order</a:t>
            </a:r>
          </a:p>
          <a:p>
            <a:pPr marL="742950" lvl="1" indent="-285750">
              <a:buFont typeface="Arial" panose="020B0604020202020204" pitchFamily="34" charset="0"/>
              <a:buChar char="•"/>
            </a:pPr>
            <a:endParaRPr lang="en-GB" dirty="0"/>
          </a:p>
          <a:p>
            <a:pPr marL="285750" indent="-285750">
              <a:buFont typeface="Arial" panose="020B0604020202020204" pitchFamily="34" charset="0"/>
              <a:buChar char="•"/>
            </a:pPr>
            <a:r>
              <a:rPr lang="en-GB" dirty="0"/>
              <a:t>Level 3: Fully-Autonomous Mapping and Navigation</a:t>
            </a:r>
          </a:p>
          <a:p>
            <a:pPr marL="742950" lvl="1" indent="-285750">
              <a:buFont typeface="Arial" panose="020B0604020202020204" pitchFamily="34" charset="0"/>
              <a:buChar char="•"/>
            </a:pPr>
            <a:r>
              <a:rPr lang="en-GB" dirty="0"/>
              <a:t>The robot performs simultaneous mapping and navigation around the arena autonomously</a:t>
            </a:r>
          </a:p>
          <a:p>
            <a:pPr marL="742950" lvl="1" indent="-285750">
              <a:buFont typeface="Arial" panose="020B0604020202020204" pitchFamily="34" charset="0"/>
              <a:buChar char="•"/>
            </a:pPr>
            <a:r>
              <a:rPr lang="en-GB" dirty="0"/>
              <a:t>You may navigate to objects in any order</a:t>
            </a:r>
          </a:p>
          <a:p>
            <a:pPr marL="742950" lvl="1" indent="-285750">
              <a:buFont typeface="Arial" panose="020B0604020202020204" pitchFamily="34" charset="0"/>
              <a:buChar char="•"/>
            </a:pPr>
            <a:r>
              <a:rPr lang="en-GB" dirty="0"/>
              <a:t>You are still provided a shopping list, but you do not need to navigate to the targets in the same order as the list. Due to the removal of shopping list order, you must clearly indicate if the robot is stopping for an object by printing the label of the specified object to terminal and notifying the TA of the robot's intention to stop at the specific target. </a:t>
            </a:r>
            <a:endParaRPr lang="en-US" dirty="0"/>
          </a:p>
        </p:txBody>
      </p:sp>
    </p:spTree>
    <p:extLst>
      <p:ext uri="{BB962C8B-B14F-4D97-AF65-F5344CB8AC3E}">
        <p14:creationId xmlns:p14="http://schemas.microsoft.com/office/powerpoint/2010/main" val="2673768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BF948A99-782B-4139-A61F-6C2663DAEB76}"/>
              </a:ext>
            </a:extLst>
          </p:cNvPr>
          <p:cNvSpPr txBox="1"/>
          <p:nvPr/>
        </p:nvSpPr>
        <p:spPr>
          <a:xfrm>
            <a:off x="478180" y="172557"/>
            <a:ext cx="11713820" cy="830997"/>
          </a:xfrm>
          <a:prstGeom prst="rect">
            <a:avLst/>
          </a:prstGeom>
          <a:noFill/>
        </p:spPr>
        <p:txBody>
          <a:bodyPr wrap="square" rtlCol="0">
            <a:spAutoFit/>
          </a:bodyPr>
          <a:lstStyle/>
          <a:p>
            <a:pPr algn="ctr"/>
            <a:r>
              <a:rPr lang="en-AU" sz="4800" dirty="0"/>
              <a:t>Additional recommendations (optional)</a:t>
            </a:r>
          </a:p>
        </p:txBody>
      </p:sp>
      <p:sp>
        <p:nvSpPr>
          <p:cNvPr id="51" name="TextBox 50">
            <a:extLst>
              <a:ext uri="{FF2B5EF4-FFF2-40B4-BE49-F238E27FC236}">
                <a16:creationId xmlns:a16="http://schemas.microsoft.com/office/drawing/2014/main" id="{23C81F35-1469-4804-9BCB-5A04321DD9C5}"/>
              </a:ext>
            </a:extLst>
          </p:cNvPr>
          <p:cNvSpPr txBox="1"/>
          <p:nvPr/>
        </p:nvSpPr>
        <p:spPr>
          <a:xfrm>
            <a:off x="666931" y="1104222"/>
            <a:ext cx="11336318" cy="3416320"/>
          </a:xfrm>
          <a:prstGeom prst="rect">
            <a:avLst/>
          </a:prstGeom>
          <a:noFill/>
        </p:spPr>
        <p:txBody>
          <a:bodyPr wrap="square" rtlCol="0">
            <a:spAutoFit/>
          </a:bodyPr>
          <a:lstStyle/>
          <a:p>
            <a:r>
              <a:rPr lang="en-AU" dirty="0"/>
              <a:t>Practice </a:t>
            </a:r>
            <a:r>
              <a:rPr lang="en-AU" dirty="0" err="1"/>
              <a:t>practice</a:t>
            </a:r>
            <a:r>
              <a:rPr lang="en-AU" dirty="0"/>
              <a:t> </a:t>
            </a:r>
            <a:r>
              <a:rPr lang="en-AU" dirty="0" err="1"/>
              <a:t>practice</a:t>
            </a:r>
            <a:r>
              <a:rPr lang="en-AU" dirty="0"/>
              <a:t>! (again)</a:t>
            </a:r>
          </a:p>
          <a:p>
            <a:pPr marL="285750" indent="-285750">
              <a:buFont typeface="Arial" panose="020B0604020202020204" pitchFamily="34" charset="0"/>
              <a:buChar char="•"/>
            </a:pPr>
            <a:r>
              <a:rPr lang="en-AU" dirty="0"/>
              <a:t>The easiest and most influential recommendation.</a:t>
            </a:r>
          </a:p>
          <a:p>
            <a:pPr marL="285750" indent="-285750">
              <a:buFont typeface="Arial" panose="020B0604020202020204" pitchFamily="34" charset="0"/>
              <a:buChar char="•"/>
            </a:pPr>
            <a:r>
              <a:rPr lang="en-AU" dirty="0"/>
              <a:t>Remember this ALSO includes setting up the environment as quick as you can.</a:t>
            </a:r>
          </a:p>
          <a:p>
            <a:pPr marL="285750" indent="-285750">
              <a:buFont typeface="Arial" panose="020B0604020202020204" pitchFamily="34" charset="0"/>
              <a:buChar char="•"/>
            </a:pPr>
            <a:r>
              <a:rPr lang="en-AU" dirty="0"/>
              <a:t>Try and practice on a wide range of maps whilst trying your best to replicate the EXACT same 	conditions you will be performing the live demo under.</a:t>
            </a:r>
          </a:p>
          <a:p>
            <a:endParaRPr lang="en-AU" dirty="0"/>
          </a:p>
          <a:p>
            <a:r>
              <a:rPr lang="en-AU" dirty="0"/>
              <a:t>Develop, plan and discuss a strategy </a:t>
            </a:r>
          </a:p>
          <a:p>
            <a:pPr marL="285750" indent="-285750">
              <a:buFont typeface="Arial" panose="020B0604020202020204" pitchFamily="34" charset="0"/>
              <a:buChar char="•"/>
            </a:pPr>
            <a:r>
              <a:rPr lang="en-AU" dirty="0"/>
              <a:t>Try and find a “meta” strategy that will give you the most marks in the limited live demo time</a:t>
            </a:r>
          </a:p>
          <a:p>
            <a:pPr marL="285750" indent="-285750">
              <a:buFont typeface="Arial" panose="020B0604020202020204" pitchFamily="34" charset="0"/>
              <a:buChar char="•"/>
            </a:pPr>
            <a:r>
              <a:rPr lang="en-AU" dirty="0"/>
              <a:t>Is it better to brute force the task with many fast attempts as possible? Or is it better to try and take it slow and be more consistent? </a:t>
            </a:r>
          </a:p>
          <a:p>
            <a:pPr marL="285750" indent="-285750">
              <a:buFont typeface="Arial" panose="020B0604020202020204" pitchFamily="34" charset="0"/>
              <a:buChar char="•"/>
            </a:pPr>
            <a:r>
              <a:rPr lang="en-AU" dirty="0"/>
              <a:t>Is there a specific driving strategy you should follow when mapping the arena?</a:t>
            </a:r>
          </a:p>
          <a:p>
            <a:pPr marL="285750" indent="-285750">
              <a:buFont typeface="Arial" panose="020B0604020202020204" pitchFamily="34" charset="0"/>
              <a:buChar char="•"/>
            </a:pPr>
            <a:r>
              <a:rPr lang="en-AU"/>
              <a:t>Discuss and solidify a plan with your group with what kind of strategy you should use.</a:t>
            </a:r>
            <a:endParaRPr lang="en-AU" dirty="0"/>
          </a:p>
        </p:txBody>
      </p:sp>
    </p:spTree>
    <p:extLst>
      <p:ext uri="{BB962C8B-B14F-4D97-AF65-F5344CB8AC3E}">
        <p14:creationId xmlns:p14="http://schemas.microsoft.com/office/powerpoint/2010/main" val="48861571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BF948A99-782B-4139-A61F-6C2663DAEB76}"/>
              </a:ext>
            </a:extLst>
          </p:cNvPr>
          <p:cNvSpPr txBox="1"/>
          <p:nvPr/>
        </p:nvSpPr>
        <p:spPr>
          <a:xfrm>
            <a:off x="478180" y="172557"/>
            <a:ext cx="11713820" cy="830997"/>
          </a:xfrm>
          <a:prstGeom prst="rect">
            <a:avLst/>
          </a:prstGeom>
          <a:noFill/>
        </p:spPr>
        <p:txBody>
          <a:bodyPr wrap="square" rtlCol="0">
            <a:spAutoFit/>
          </a:bodyPr>
          <a:lstStyle/>
          <a:p>
            <a:pPr algn="ctr"/>
            <a:r>
              <a:rPr lang="en-AU" sz="4800" dirty="0"/>
              <a:t>Additional recommendations (optional)</a:t>
            </a:r>
          </a:p>
        </p:txBody>
      </p:sp>
      <p:sp>
        <p:nvSpPr>
          <p:cNvPr id="51" name="TextBox 50">
            <a:extLst>
              <a:ext uri="{FF2B5EF4-FFF2-40B4-BE49-F238E27FC236}">
                <a16:creationId xmlns:a16="http://schemas.microsoft.com/office/drawing/2014/main" id="{23C81F35-1469-4804-9BCB-5A04321DD9C5}"/>
              </a:ext>
            </a:extLst>
          </p:cNvPr>
          <p:cNvSpPr txBox="1"/>
          <p:nvPr/>
        </p:nvSpPr>
        <p:spPr>
          <a:xfrm>
            <a:off x="666931" y="1104222"/>
            <a:ext cx="8338922" cy="2585323"/>
          </a:xfrm>
          <a:prstGeom prst="rect">
            <a:avLst/>
          </a:prstGeom>
          <a:noFill/>
        </p:spPr>
        <p:txBody>
          <a:bodyPr wrap="square" rtlCol="0">
            <a:spAutoFit/>
          </a:bodyPr>
          <a:lstStyle/>
          <a:p>
            <a:r>
              <a:rPr lang="en-AU" dirty="0"/>
              <a:t>- Improved GUI</a:t>
            </a:r>
          </a:p>
          <a:p>
            <a:r>
              <a:rPr lang="en-AU" dirty="0"/>
              <a:t>	</a:t>
            </a:r>
          </a:p>
          <a:p>
            <a:r>
              <a:rPr lang="en-AU" dirty="0"/>
              <a:t>	An improved GUI can really help out the mapping and navigation</a:t>
            </a:r>
            <a:br>
              <a:rPr lang="en-AU" dirty="0"/>
            </a:br>
            <a:endParaRPr lang="en-AU" dirty="0"/>
          </a:p>
          <a:p>
            <a:r>
              <a:rPr lang="en-AU" dirty="0"/>
              <a:t>	Rendering the trajectory on screen can be helpful to check early on if the 	generated path of the robot is a viable one (and for you to decide if you 	want to go ahead with this path / waypoint or to generate a new one 	before starting the navigation)</a:t>
            </a:r>
          </a:p>
          <a:p>
            <a:endParaRPr lang="en-AU" dirty="0"/>
          </a:p>
        </p:txBody>
      </p:sp>
      <p:pic>
        <p:nvPicPr>
          <p:cNvPr id="2" name="Picture 1">
            <a:extLst>
              <a:ext uri="{FF2B5EF4-FFF2-40B4-BE49-F238E27FC236}">
                <a16:creationId xmlns:a16="http://schemas.microsoft.com/office/drawing/2014/main" id="{1FC471D2-F34F-4AB8-4F0A-101C3579C249}"/>
              </a:ext>
            </a:extLst>
          </p:cNvPr>
          <p:cNvPicPr>
            <a:picLocks noChangeAspect="1"/>
          </p:cNvPicPr>
          <p:nvPr/>
        </p:nvPicPr>
        <p:blipFill rotWithShape="1">
          <a:blip r:embed="rId2"/>
          <a:srcRect l="3992" t="24240" r="30113" b="4397"/>
          <a:stretch/>
        </p:blipFill>
        <p:spPr>
          <a:xfrm>
            <a:off x="9005853" y="1104222"/>
            <a:ext cx="2989039" cy="3377672"/>
          </a:xfrm>
          <a:prstGeom prst="rect">
            <a:avLst/>
          </a:prstGeom>
        </p:spPr>
      </p:pic>
      <p:sp>
        <p:nvSpPr>
          <p:cNvPr id="4" name="TextBox 3">
            <a:extLst>
              <a:ext uri="{FF2B5EF4-FFF2-40B4-BE49-F238E27FC236}">
                <a16:creationId xmlns:a16="http://schemas.microsoft.com/office/drawing/2014/main" id="{E8BC462E-8726-5A8C-B7B7-50DDBF4F072B}"/>
              </a:ext>
            </a:extLst>
          </p:cNvPr>
          <p:cNvSpPr txBox="1"/>
          <p:nvPr/>
        </p:nvSpPr>
        <p:spPr>
          <a:xfrm>
            <a:off x="666931" y="4481894"/>
            <a:ext cx="11256930" cy="1754326"/>
          </a:xfrm>
          <a:prstGeom prst="rect">
            <a:avLst/>
          </a:prstGeom>
          <a:noFill/>
        </p:spPr>
        <p:txBody>
          <a:bodyPr wrap="square">
            <a:spAutoFit/>
          </a:bodyPr>
          <a:lstStyle/>
          <a:p>
            <a:endParaRPr lang="en-AU" dirty="0"/>
          </a:p>
          <a:p>
            <a:r>
              <a:rPr lang="en-AU" dirty="0"/>
              <a:t>- Path planning selection </a:t>
            </a:r>
            <a:br>
              <a:rPr lang="en-AU" dirty="0"/>
            </a:br>
            <a:r>
              <a:rPr lang="en-AU" dirty="0"/>
              <a:t>	If you are using a stochastic path planning algorithm (or multiple path planning algorithms), it may  	be beneficial to initially generate multiple potential trajectories which the robot can select from</a:t>
            </a:r>
          </a:p>
          <a:p>
            <a:br>
              <a:rPr lang="en-AU" dirty="0"/>
            </a:br>
            <a:r>
              <a:rPr lang="en-AU" dirty="0"/>
              <a:t>	Remember, you can only press ONE button to start your script</a:t>
            </a:r>
          </a:p>
        </p:txBody>
      </p:sp>
    </p:spTree>
    <p:extLst>
      <p:ext uri="{BB962C8B-B14F-4D97-AF65-F5344CB8AC3E}">
        <p14:creationId xmlns:p14="http://schemas.microsoft.com/office/powerpoint/2010/main" val="39366243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BF948A99-782B-4139-A61F-6C2663DAEB76}"/>
              </a:ext>
            </a:extLst>
          </p:cNvPr>
          <p:cNvSpPr txBox="1"/>
          <p:nvPr/>
        </p:nvSpPr>
        <p:spPr>
          <a:xfrm>
            <a:off x="478180" y="172557"/>
            <a:ext cx="11713820" cy="830997"/>
          </a:xfrm>
          <a:prstGeom prst="rect">
            <a:avLst/>
          </a:prstGeom>
          <a:noFill/>
        </p:spPr>
        <p:txBody>
          <a:bodyPr wrap="square" rtlCol="0">
            <a:spAutoFit/>
          </a:bodyPr>
          <a:lstStyle/>
          <a:p>
            <a:pPr algn="ctr"/>
            <a:r>
              <a:rPr lang="en-AU" sz="4800" dirty="0"/>
              <a:t>Additional recommendations (optional)</a:t>
            </a:r>
          </a:p>
        </p:txBody>
      </p:sp>
      <p:sp>
        <p:nvSpPr>
          <p:cNvPr id="51" name="TextBox 50">
            <a:extLst>
              <a:ext uri="{FF2B5EF4-FFF2-40B4-BE49-F238E27FC236}">
                <a16:creationId xmlns:a16="http://schemas.microsoft.com/office/drawing/2014/main" id="{23C81F35-1469-4804-9BCB-5A04321DD9C5}"/>
              </a:ext>
            </a:extLst>
          </p:cNvPr>
          <p:cNvSpPr txBox="1"/>
          <p:nvPr/>
        </p:nvSpPr>
        <p:spPr>
          <a:xfrm>
            <a:off x="666931" y="1104222"/>
            <a:ext cx="11387610" cy="4247317"/>
          </a:xfrm>
          <a:prstGeom prst="rect">
            <a:avLst/>
          </a:prstGeom>
          <a:noFill/>
        </p:spPr>
        <p:txBody>
          <a:bodyPr wrap="square" rtlCol="0">
            <a:spAutoFit/>
          </a:bodyPr>
          <a:lstStyle/>
          <a:p>
            <a:r>
              <a:rPr lang="en-AU" dirty="0"/>
              <a:t>- Waypoint thresholding</a:t>
            </a:r>
          </a:p>
          <a:p>
            <a:r>
              <a:rPr lang="en-AU" dirty="0"/>
              <a:t>	You can set an appropriate threshold so the robot doesn’t have to get too close to a waypoint point 	and get fixated at trying to do so</a:t>
            </a:r>
          </a:p>
          <a:p>
            <a:br>
              <a:rPr lang="en-AU" dirty="0"/>
            </a:br>
            <a:r>
              <a:rPr lang="en-AU" dirty="0"/>
              <a:t>	If this fixation is due to the robot thinking it “teleported” due to an update of its position from seeing 	an </a:t>
            </a:r>
            <a:r>
              <a:rPr lang="en-AU" dirty="0" err="1"/>
              <a:t>ArUco</a:t>
            </a:r>
            <a:r>
              <a:rPr lang="en-AU" dirty="0"/>
              <a:t> marker, then you may need to decrease the uncertainty in the predict step so it relies on 	the robot’s dynamics a bit more </a:t>
            </a:r>
          </a:p>
          <a:p>
            <a:endParaRPr lang="en-AU" dirty="0"/>
          </a:p>
          <a:p>
            <a:endParaRPr lang="en-AU" dirty="0"/>
          </a:p>
          <a:p>
            <a:endParaRPr lang="en-AU" dirty="0"/>
          </a:p>
          <a:p>
            <a:r>
              <a:rPr lang="en-AU" dirty="0"/>
              <a:t>Remember, the skeleton codes are for reference only and you’ll have to improve the codes or write your own to get better marks. As long as your codes perform the task and generate estimation maps that can be marked according to the evaluation schemes and scripts you are free to modify the skeleton codes.</a:t>
            </a:r>
          </a:p>
          <a:p>
            <a:endParaRPr lang="en-AU" dirty="0"/>
          </a:p>
          <a:p>
            <a:endParaRPr lang="en-AU" dirty="0"/>
          </a:p>
        </p:txBody>
      </p:sp>
    </p:spTree>
    <p:extLst>
      <p:ext uri="{BB962C8B-B14F-4D97-AF65-F5344CB8AC3E}">
        <p14:creationId xmlns:p14="http://schemas.microsoft.com/office/powerpoint/2010/main" val="2468866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BF948A99-782B-4139-A61F-6C2663DAEB76}"/>
              </a:ext>
            </a:extLst>
          </p:cNvPr>
          <p:cNvSpPr txBox="1"/>
          <p:nvPr/>
        </p:nvSpPr>
        <p:spPr>
          <a:xfrm>
            <a:off x="478180" y="7379"/>
            <a:ext cx="11713820" cy="830997"/>
          </a:xfrm>
          <a:prstGeom prst="rect">
            <a:avLst/>
          </a:prstGeom>
          <a:noFill/>
        </p:spPr>
        <p:txBody>
          <a:bodyPr wrap="square" rtlCol="0">
            <a:spAutoFit/>
          </a:bodyPr>
          <a:lstStyle/>
          <a:p>
            <a:pPr algn="ctr"/>
            <a:r>
              <a:rPr lang="en-AU" sz="4800" dirty="0"/>
              <a:t>M3: Evaluation</a:t>
            </a:r>
          </a:p>
        </p:txBody>
      </p:sp>
      <p:sp>
        <p:nvSpPr>
          <p:cNvPr id="4" name="TextBox 3">
            <a:extLst>
              <a:ext uri="{FF2B5EF4-FFF2-40B4-BE49-F238E27FC236}">
                <a16:creationId xmlns:a16="http://schemas.microsoft.com/office/drawing/2014/main" id="{CA0B27D3-7B85-4485-A10E-AAC012A9B3BB}"/>
              </a:ext>
            </a:extLst>
          </p:cNvPr>
          <p:cNvSpPr txBox="1"/>
          <p:nvPr/>
        </p:nvSpPr>
        <p:spPr>
          <a:xfrm>
            <a:off x="478180" y="806896"/>
            <a:ext cx="11527007" cy="5909310"/>
          </a:xfrm>
          <a:prstGeom prst="rect">
            <a:avLst/>
          </a:prstGeom>
          <a:noFill/>
        </p:spPr>
        <p:txBody>
          <a:bodyPr wrap="square" rtlCol="0">
            <a:spAutoFit/>
          </a:bodyPr>
          <a:lstStyle/>
          <a:p>
            <a:r>
              <a:rPr lang="en-US" dirty="0"/>
              <a:t>Live demo marking in wk9 using new arena</a:t>
            </a:r>
          </a:p>
          <a:p>
            <a:endParaRPr lang="en-US" dirty="0"/>
          </a:p>
          <a:p>
            <a:r>
              <a:rPr lang="en-US" dirty="0"/>
              <a:t>Each of the 3 levels have different marks associated</a:t>
            </a:r>
          </a:p>
          <a:p>
            <a:r>
              <a:rPr lang="en-US" b="1" dirty="0"/>
              <a:t>	Level 1</a:t>
            </a:r>
            <a:r>
              <a:rPr lang="en-US" dirty="0"/>
              <a:t>: (Total marks: 50pt)</a:t>
            </a:r>
          </a:p>
          <a:p>
            <a:r>
              <a:rPr lang="en-US" dirty="0"/>
              <a:t>		For each successful navigation in order +10pts</a:t>
            </a:r>
          </a:p>
          <a:p>
            <a:endParaRPr lang="en-US" dirty="0"/>
          </a:p>
          <a:p>
            <a:r>
              <a:rPr lang="en-US" b="1" dirty="0"/>
              <a:t>	Level 2</a:t>
            </a:r>
            <a:r>
              <a:rPr lang="en-US" dirty="0"/>
              <a:t>: (Total marks: 20pt)</a:t>
            </a:r>
          </a:p>
          <a:p>
            <a:r>
              <a:rPr lang="en-US" dirty="0"/>
              <a:t>		You get the Lv1 50pt if you can </a:t>
            </a:r>
            <a:r>
              <a:rPr lang="en-US" b="1" dirty="0"/>
              <a:t>achieve a qualified run </a:t>
            </a:r>
            <a:r>
              <a:rPr lang="en-US" dirty="0"/>
              <a:t>in Lv2</a:t>
            </a:r>
          </a:p>
          <a:p>
            <a:r>
              <a:rPr lang="en-US" dirty="0"/>
              <a:t>		For each successful navigation in order +4pts</a:t>
            </a:r>
          </a:p>
          <a:p>
            <a:endParaRPr lang="en-US" dirty="0"/>
          </a:p>
          <a:p>
            <a:r>
              <a:rPr lang="en-US" b="1" dirty="0"/>
              <a:t>	Level 3</a:t>
            </a:r>
            <a:r>
              <a:rPr lang="en-US" dirty="0"/>
              <a:t>: (Total marks: 15pt)</a:t>
            </a:r>
          </a:p>
          <a:p>
            <a:r>
              <a:rPr lang="en-US" dirty="0"/>
              <a:t>		You get the Lv1+Lv2 70pt if you can </a:t>
            </a:r>
            <a:r>
              <a:rPr lang="en-US" b="1" dirty="0"/>
              <a:t>achieve a qualified run </a:t>
            </a:r>
            <a:r>
              <a:rPr lang="en-US" dirty="0"/>
              <a:t>in Lv3</a:t>
            </a:r>
          </a:p>
          <a:p>
            <a:r>
              <a:rPr lang="en-US" dirty="0"/>
              <a:t>		For each successful navigation in order +3pts</a:t>
            </a:r>
          </a:p>
          <a:p>
            <a:endParaRPr lang="en-US" dirty="0"/>
          </a:p>
          <a:p>
            <a:r>
              <a:rPr lang="en-US" b="1" dirty="0"/>
              <a:t>	Level 4</a:t>
            </a:r>
            <a:r>
              <a:rPr lang="en-US" dirty="0"/>
              <a:t>: (Total marks: 15pt)</a:t>
            </a:r>
          </a:p>
          <a:p>
            <a:r>
              <a:rPr lang="en-US" dirty="0"/>
              <a:t>		You get the Lv1+Lv2+Lv3 85pt if you can </a:t>
            </a:r>
            <a:r>
              <a:rPr lang="en-US" b="1" dirty="0"/>
              <a:t>achieve a qualified run </a:t>
            </a:r>
            <a:r>
              <a:rPr lang="en-US" dirty="0"/>
              <a:t>in Lv4</a:t>
            </a:r>
          </a:p>
          <a:p>
            <a:r>
              <a:rPr lang="en-US" dirty="0"/>
              <a:t>		For each successful navigation in order +3pts</a:t>
            </a:r>
          </a:p>
          <a:p>
            <a:r>
              <a:rPr lang="en-US" dirty="0"/>
              <a:t>You will receive penalties if:</a:t>
            </a:r>
          </a:p>
          <a:p>
            <a:r>
              <a:rPr lang="en-US" dirty="0"/>
              <a:t>	Robot collides with marker/object (-5pt)</a:t>
            </a:r>
          </a:p>
          <a:p>
            <a:r>
              <a:rPr lang="en-US" dirty="0"/>
              <a:t>	Robot touches the  arena boundaries (-5pt)</a:t>
            </a:r>
          </a:p>
          <a:p>
            <a:r>
              <a:rPr lang="en-US" dirty="0"/>
              <a:t>	Max 5 penalties allowed: Fifth time a penalty happens that run is stopped</a:t>
            </a:r>
          </a:p>
        </p:txBody>
      </p:sp>
    </p:spTree>
    <p:extLst>
      <p:ext uri="{BB962C8B-B14F-4D97-AF65-F5344CB8AC3E}">
        <p14:creationId xmlns:p14="http://schemas.microsoft.com/office/powerpoint/2010/main" val="23668908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BF948A99-782B-4139-A61F-6C2663DAEB76}"/>
              </a:ext>
            </a:extLst>
          </p:cNvPr>
          <p:cNvSpPr txBox="1"/>
          <p:nvPr/>
        </p:nvSpPr>
        <p:spPr>
          <a:xfrm>
            <a:off x="478180" y="7379"/>
            <a:ext cx="11713820" cy="830997"/>
          </a:xfrm>
          <a:prstGeom prst="rect">
            <a:avLst/>
          </a:prstGeom>
          <a:noFill/>
        </p:spPr>
        <p:txBody>
          <a:bodyPr wrap="square" rtlCol="0">
            <a:spAutoFit/>
          </a:bodyPr>
          <a:lstStyle/>
          <a:p>
            <a:pPr algn="ctr"/>
            <a:r>
              <a:rPr lang="en-AU" sz="4800" dirty="0"/>
              <a:t>M3: Marking Rules</a:t>
            </a:r>
          </a:p>
        </p:txBody>
      </p:sp>
      <p:sp>
        <p:nvSpPr>
          <p:cNvPr id="4" name="TextBox 3">
            <a:extLst>
              <a:ext uri="{FF2B5EF4-FFF2-40B4-BE49-F238E27FC236}">
                <a16:creationId xmlns:a16="http://schemas.microsoft.com/office/drawing/2014/main" id="{CA0B27D3-7B85-4485-A10E-AAC012A9B3BB}"/>
              </a:ext>
            </a:extLst>
          </p:cNvPr>
          <p:cNvSpPr txBox="1"/>
          <p:nvPr/>
        </p:nvSpPr>
        <p:spPr>
          <a:xfrm>
            <a:off x="478180" y="697267"/>
            <a:ext cx="11527007" cy="6186309"/>
          </a:xfrm>
          <a:prstGeom prst="rect">
            <a:avLst/>
          </a:prstGeom>
          <a:noFill/>
        </p:spPr>
        <p:txBody>
          <a:bodyPr wrap="square" rtlCol="0">
            <a:spAutoFit/>
          </a:bodyPr>
          <a:lstStyle/>
          <a:p>
            <a:r>
              <a:rPr lang="en-US" dirty="0">
                <a:solidFill>
                  <a:srgbClr val="FFFF00"/>
                </a:solidFill>
              </a:rPr>
              <a:t>(see M3_marking.md for more info)</a:t>
            </a:r>
          </a:p>
          <a:p>
            <a:endParaRPr lang="en-US" dirty="0"/>
          </a:p>
          <a:p>
            <a:r>
              <a:rPr lang="en-US" dirty="0"/>
              <a:t>No more than 5 penalties (collision) applied in a run and no more than 5 penalties allowed. After the 5</a:t>
            </a:r>
            <a:r>
              <a:rPr lang="en-US" baseline="30000" dirty="0"/>
              <a:t>th</a:t>
            </a:r>
            <a:r>
              <a:rPr lang="en-US" dirty="0"/>
              <a:t> time, the run is stopped and marks are awarded if run is qualified.</a:t>
            </a:r>
          </a:p>
          <a:p>
            <a:endParaRPr lang="en-US" dirty="0"/>
          </a:p>
          <a:p>
            <a:r>
              <a:rPr lang="en-US" dirty="0"/>
              <a:t>End condition to achieve a qualified run: Your robot attempts to navigate to (stop past within 0.5m radius) 3/4 targets in order (skips allowed) for lvl2/lvl3 and 5 targets in any order for lv4. (You will only get marks for targets navigated in order and if it is a qualified run or level 1) </a:t>
            </a:r>
          </a:p>
          <a:p>
            <a:r>
              <a:rPr lang="en-US" dirty="0"/>
              <a:t>You have to show a qualified Lv2/Lv3/Lv4 run to get marked by the Lv2/Lv3/Lv4 formula</a:t>
            </a:r>
          </a:p>
          <a:p>
            <a:endParaRPr lang="en-US" dirty="0"/>
          </a:p>
          <a:p>
            <a:r>
              <a:rPr lang="en-US" dirty="0"/>
              <a:t>The </a:t>
            </a:r>
            <a:r>
              <a:rPr lang="en-US" b="1" dirty="0"/>
              <a:t>entire </a:t>
            </a:r>
            <a:r>
              <a:rPr lang="en-US" dirty="0"/>
              <a:t>robot needs to </a:t>
            </a:r>
            <a:r>
              <a:rPr lang="en-US" b="1" dirty="0"/>
              <a:t>stop </a:t>
            </a:r>
            <a:r>
              <a:rPr lang="en-US" dirty="0"/>
              <a:t>within the 0.3m radius to count as successful navigation to that target</a:t>
            </a:r>
          </a:p>
          <a:p>
            <a:endParaRPr lang="en-US" dirty="0"/>
          </a:p>
          <a:p>
            <a:r>
              <a:rPr lang="en-US" dirty="0"/>
              <a:t>If we don’t see appropriate implementation of navigation and path planning in your codes for the level you are attempting you’ll get 0pt for M3</a:t>
            </a:r>
          </a:p>
          <a:p>
            <a:endParaRPr lang="en-US" dirty="0"/>
          </a:p>
          <a:p>
            <a:r>
              <a:rPr lang="en-US" dirty="0"/>
              <a:t>If we find that your Level 3 (auto nav with partial map) made use of the full map you’ll get 0pt for M4. The same goes for level 4.</a:t>
            </a:r>
          </a:p>
          <a:p>
            <a:endParaRPr lang="en-US" dirty="0"/>
          </a:p>
          <a:p>
            <a:r>
              <a:rPr lang="en-US" dirty="0"/>
              <a:t>You are only allowed ONE COMMAND to launch auto nav in Lv2&amp;Lv3&amp;Lv4. No teleoperation allowed in any levels (you’ll get 0pt for M4 if you are suspected of teleoperating during the demo). Once you have a qualified run, you are allowed to stop the robot at any time.</a:t>
            </a:r>
          </a:p>
          <a:p>
            <a:r>
              <a:rPr lang="en-US" dirty="0"/>
              <a:t>Successful navigation / collision avoidance by luck will not give you marks for those targets</a:t>
            </a:r>
          </a:p>
        </p:txBody>
      </p:sp>
    </p:spTree>
    <p:extLst>
      <p:ext uri="{BB962C8B-B14F-4D97-AF65-F5344CB8AC3E}">
        <p14:creationId xmlns:p14="http://schemas.microsoft.com/office/powerpoint/2010/main" val="987951881"/>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2268</TotalTime>
  <Words>1423</Words>
  <Application>Microsoft Office PowerPoint</Application>
  <PresentationFormat>Widescreen</PresentationFormat>
  <Paragraphs>140</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Century Schoolbook</vt:lpstr>
      <vt:lpstr>Wingdings 2</vt:lpstr>
      <vt:lpstr>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Kal</dc:creator>
  <cp:lastModifiedBy>Aaron Choong</cp:lastModifiedBy>
  <cp:revision>373</cp:revision>
  <dcterms:created xsi:type="dcterms:W3CDTF">2020-08-07T03:38:28Z</dcterms:created>
  <dcterms:modified xsi:type="dcterms:W3CDTF">2025-09-22T18:43:41Z</dcterms:modified>
</cp:coreProperties>
</file>