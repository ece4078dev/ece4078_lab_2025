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99" r:id="rId2"/>
    <p:sldId id="302" r:id="rId3"/>
    <p:sldId id="275" r:id="rId4"/>
    <p:sldId id="306" r:id="rId5"/>
    <p:sldId id="300" r:id="rId6"/>
    <p:sldId id="303" r:id="rId7"/>
    <p:sldId id="304" r:id="rId8"/>
    <p:sldId id="305" r:id="rId9"/>
    <p:sldId id="307" r:id="rId10"/>
    <p:sldId id="30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D231F2-1C98-4F68-80D5-D7AB56D433D2}" v="7" dt="2024-10-07T07:21:06.4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2" autoAdjust="0"/>
    <p:restoredTop sz="94660"/>
  </p:normalViewPr>
  <p:slideViewPr>
    <p:cSldViewPr snapToGrid="0">
      <p:cViewPr varScale="1">
        <p:scale>
          <a:sx n="74" d="100"/>
          <a:sy n="74" d="100"/>
        </p:scale>
        <p:origin x="35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ris Gu" userId="69bc5ac2-d614-4924-b186-b5a72bcb1b0c" providerId="ADAL" clId="{4BD231F2-1C98-4F68-80D5-D7AB56D433D2}"/>
    <pc:docChg chg="modSld">
      <pc:chgData name="Morris Gu" userId="69bc5ac2-d614-4924-b186-b5a72bcb1b0c" providerId="ADAL" clId="{4BD231F2-1C98-4F68-80D5-D7AB56D433D2}" dt="2024-10-07T07:21:29.839" v="56" actId="113"/>
      <pc:docMkLst>
        <pc:docMk/>
      </pc:docMkLst>
      <pc:sldChg chg="modSp mod">
        <pc:chgData name="Morris Gu" userId="69bc5ac2-d614-4924-b186-b5a72bcb1b0c" providerId="ADAL" clId="{4BD231F2-1C98-4F68-80D5-D7AB56D433D2}" dt="2024-10-07T07:21:29.839" v="56" actId="113"/>
        <pc:sldMkLst>
          <pc:docMk/>
          <pc:sldMk cId="86247891" sldId="277"/>
        </pc:sldMkLst>
        <pc:spChg chg="mod">
          <ac:chgData name="Morris Gu" userId="69bc5ac2-d614-4924-b186-b5a72bcb1b0c" providerId="ADAL" clId="{4BD231F2-1C98-4F68-80D5-D7AB56D433D2}" dt="2024-10-07T07:21:29.839" v="56" actId="113"/>
          <ac:spMkLst>
            <pc:docMk/>
            <pc:sldMk cId="86247891" sldId="277"/>
            <ac:spMk id="4" creationId="{CA0B27D3-7B85-4485-A10E-AAC012A9B3B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07A57-47BC-45C1-B9EB-906F4463B0AB}" type="datetimeFigureOut">
              <a:rPr lang="en-AU" smtClean="0"/>
              <a:t>3/10/2025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7838D7-8F53-414D-A178-F59763C42603}" type="slidenum">
              <a:rPr lang="en-AU" smtClean="0"/>
              <a:t>‹#›</a:t>
            </a:fld>
            <a:endParaRPr lang="en-AU"/>
          </a:p>
        </p:txBody>
      </p:sp>
    </p:spTree>
    <p:extLst>
      <p:ext uri="{BB962C8B-B14F-4D97-AF65-F5344CB8AC3E}">
        <p14:creationId xmlns:p14="http://schemas.microsoft.com/office/powerpoint/2010/main" val="2333873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205BC88-DBF0-4610-A802-A09E0A6ECD22}" type="datetimeFigureOut">
              <a:rPr lang="en-AU" smtClean="0"/>
              <a:t>3/10/2025</a:t>
            </a:fld>
            <a:endParaRPr lang="en-AU"/>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A66E8694-4F18-4E32-9A46-A94098D129B3}"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80454017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3/10/2025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416107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5BC88-DBF0-4610-A802-A09E0A6ECD22}" type="datetimeFigureOut">
              <a:rPr lang="en-AU" smtClean="0"/>
              <a:t>3/10/2025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7718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05BC88-DBF0-4610-A802-A09E0A6ECD22}" type="datetimeFigureOut">
              <a:rPr lang="en-AU" smtClean="0"/>
              <a:t>3/10/2025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907658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05BC88-DBF0-4610-A802-A09E0A6ECD22}" type="datetimeFigureOut">
              <a:rPr lang="en-AU" smtClean="0"/>
              <a:t>3/10/2025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524378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05BC88-DBF0-4610-A802-A09E0A6ECD22}" type="datetimeFigureOut">
              <a:rPr lang="en-AU" smtClean="0"/>
              <a:t>3/10/2025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3675290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5BC88-DBF0-4610-A802-A09E0A6ECD22}" type="datetimeFigureOut">
              <a:rPr lang="en-AU" smtClean="0"/>
              <a:t>3/10/2025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316795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5BC88-DBF0-4610-A802-A09E0A6ECD22}" type="datetimeFigureOut">
              <a:rPr lang="en-AU" smtClean="0"/>
              <a:t>3/10/2025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626184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5BC88-DBF0-4610-A802-A09E0A6ECD22}" type="datetimeFigureOut">
              <a:rPr lang="en-AU" smtClean="0"/>
              <a:t>3/10/2025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90205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3/10/2025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4000473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3/10/2025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096472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205BC88-DBF0-4610-A802-A09E0A6ECD22}" type="datetimeFigureOut">
              <a:rPr lang="en-AU" smtClean="0"/>
              <a:t>3/10/2025</a:t>
            </a:fld>
            <a:endParaRPr lang="en-AU"/>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AU"/>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A66E8694-4F18-4E32-9A46-A94098D129B3}" type="slidenum">
              <a:rPr lang="en-AU" smtClean="0"/>
              <a:t>‹#›</a:t>
            </a:fld>
            <a:endParaRPr lang="en-AU"/>
          </a:p>
        </p:txBody>
      </p:sp>
    </p:spTree>
    <p:extLst>
      <p:ext uri="{BB962C8B-B14F-4D97-AF65-F5344CB8AC3E}">
        <p14:creationId xmlns:p14="http://schemas.microsoft.com/office/powerpoint/2010/main" val="401809481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craiyon.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ECE4078  Intelligent robotics</a:t>
            </a:r>
          </a:p>
        </p:txBody>
      </p:sp>
      <p:sp>
        <p:nvSpPr>
          <p:cNvPr id="4" name="TextBox 3">
            <a:extLst>
              <a:ext uri="{FF2B5EF4-FFF2-40B4-BE49-F238E27FC236}">
                <a16:creationId xmlns:a16="http://schemas.microsoft.com/office/drawing/2014/main" id="{BFDE73F0-7AA3-4E8C-BC34-28C4D2A791F6}"/>
              </a:ext>
            </a:extLst>
          </p:cNvPr>
          <p:cNvSpPr txBox="1"/>
          <p:nvPr/>
        </p:nvSpPr>
        <p:spPr>
          <a:xfrm>
            <a:off x="735188" y="6316111"/>
            <a:ext cx="10721625" cy="369332"/>
          </a:xfrm>
          <a:prstGeom prst="rect">
            <a:avLst/>
          </a:prstGeom>
          <a:noFill/>
        </p:spPr>
        <p:txBody>
          <a:bodyPr wrap="square" rtlCol="0">
            <a:spAutoFit/>
          </a:bodyPr>
          <a:lstStyle/>
          <a:p>
            <a:pPr algn="ctr"/>
            <a:r>
              <a:rPr lang="en-US" dirty="0"/>
              <a:t>Final Demo: Integrated System</a:t>
            </a:r>
            <a:endParaRPr lang="en-AU" dirty="0"/>
          </a:p>
        </p:txBody>
      </p:sp>
      <p:pic>
        <p:nvPicPr>
          <p:cNvPr id="2" name="Picture 1" descr="A robot standing in a store&#10;&#10;Description automatically generated">
            <a:extLst>
              <a:ext uri="{FF2B5EF4-FFF2-40B4-BE49-F238E27FC236}">
                <a16:creationId xmlns:a16="http://schemas.microsoft.com/office/drawing/2014/main" id="{1E81932C-8517-2D4E-1E2B-26EC22116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345" y="1138645"/>
            <a:ext cx="4580709" cy="4580709"/>
          </a:xfrm>
          <a:prstGeom prst="rect">
            <a:avLst/>
          </a:prstGeom>
        </p:spPr>
      </p:pic>
      <p:sp>
        <p:nvSpPr>
          <p:cNvPr id="3" name="CustomShape 2">
            <a:extLst>
              <a:ext uri="{FF2B5EF4-FFF2-40B4-BE49-F238E27FC236}">
                <a16:creationId xmlns:a16="http://schemas.microsoft.com/office/drawing/2014/main" id="{D4B20FBA-41A7-167C-7A9B-53316EF443B4}"/>
              </a:ext>
            </a:extLst>
          </p:cNvPr>
          <p:cNvSpPr/>
          <p:nvPr/>
        </p:nvSpPr>
        <p:spPr>
          <a:xfrm>
            <a:off x="735120" y="5730008"/>
            <a:ext cx="10721160" cy="45307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AU" sz="1200" b="0" strike="noStrike" spc="-1" dirty="0">
                <a:solidFill>
                  <a:srgbClr val="FFFFFF"/>
                </a:solidFill>
                <a:latin typeface="Century Schoolbook"/>
              </a:rPr>
              <a:t>AI art generated by </a:t>
            </a:r>
            <a:r>
              <a:rPr lang="en-AU" sz="1200" b="0" strike="noStrike" spc="-1" dirty="0">
                <a:solidFill>
                  <a:srgbClr val="FFFFFF"/>
                </a:solidFill>
                <a:latin typeface="Century Schoolbook"/>
                <a:hlinkClick r:id="rId3"/>
              </a:rPr>
              <a:t>https://www.craiyon.com/</a:t>
            </a:r>
            <a:endParaRPr lang="en-AU" sz="1200" b="0" strike="noStrike" spc="-1" dirty="0">
              <a:solidFill>
                <a:srgbClr val="FFFFFF"/>
              </a:solidFill>
              <a:latin typeface="Century Schoolbook"/>
            </a:endParaRPr>
          </a:p>
          <a:p>
            <a:pPr algn="ctr">
              <a:lnSpc>
                <a:spcPct val="100000"/>
              </a:lnSpc>
            </a:pPr>
            <a:r>
              <a:rPr lang="en-AU" sz="1200" b="0" strike="noStrike" spc="-1" dirty="0">
                <a:solidFill>
                  <a:srgbClr val="FFFFFF"/>
                </a:solidFill>
                <a:latin typeface="Century Schoolbook"/>
              </a:rPr>
              <a:t>(prompt: “</a:t>
            </a:r>
            <a:r>
              <a:rPr lang="en-GB" sz="1200" b="0" strike="noStrike" spc="-1" dirty="0">
                <a:solidFill>
                  <a:srgbClr val="FFFFFF"/>
                </a:solidFill>
                <a:latin typeface="Century Schoolbook"/>
              </a:rPr>
              <a:t>a penguin robot shopping for fruits and vegetables in a supermarket</a:t>
            </a:r>
            <a:r>
              <a:rPr lang="en-AU" sz="1200" b="0" strike="noStrike" spc="-1" dirty="0">
                <a:solidFill>
                  <a:srgbClr val="FFFFFF"/>
                </a:solidFill>
                <a:latin typeface="Century Schoolbook"/>
              </a:rPr>
              <a:t>”)</a:t>
            </a:r>
            <a:endParaRPr lang="en-AU" sz="1200" b="0" strike="noStrike" spc="-1" dirty="0">
              <a:latin typeface="Arial"/>
            </a:endParaRPr>
          </a:p>
        </p:txBody>
      </p:sp>
    </p:spTree>
    <p:extLst>
      <p:ext uri="{BB962C8B-B14F-4D97-AF65-F5344CB8AC3E}">
        <p14:creationId xmlns:p14="http://schemas.microsoft.com/office/powerpoint/2010/main" val="1975987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3">
            <a:extLst>
              <a:ext uri="{FF2B5EF4-FFF2-40B4-BE49-F238E27FC236}">
                <a16:creationId xmlns:a16="http://schemas.microsoft.com/office/drawing/2014/main" id="{DA5D587D-0FA3-6910-B692-7E2BB667D7F0}"/>
              </a:ext>
            </a:extLst>
          </p:cNvPr>
          <p:cNvGraphicFramePr/>
          <p:nvPr>
            <p:extLst>
              <p:ext uri="{D42A27DB-BD31-4B8C-83A1-F6EECF244321}">
                <p14:modId xmlns:p14="http://schemas.microsoft.com/office/powerpoint/2010/main" val="1457417778"/>
              </p:ext>
            </p:extLst>
          </p:nvPr>
        </p:nvGraphicFramePr>
        <p:xfrm>
          <a:off x="1795320" y="1503360"/>
          <a:ext cx="8554680" cy="4551960"/>
        </p:xfrm>
        <a:graphic>
          <a:graphicData uri="http://schemas.openxmlformats.org/drawingml/2006/table">
            <a:tbl>
              <a:tblPr/>
              <a:tblGrid>
                <a:gridCol w="1152979">
                  <a:extLst>
                    <a:ext uri="{9D8B030D-6E8A-4147-A177-3AD203B41FA5}">
                      <a16:colId xmlns:a16="http://schemas.microsoft.com/office/drawing/2014/main" val="20000"/>
                    </a:ext>
                  </a:extLst>
                </a:gridCol>
                <a:gridCol w="3498941">
                  <a:extLst>
                    <a:ext uri="{9D8B030D-6E8A-4147-A177-3AD203B41FA5}">
                      <a16:colId xmlns:a16="http://schemas.microsoft.com/office/drawing/2014/main" val="20001"/>
                    </a:ext>
                  </a:extLst>
                </a:gridCol>
                <a:gridCol w="3902760">
                  <a:extLst>
                    <a:ext uri="{9D8B030D-6E8A-4147-A177-3AD203B41FA5}">
                      <a16:colId xmlns:a16="http://schemas.microsoft.com/office/drawing/2014/main" val="20002"/>
                    </a:ext>
                  </a:extLst>
                </a:gridCol>
              </a:tblGrid>
              <a:tr h="335160">
                <a:tc>
                  <a:txBody>
                    <a:bodyPr/>
                    <a:lstStyle/>
                    <a:p>
                      <a:pPr algn="ctr">
                        <a:lnSpc>
                          <a:spcPct val="100000"/>
                        </a:lnSpc>
                        <a:buNone/>
                      </a:pPr>
                      <a:r>
                        <a:rPr lang="en-AU" sz="1600" b="1" strike="noStrike" spc="-1">
                          <a:solidFill>
                            <a:srgbClr val="000000"/>
                          </a:solidFill>
                          <a:latin typeface="Century Schoolbook"/>
                          <a:ea typeface="DejaVu Sans"/>
                        </a:rPr>
                        <a:t>Week</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E7E7E7"/>
                    </a:solidFill>
                  </a:tcPr>
                </a:tc>
                <a:tc>
                  <a:txBody>
                    <a:bodyPr/>
                    <a:lstStyle/>
                    <a:p>
                      <a:pPr algn="ctr">
                        <a:lnSpc>
                          <a:spcPct val="100000"/>
                        </a:lnSpc>
                        <a:buNone/>
                      </a:pPr>
                      <a:r>
                        <a:rPr lang="en-AU" sz="1600" b="1" strike="noStrike" spc="-1">
                          <a:solidFill>
                            <a:srgbClr val="000000"/>
                          </a:solidFill>
                          <a:latin typeface="Century Schoolbook"/>
                          <a:ea typeface="DejaVu Sans"/>
                        </a:rPr>
                        <a:t>Objectives</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E7E7E7"/>
                    </a:solidFill>
                  </a:tcPr>
                </a:tc>
                <a:tc>
                  <a:txBody>
                    <a:bodyPr/>
                    <a:lstStyle/>
                    <a:p>
                      <a:pPr algn="ctr">
                        <a:lnSpc>
                          <a:spcPct val="100000"/>
                        </a:lnSpc>
                        <a:buNone/>
                      </a:pPr>
                      <a:r>
                        <a:rPr lang="en-AU" sz="1600" b="1" strike="noStrike" spc="-1">
                          <a:solidFill>
                            <a:srgbClr val="000000"/>
                          </a:solidFill>
                          <a:latin typeface="Century Schoolbook"/>
                          <a:ea typeface="DejaVu Sans"/>
                        </a:rPr>
                        <a:t>Milestones</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335160">
                <a:tc>
                  <a:txBody>
                    <a:bodyPr/>
                    <a:lstStyle/>
                    <a:p>
                      <a:pPr>
                        <a:lnSpc>
                          <a:spcPct val="100000"/>
                        </a:lnSpc>
                        <a:defRPr/>
                      </a:pPr>
                      <a:r>
                        <a:rPr lang="en-AU" sz="1600" b="0" strike="noStrike" spc="-1" dirty="0">
                          <a:solidFill>
                            <a:srgbClr val="000000"/>
                          </a:solidFill>
                          <a:latin typeface="Century Schoolbook"/>
                        </a:rPr>
                        <a:t>1: C1-1</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Introduction and setup</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defRPr/>
                      </a:pP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extLst>
                  <a:ext uri="{0D108BD9-81ED-4DB2-BD59-A6C34878D82A}">
                    <a16:rowId xmlns:a16="http://schemas.microsoft.com/office/drawing/2014/main" val="10001"/>
                  </a:ext>
                </a:extLst>
              </a:tr>
              <a:tr h="335160">
                <a:tc>
                  <a:txBody>
                    <a:bodyPr/>
                    <a:lstStyle/>
                    <a:p>
                      <a:pPr>
                        <a:lnSpc>
                          <a:spcPct val="100000"/>
                        </a:lnSpc>
                        <a:defRPr/>
                      </a:pPr>
                      <a:r>
                        <a:rPr lang="en-AU" sz="1600" b="0" strike="noStrike" spc="-1" dirty="0">
                          <a:solidFill>
                            <a:srgbClr val="000000"/>
                          </a:solidFill>
                          <a:latin typeface="Century Schoolbook"/>
                        </a:rPr>
                        <a:t>2: M1-1</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defRPr/>
                      </a:pPr>
                      <a:r>
                        <a:rPr lang="en-AU" sz="1600" b="0" strike="noStrike" spc="-1">
                          <a:solidFill>
                            <a:srgbClr val="000000"/>
                          </a:solidFill>
                          <a:latin typeface="Century Schoolbook"/>
                        </a:rPr>
                        <a:t>Calibration, ARUCO markers</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C1 due</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2"/>
                  </a:ext>
                </a:extLst>
              </a:tr>
              <a:tr h="335160">
                <a:tc>
                  <a:txBody>
                    <a:bodyPr/>
                    <a:lstStyle/>
                    <a:p>
                      <a:pPr>
                        <a:lnSpc>
                          <a:spcPct val="100000"/>
                        </a:lnSpc>
                        <a:defRPr/>
                      </a:pPr>
                      <a:r>
                        <a:rPr lang="en-AU" sz="1600" b="0" strike="noStrike" spc="-1" dirty="0">
                          <a:solidFill>
                            <a:srgbClr val="000000"/>
                          </a:solidFill>
                          <a:latin typeface="Century Schoolbook"/>
                        </a:rPr>
                        <a:t>3: M1-2</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SLAM</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defRPr/>
                      </a:pPr>
                      <a:endParaRPr lang="en-US"/>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extLst>
                  <a:ext uri="{0D108BD9-81ED-4DB2-BD59-A6C34878D82A}">
                    <a16:rowId xmlns:a16="http://schemas.microsoft.com/office/drawing/2014/main" val="10003"/>
                  </a:ext>
                </a:extLst>
              </a:tr>
              <a:tr h="335160">
                <a:tc>
                  <a:txBody>
                    <a:bodyPr/>
                    <a:lstStyle/>
                    <a:p>
                      <a:pPr>
                        <a:lnSpc>
                          <a:spcPct val="100000"/>
                        </a:lnSpc>
                        <a:defRPr/>
                      </a:pPr>
                      <a:r>
                        <a:rPr lang="en-AU" sz="1600" b="0" strike="noStrike" spc="-1" dirty="0">
                          <a:solidFill>
                            <a:srgbClr val="000000"/>
                          </a:solidFill>
                          <a:latin typeface="Century Schoolbook"/>
                        </a:rPr>
                        <a:t>4: M1-3</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defRPr/>
                      </a:pPr>
                      <a:r>
                        <a:rPr lang="en-AU" sz="1600" b="0" strike="noStrike" spc="-1">
                          <a:solidFill>
                            <a:srgbClr val="000000"/>
                          </a:solidFill>
                          <a:latin typeface="Century Schoolbook"/>
                        </a:rPr>
                        <a:t>SLAM</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defRPr/>
                      </a:pPr>
                      <a:endParaRPr lang="en-US"/>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4"/>
                  </a:ext>
                </a:extLst>
              </a:tr>
              <a:tr h="335160">
                <a:tc>
                  <a:txBody>
                    <a:bodyPr/>
                    <a:lstStyle/>
                    <a:p>
                      <a:pPr>
                        <a:lnSpc>
                          <a:spcPct val="100000"/>
                        </a:lnSpc>
                        <a:defRPr/>
                      </a:pPr>
                      <a:r>
                        <a:rPr lang="en-AU" sz="1600" b="0" strike="noStrike" spc="-1" dirty="0">
                          <a:solidFill>
                            <a:srgbClr val="000000"/>
                          </a:solidFill>
                          <a:latin typeface="Century Schoolbook"/>
                        </a:rPr>
                        <a:t>5: M2-1</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Object recognition &amp; localisation</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M1 due</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extLst>
                  <a:ext uri="{0D108BD9-81ED-4DB2-BD59-A6C34878D82A}">
                    <a16:rowId xmlns:a16="http://schemas.microsoft.com/office/drawing/2014/main" val="10005"/>
                  </a:ext>
                </a:extLst>
              </a:tr>
              <a:tr h="335160">
                <a:tc>
                  <a:txBody>
                    <a:bodyPr/>
                    <a:lstStyle/>
                    <a:p>
                      <a:pPr>
                        <a:lnSpc>
                          <a:spcPct val="100000"/>
                        </a:lnSpc>
                        <a:defRPr/>
                      </a:pPr>
                      <a:r>
                        <a:rPr lang="en-AU" sz="1600" b="0" strike="noStrike" spc="-1" dirty="0">
                          <a:solidFill>
                            <a:srgbClr val="000000"/>
                          </a:solidFill>
                          <a:latin typeface="Century Schoolbook"/>
                        </a:rPr>
                        <a:t>6: M2-2</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Object recognition &amp; localisation</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defRPr/>
                      </a:pPr>
                      <a:endParaRPr lang="en-US" dirty="0"/>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6"/>
                  </a:ext>
                </a:extLst>
              </a:tr>
              <a:tr h="335160">
                <a:tc>
                  <a:txBody>
                    <a:bodyPr/>
                    <a:lstStyle/>
                    <a:p>
                      <a:pPr>
                        <a:lnSpc>
                          <a:spcPct val="100000"/>
                        </a:lnSpc>
                        <a:defRPr/>
                      </a:pPr>
                      <a:r>
                        <a:rPr lang="en-AU" sz="1600" b="0" strike="noStrike" spc="-1" dirty="0">
                          <a:solidFill>
                            <a:srgbClr val="000000"/>
                          </a:solidFill>
                          <a:latin typeface="Century Schoolbook"/>
                        </a:rPr>
                        <a:t>7: M3-1</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Navigation &amp; Planning</a:t>
                      </a:r>
                      <a:endParaRPr lang="en-AU"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M2 due</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extLst>
                  <a:ext uri="{0D108BD9-81ED-4DB2-BD59-A6C34878D82A}">
                    <a16:rowId xmlns:a16="http://schemas.microsoft.com/office/drawing/2014/main" val="10007"/>
                  </a:ext>
                </a:extLst>
              </a:tr>
              <a:tr h="335160">
                <a:tc>
                  <a:txBody>
                    <a:bodyPr/>
                    <a:lstStyle/>
                    <a:p>
                      <a:pPr>
                        <a:lnSpc>
                          <a:spcPct val="100000"/>
                        </a:lnSpc>
                        <a:defRPr/>
                      </a:pPr>
                      <a:r>
                        <a:rPr lang="en-AU" sz="1600" b="0" strike="noStrike" spc="-1" dirty="0">
                          <a:solidFill>
                            <a:srgbClr val="000000"/>
                          </a:solidFill>
                          <a:latin typeface="Century Schoolbook"/>
                        </a:rPr>
                        <a:t>8: M3-2</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Navigation &amp; Planning</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defRPr/>
                      </a:pPr>
                      <a:endParaRPr lang="en-US"/>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8"/>
                  </a:ext>
                </a:extLst>
              </a:tr>
              <a:tr h="331560">
                <a:tc>
                  <a:txBody>
                    <a:bodyPr/>
                    <a:lstStyle/>
                    <a:p>
                      <a:pPr>
                        <a:lnSpc>
                          <a:spcPct val="100000"/>
                        </a:lnSpc>
                        <a:defRPr/>
                      </a:pPr>
                      <a:r>
                        <a:rPr lang="en-AU" sz="1600" b="0" strike="noStrike" spc="-1" dirty="0">
                          <a:solidFill>
                            <a:srgbClr val="000000"/>
                          </a:solidFill>
                          <a:latin typeface="Century Schoolbook"/>
                        </a:rPr>
                        <a:t>9: C2</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Integration &amp; Improvement</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M3 due</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extLst>
                  <a:ext uri="{0D108BD9-81ED-4DB2-BD59-A6C34878D82A}">
                    <a16:rowId xmlns:a16="http://schemas.microsoft.com/office/drawing/2014/main" val="10009"/>
                  </a:ext>
                </a:extLst>
              </a:tr>
              <a:tr h="335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dirty="0">
                          <a:solidFill>
                            <a:srgbClr val="000000"/>
                          </a:solidFill>
                          <a:latin typeface="Century Schoolbook"/>
                        </a:rPr>
                        <a:t>10: Final</a:t>
                      </a:r>
                      <a:endParaRPr lang="en-AU" sz="1600" b="0" strike="noStrike" spc="-1" dirty="0">
                        <a:latin typeface="+mn-lt"/>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Trial run of final demo</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a:solidFill>
                            <a:srgbClr val="000000"/>
                          </a:solidFill>
                          <a:latin typeface="+mn-lt"/>
                        </a:rPr>
                        <a:t>C2 due</a:t>
                      </a:r>
                      <a:endParaRPr lang="en-AU" sz="1600" b="0" strike="noStrike" spc="-1">
                        <a:latin typeface="+mn-lt"/>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10"/>
                  </a:ext>
                </a:extLst>
              </a:tr>
              <a:tr h="335160">
                <a:tc>
                  <a:txBody>
                    <a:bodyPr/>
                    <a:lstStyle/>
                    <a:p>
                      <a:pPr>
                        <a:lnSpc>
                          <a:spcPct val="100000"/>
                        </a:lnSpc>
                        <a:defRPr/>
                      </a:pPr>
                      <a:r>
                        <a:rPr lang="en-AU" sz="1600" b="0" strike="noStrike" spc="-1" dirty="0">
                          <a:solidFill>
                            <a:srgbClr val="000000"/>
                          </a:solidFill>
                          <a:latin typeface="Century Schoolbook"/>
                        </a:rPr>
                        <a:t>11: Final</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Final demo</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dirty="0">
                          <a:solidFill>
                            <a:srgbClr val="000000"/>
                          </a:solidFill>
                          <a:latin typeface="Century Schoolbook"/>
                        </a:rPr>
                        <a:t>Final demo due</a:t>
                      </a:r>
                      <a:r>
                        <a:rPr lang="en-AU" sz="1600" b="0" strike="noStrike" spc="-1" dirty="0">
                          <a:solidFill>
                            <a:srgbClr val="000000"/>
                          </a:solidFill>
                          <a:latin typeface="Arial"/>
                        </a:rPr>
                        <a:t> </a:t>
                      </a:r>
                      <a:endParaRPr lang="en-AU" sz="1600" b="0" strike="noStrike" spc="-1" dirty="0">
                        <a:latin typeface="+mn-lt"/>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extLst>
                  <a:ext uri="{0D108BD9-81ED-4DB2-BD59-A6C34878D82A}">
                    <a16:rowId xmlns:a16="http://schemas.microsoft.com/office/drawing/2014/main" val="10011"/>
                  </a:ext>
                </a:extLst>
              </a:tr>
              <a:tr h="376200">
                <a:tc>
                  <a:txBody>
                    <a:bodyPr/>
                    <a:lstStyle/>
                    <a:p>
                      <a:pPr>
                        <a:lnSpc>
                          <a:spcPct val="100000"/>
                        </a:lnSpc>
                        <a:defRPr/>
                      </a:pPr>
                      <a:r>
                        <a:rPr lang="en-AU" sz="1600" b="0" strike="noStrike" spc="-1" dirty="0">
                          <a:solidFill>
                            <a:srgbClr val="000000"/>
                          </a:solidFill>
                          <a:latin typeface="Century Schoolbook"/>
                        </a:rPr>
                        <a:t>12: No lab</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N/A</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N/A</a:t>
                      </a:r>
                      <a:endParaRPr lang="en-AU" sz="16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extLst>
                  <a:ext uri="{0D108BD9-81ED-4DB2-BD59-A6C34878D82A}">
                    <a16:rowId xmlns:a16="http://schemas.microsoft.com/office/drawing/2014/main" val="10012"/>
                  </a:ext>
                </a:extLst>
              </a:tr>
            </a:tbl>
          </a:graphicData>
        </a:graphic>
      </p:graphicFrame>
      <p:sp>
        <p:nvSpPr>
          <p:cNvPr id="9" name="TextBox 49">
            <a:extLst>
              <a:ext uri="{FF2B5EF4-FFF2-40B4-BE49-F238E27FC236}">
                <a16:creationId xmlns:a16="http://schemas.microsoft.com/office/drawing/2014/main" id="{3760431D-0E4F-62EF-6BBD-C4754FE2F209}"/>
              </a:ext>
            </a:extLst>
          </p:cNvPr>
          <p:cNvSpPr/>
          <p:nvPr/>
        </p:nvSpPr>
        <p:spPr>
          <a:xfrm>
            <a:off x="478080" y="172440"/>
            <a:ext cx="1171296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AU" sz="4800" b="0" strike="noStrike" spc="-1">
                <a:solidFill>
                  <a:srgbClr val="FFFFFF"/>
                </a:solidFill>
                <a:latin typeface="Century Schoolbook"/>
                <a:ea typeface="DejaVu Sans"/>
              </a:rPr>
              <a:t>ECE4078  Intelligent robotics</a:t>
            </a:r>
            <a:endParaRPr lang="en-AU" sz="4800" b="0" strike="noStrike" spc="-1">
              <a:latin typeface="Arial"/>
            </a:endParaRPr>
          </a:p>
        </p:txBody>
      </p:sp>
      <p:sp>
        <p:nvSpPr>
          <p:cNvPr id="10" name="TextBox 6">
            <a:extLst>
              <a:ext uri="{FF2B5EF4-FFF2-40B4-BE49-F238E27FC236}">
                <a16:creationId xmlns:a16="http://schemas.microsoft.com/office/drawing/2014/main" id="{4E0DDE2C-32A0-7683-AB4B-1D85DCB98938}"/>
              </a:ext>
            </a:extLst>
          </p:cNvPr>
          <p:cNvSpPr/>
          <p:nvPr/>
        </p:nvSpPr>
        <p:spPr>
          <a:xfrm>
            <a:off x="1488465" y="5343355"/>
            <a:ext cx="324360" cy="51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AU" sz="2800" b="0" strike="noStrike" spc="-1" dirty="0">
                <a:solidFill>
                  <a:srgbClr val="FF0000"/>
                </a:solidFill>
                <a:latin typeface="Century Schoolbook"/>
                <a:ea typeface="DejaVu Sans"/>
              </a:rPr>
              <a:t>*</a:t>
            </a:r>
            <a:endParaRPr lang="en-AU" sz="2800" b="0" strike="noStrike" spc="-1" dirty="0">
              <a:latin typeface="Arial"/>
            </a:endParaRPr>
          </a:p>
        </p:txBody>
      </p:sp>
      <p:sp>
        <p:nvSpPr>
          <p:cNvPr id="11" name="Straight Connector 4">
            <a:extLst>
              <a:ext uri="{FF2B5EF4-FFF2-40B4-BE49-F238E27FC236}">
                <a16:creationId xmlns:a16="http://schemas.microsoft.com/office/drawing/2014/main" id="{96187FC2-B424-1AB7-7B14-DD71432E1255}"/>
              </a:ext>
            </a:extLst>
          </p:cNvPr>
          <p:cNvSpPr/>
          <p:nvPr/>
        </p:nvSpPr>
        <p:spPr>
          <a:xfrm>
            <a:off x="1637280" y="2003730"/>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12" name="Straight Connector 2">
            <a:extLst>
              <a:ext uri="{FF2B5EF4-FFF2-40B4-BE49-F238E27FC236}">
                <a16:creationId xmlns:a16="http://schemas.microsoft.com/office/drawing/2014/main" id="{5F6C489B-0286-EDB7-B27D-60C5B2B67EEF}"/>
              </a:ext>
            </a:extLst>
          </p:cNvPr>
          <p:cNvSpPr/>
          <p:nvPr/>
        </p:nvSpPr>
        <p:spPr>
          <a:xfrm>
            <a:off x="1640160" y="2377052"/>
            <a:ext cx="887472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13" name="Straight Connector 3">
            <a:extLst>
              <a:ext uri="{FF2B5EF4-FFF2-40B4-BE49-F238E27FC236}">
                <a16:creationId xmlns:a16="http://schemas.microsoft.com/office/drawing/2014/main" id="{432F8DDF-1829-715B-AAB4-75B87240FEE0}"/>
              </a:ext>
            </a:extLst>
          </p:cNvPr>
          <p:cNvSpPr/>
          <p:nvPr/>
        </p:nvSpPr>
        <p:spPr>
          <a:xfrm>
            <a:off x="1636920" y="2705537"/>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14" name="Straight Connector 3">
            <a:extLst>
              <a:ext uri="{FF2B5EF4-FFF2-40B4-BE49-F238E27FC236}">
                <a16:creationId xmlns:a16="http://schemas.microsoft.com/office/drawing/2014/main" id="{C715B292-582C-3DD0-C1BA-0FFDF153FCDE}"/>
              </a:ext>
            </a:extLst>
          </p:cNvPr>
          <p:cNvSpPr/>
          <p:nvPr/>
        </p:nvSpPr>
        <p:spPr>
          <a:xfrm>
            <a:off x="1650645" y="3075334"/>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2" name="Straight Connector 3">
            <a:extLst>
              <a:ext uri="{FF2B5EF4-FFF2-40B4-BE49-F238E27FC236}">
                <a16:creationId xmlns:a16="http://schemas.microsoft.com/office/drawing/2014/main" id="{39ED62A5-FB56-421C-6E10-A4A1CE83F41F}"/>
              </a:ext>
            </a:extLst>
          </p:cNvPr>
          <p:cNvSpPr/>
          <p:nvPr/>
        </p:nvSpPr>
        <p:spPr>
          <a:xfrm>
            <a:off x="1633140" y="3440671"/>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3" name="Straight Connector 3">
            <a:extLst>
              <a:ext uri="{FF2B5EF4-FFF2-40B4-BE49-F238E27FC236}">
                <a16:creationId xmlns:a16="http://schemas.microsoft.com/office/drawing/2014/main" id="{9A812095-CAB8-B2E7-A79A-68CDBF90C051}"/>
              </a:ext>
            </a:extLst>
          </p:cNvPr>
          <p:cNvSpPr/>
          <p:nvPr/>
        </p:nvSpPr>
        <p:spPr>
          <a:xfrm>
            <a:off x="1639800" y="3769324"/>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4" name="Straight Connector 3">
            <a:extLst>
              <a:ext uri="{FF2B5EF4-FFF2-40B4-BE49-F238E27FC236}">
                <a16:creationId xmlns:a16="http://schemas.microsoft.com/office/drawing/2014/main" id="{B787C73C-097E-2A60-3C5B-6837F17AF1E5}"/>
              </a:ext>
            </a:extLst>
          </p:cNvPr>
          <p:cNvSpPr/>
          <p:nvPr/>
        </p:nvSpPr>
        <p:spPr>
          <a:xfrm>
            <a:off x="1658460" y="4484072"/>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6" name="Straight Connector 5">
            <a:extLst>
              <a:ext uri="{FF2B5EF4-FFF2-40B4-BE49-F238E27FC236}">
                <a16:creationId xmlns:a16="http://schemas.microsoft.com/office/drawing/2014/main" id="{E1A9005E-C003-4024-9B71-7EA5B072C816}"/>
              </a:ext>
            </a:extLst>
          </p:cNvPr>
          <p:cNvSpPr/>
          <p:nvPr/>
        </p:nvSpPr>
        <p:spPr>
          <a:xfrm>
            <a:off x="1658460" y="4146938"/>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5" name="Straight Connector 4">
            <a:extLst>
              <a:ext uri="{FF2B5EF4-FFF2-40B4-BE49-F238E27FC236}">
                <a16:creationId xmlns:a16="http://schemas.microsoft.com/office/drawing/2014/main" id="{6CE8EAF9-9910-D2BE-93D5-B0C35B5452A2}"/>
              </a:ext>
            </a:extLst>
          </p:cNvPr>
          <p:cNvSpPr/>
          <p:nvPr/>
        </p:nvSpPr>
        <p:spPr>
          <a:xfrm>
            <a:off x="1633140" y="4854167"/>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
        <p:nvSpPr>
          <p:cNvPr id="15" name="Straight Connector 14">
            <a:extLst>
              <a:ext uri="{FF2B5EF4-FFF2-40B4-BE49-F238E27FC236}">
                <a16:creationId xmlns:a16="http://schemas.microsoft.com/office/drawing/2014/main" id="{10E0D4E7-4C2F-4859-A468-0824B9471654}"/>
              </a:ext>
            </a:extLst>
          </p:cNvPr>
          <p:cNvSpPr/>
          <p:nvPr/>
        </p:nvSpPr>
        <p:spPr>
          <a:xfrm>
            <a:off x="1639800" y="5164760"/>
            <a:ext cx="8875080" cy="360"/>
          </a:xfrm>
          <a:prstGeom prst="line">
            <a:avLst/>
          </a:prstGeom>
          <a:ln w="38100">
            <a:solidFill>
              <a:srgbClr val="6F6F74"/>
            </a:solidFill>
            <a:prstDash val="dash"/>
            <a:round/>
          </a:ln>
        </p:spPr>
        <p:style>
          <a:lnRef idx="1">
            <a:schemeClr val="accent1"/>
          </a:lnRef>
          <a:fillRef idx="0">
            <a:schemeClr val="accent1"/>
          </a:fillRef>
          <a:effectRef idx="0">
            <a:schemeClr val="accent1"/>
          </a:effectRef>
          <a:fontRef idx="minor"/>
        </p:style>
        <p:txBody>
          <a:bodyPr/>
          <a:lstStyle/>
          <a:p>
            <a:endParaRPr lang="en-AU"/>
          </a:p>
        </p:txBody>
      </p:sp>
    </p:spTree>
    <p:extLst>
      <p:ext uri="{BB962C8B-B14F-4D97-AF65-F5344CB8AC3E}">
        <p14:creationId xmlns:p14="http://schemas.microsoft.com/office/powerpoint/2010/main" val="821578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7379"/>
            <a:ext cx="11713820" cy="830997"/>
          </a:xfrm>
          <a:prstGeom prst="rect">
            <a:avLst/>
          </a:prstGeom>
          <a:noFill/>
        </p:spPr>
        <p:txBody>
          <a:bodyPr wrap="square" rtlCol="0">
            <a:spAutoFit/>
          </a:bodyPr>
          <a:lstStyle/>
          <a:p>
            <a:pPr algn="ctr"/>
            <a:r>
              <a:rPr lang="en-AU" sz="4800" dirty="0"/>
              <a:t>Final Demo</a:t>
            </a:r>
          </a:p>
        </p:txBody>
      </p:sp>
      <p:sp>
        <p:nvSpPr>
          <p:cNvPr id="4" name="TextBox 3">
            <a:extLst>
              <a:ext uri="{FF2B5EF4-FFF2-40B4-BE49-F238E27FC236}">
                <a16:creationId xmlns:a16="http://schemas.microsoft.com/office/drawing/2014/main" id="{CA0B27D3-7B85-4485-A10E-AAC012A9B3BB}"/>
              </a:ext>
            </a:extLst>
          </p:cNvPr>
          <p:cNvSpPr txBox="1"/>
          <p:nvPr/>
        </p:nvSpPr>
        <p:spPr>
          <a:xfrm>
            <a:off x="478180" y="806896"/>
            <a:ext cx="11588314" cy="5078313"/>
          </a:xfrm>
          <a:prstGeom prst="rect">
            <a:avLst/>
          </a:prstGeom>
          <a:noFill/>
        </p:spPr>
        <p:txBody>
          <a:bodyPr wrap="square" rtlCol="0">
            <a:spAutoFit/>
          </a:bodyPr>
          <a:lstStyle/>
          <a:p>
            <a:r>
              <a:rPr lang="en-US" dirty="0"/>
              <a:t>Your task will be the same as described in C2:</a:t>
            </a:r>
          </a:p>
          <a:p>
            <a:pPr marL="285750" indent="-285750">
              <a:buFont typeface="Arial" panose="020B0604020202020204" pitchFamily="34" charset="0"/>
              <a:buChar char="•"/>
            </a:pPr>
            <a:r>
              <a:rPr lang="en-US" dirty="0"/>
              <a:t>Your task will be to first map out the arena of all 10 </a:t>
            </a:r>
            <a:r>
              <a:rPr lang="en-US" dirty="0" err="1"/>
              <a:t>ArUco</a:t>
            </a:r>
            <a:r>
              <a:rPr lang="en-US" dirty="0"/>
              <a:t> markers (M1) and 10 targets (M2) which 	you can do so by manually driving around the arena (C1).</a:t>
            </a:r>
          </a:p>
          <a:p>
            <a:pPr marL="285750" indent="-285750">
              <a:buFont typeface="Arial" panose="020B0604020202020204" pitchFamily="34" charset="0"/>
              <a:buChar char="•"/>
            </a:pPr>
            <a:r>
              <a:rPr lang="en-US" dirty="0"/>
              <a:t>Once the arena is mapped you will then be 	tasked to navigate to targets on a shopping list following the given order (M3).</a:t>
            </a:r>
          </a:p>
          <a:p>
            <a:endParaRPr lang="en-US" dirty="0"/>
          </a:p>
          <a:p>
            <a:r>
              <a:rPr lang="en-US" dirty="0"/>
              <a:t>The arena will always contain:</a:t>
            </a:r>
          </a:p>
          <a:p>
            <a:pPr marL="342900" indent="-342900">
              <a:buFont typeface="Arial" panose="020B0604020202020204" pitchFamily="34" charset="0"/>
              <a:buChar char="•"/>
            </a:pPr>
            <a:r>
              <a:rPr lang="en-US" dirty="0"/>
              <a:t>10 </a:t>
            </a:r>
            <a:r>
              <a:rPr lang="en-US" dirty="0" err="1"/>
              <a:t>ArUco</a:t>
            </a:r>
            <a:r>
              <a:rPr lang="en-US" dirty="0"/>
              <a:t> markers</a:t>
            </a:r>
          </a:p>
          <a:p>
            <a:pPr marL="342900" indent="-342900">
              <a:buFont typeface="Arial" panose="020B0604020202020204" pitchFamily="34" charset="0"/>
              <a:buChar char="•"/>
            </a:pPr>
            <a:r>
              <a:rPr lang="en-US" dirty="0"/>
              <a:t>5 unique </a:t>
            </a:r>
            <a:r>
              <a:rPr lang="en-US" dirty="0" err="1"/>
              <a:t>fruits&amp;vegs</a:t>
            </a:r>
            <a:r>
              <a:rPr lang="en-US" dirty="0"/>
              <a:t> as targets for navigation (given shopping list)</a:t>
            </a:r>
          </a:p>
          <a:p>
            <a:pPr marL="342900" indent="-342900">
              <a:buFont typeface="Arial" panose="020B0604020202020204" pitchFamily="34" charset="0"/>
              <a:buChar char="•"/>
            </a:pPr>
            <a:r>
              <a:rPr lang="en-US" dirty="0"/>
              <a:t>5 obstacle </a:t>
            </a:r>
            <a:r>
              <a:rPr lang="en-US" dirty="0" err="1"/>
              <a:t>fruits&amp;vegs</a:t>
            </a:r>
            <a:r>
              <a:rPr lang="en-US" dirty="0"/>
              <a:t> (can contain duplicates)</a:t>
            </a:r>
          </a:p>
          <a:p>
            <a:pPr marL="342900" indent="-342900">
              <a:buFont typeface="Arial" panose="020B0604020202020204" pitchFamily="34" charset="0"/>
              <a:buChar char="•"/>
            </a:pPr>
            <a:r>
              <a:rPr lang="en-US" dirty="0"/>
              <a:t>There are two evaluation components:</a:t>
            </a:r>
          </a:p>
          <a:p>
            <a:pPr marL="342900" indent="-342900">
              <a:buFont typeface="Arial" panose="020B0604020202020204" pitchFamily="34" charset="0"/>
              <a:buChar char="•"/>
            </a:pPr>
            <a:endParaRPr lang="en-US" dirty="0"/>
          </a:p>
          <a:p>
            <a:r>
              <a:rPr lang="en-US" dirty="0"/>
              <a:t>Final Demo Tasks:</a:t>
            </a:r>
          </a:p>
          <a:p>
            <a:pPr marL="342900" indent="-342900">
              <a:buFont typeface="Arial" panose="020B0604020202020204" pitchFamily="34" charset="0"/>
              <a:buChar char="•"/>
            </a:pPr>
            <a:r>
              <a:rPr lang="en-US" dirty="0"/>
              <a:t>Arena mapping (manual or fully-autonomous)</a:t>
            </a:r>
          </a:p>
          <a:p>
            <a:pPr marL="800100" lvl="1" indent="-342900">
              <a:buFont typeface="Arial" panose="020B0604020202020204" pitchFamily="34" charset="0"/>
              <a:buChar char="•"/>
            </a:pPr>
            <a:r>
              <a:rPr lang="en-US" dirty="0"/>
              <a:t>SLAM map</a:t>
            </a:r>
          </a:p>
          <a:p>
            <a:pPr marL="800100" lvl="1" indent="-342900">
              <a:buFont typeface="Arial" panose="020B0604020202020204" pitchFamily="34" charset="0"/>
              <a:buChar char="•"/>
            </a:pPr>
            <a:r>
              <a:rPr lang="en-US" dirty="0"/>
              <a:t>Target map</a:t>
            </a:r>
          </a:p>
          <a:p>
            <a:pPr marL="342900" indent="-342900">
              <a:buFont typeface="Arial" panose="020B0604020202020204" pitchFamily="34" charset="0"/>
              <a:buChar char="•"/>
            </a:pPr>
            <a:r>
              <a:rPr lang="en-US" dirty="0"/>
              <a:t>Grocery shopping / navigation: fully-autonomous navigation</a:t>
            </a:r>
          </a:p>
          <a:p>
            <a:pPr marL="342900" indent="-342900">
              <a:buFont typeface="Arial" panose="020B0604020202020204" pitchFamily="34" charset="0"/>
              <a:buChar char="•"/>
            </a:pPr>
            <a:r>
              <a:rPr lang="en-US" dirty="0"/>
              <a:t>Fully-autonomous mapping must be done simultaneously with navigation</a:t>
            </a:r>
          </a:p>
        </p:txBody>
      </p:sp>
    </p:spTree>
    <p:extLst>
      <p:ext uri="{BB962C8B-B14F-4D97-AF65-F5344CB8AC3E}">
        <p14:creationId xmlns:p14="http://schemas.microsoft.com/office/powerpoint/2010/main" val="3633391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11336318" cy="3416320"/>
          </a:xfrm>
          <a:prstGeom prst="rect">
            <a:avLst/>
          </a:prstGeom>
          <a:noFill/>
        </p:spPr>
        <p:txBody>
          <a:bodyPr wrap="square" rtlCol="0">
            <a:spAutoFit/>
          </a:bodyPr>
          <a:lstStyle/>
          <a:p>
            <a:r>
              <a:rPr lang="en-AU" dirty="0"/>
              <a:t>Practice </a:t>
            </a:r>
            <a:r>
              <a:rPr lang="en-AU" dirty="0" err="1"/>
              <a:t>practice</a:t>
            </a:r>
            <a:r>
              <a:rPr lang="en-AU" dirty="0"/>
              <a:t> </a:t>
            </a:r>
            <a:r>
              <a:rPr lang="en-AU" dirty="0" err="1"/>
              <a:t>practice</a:t>
            </a:r>
            <a:r>
              <a:rPr lang="en-AU" dirty="0"/>
              <a:t>! (again)</a:t>
            </a:r>
          </a:p>
          <a:p>
            <a:pPr marL="285750" indent="-285750">
              <a:buFont typeface="Arial" panose="020B0604020202020204" pitchFamily="34" charset="0"/>
              <a:buChar char="•"/>
            </a:pPr>
            <a:r>
              <a:rPr lang="en-AU" dirty="0"/>
              <a:t>The easiest and most influential recommendation.</a:t>
            </a:r>
          </a:p>
          <a:p>
            <a:pPr marL="285750" indent="-285750">
              <a:buFont typeface="Arial" panose="020B0604020202020204" pitchFamily="34" charset="0"/>
              <a:buChar char="•"/>
            </a:pPr>
            <a:r>
              <a:rPr lang="en-AU" dirty="0"/>
              <a:t>Remember this ALSO includes setting up the environment as quick as you can.</a:t>
            </a:r>
          </a:p>
          <a:p>
            <a:pPr marL="285750" indent="-285750">
              <a:buFont typeface="Arial" panose="020B0604020202020204" pitchFamily="34" charset="0"/>
              <a:buChar char="•"/>
            </a:pPr>
            <a:r>
              <a:rPr lang="en-AU" dirty="0"/>
              <a:t>Try and practice on a wide range of maps whilst trying your best to replicate the EXACT same 	conditions you will be performing the live demo under.</a:t>
            </a:r>
          </a:p>
          <a:p>
            <a:endParaRPr lang="en-AU" dirty="0"/>
          </a:p>
          <a:p>
            <a:r>
              <a:rPr lang="en-AU" dirty="0"/>
              <a:t>Develop, plan and discuss a strategy </a:t>
            </a:r>
          </a:p>
          <a:p>
            <a:pPr marL="285750" indent="-285750">
              <a:buFont typeface="Arial" panose="020B0604020202020204" pitchFamily="34" charset="0"/>
              <a:buChar char="•"/>
            </a:pPr>
            <a:r>
              <a:rPr lang="en-AU" dirty="0"/>
              <a:t>Try and find a “meta” strategy that will give you the most marks in the limited live demo time</a:t>
            </a:r>
          </a:p>
          <a:p>
            <a:pPr marL="285750" indent="-285750">
              <a:buFont typeface="Arial" panose="020B0604020202020204" pitchFamily="34" charset="0"/>
              <a:buChar char="•"/>
            </a:pPr>
            <a:r>
              <a:rPr lang="en-AU" dirty="0"/>
              <a:t>Is it better to brute force the task with many fast attempts as possible? Or is it better to try and take it slow and be more consistent? </a:t>
            </a:r>
          </a:p>
          <a:p>
            <a:pPr marL="285750" indent="-285750">
              <a:buFont typeface="Arial" panose="020B0604020202020204" pitchFamily="34" charset="0"/>
              <a:buChar char="•"/>
            </a:pPr>
            <a:r>
              <a:rPr lang="en-AU" dirty="0"/>
              <a:t>Is there a specific driving strategy you should follow when mapping the arena?</a:t>
            </a:r>
          </a:p>
          <a:p>
            <a:pPr marL="285750" indent="-285750">
              <a:buFont typeface="Arial" panose="020B0604020202020204" pitchFamily="34" charset="0"/>
              <a:buChar char="•"/>
            </a:pPr>
            <a:r>
              <a:rPr lang="en-AU" dirty="0"/>
              <a:t>Discuss and solidify a plan with your group with what kind of strategy you should use.</a:t>
            </a:r>
          </a:p>
        </p:txBody>
      </p:sp>
    </p:spTree>
    <p:extLst>
      <p:ext uri="{BB962C8B-B14F-4D97-AF65-F5344CB8AC3E}">
        <p14:creationId xmlns:p14="http://schemas.microsoft.com/office/powerpoint/2010/main" val="4072829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 (optional)</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8338922" cy="2585323"/>
          </a:xfrm>
          <a:prstGeom prst="rect">
            <a:avLst/>
          </a:prstGeom>
          <a:noFill/>
        </p:spPr>
        <p:txBody>
          <a:bodyPr wrap="square" rtlCol="0">
            <a:spAutoFit/>
          </a:bodyPr>
          <a:lstStyle/>
          <a:p>
            <a:r>
              <a:rPr lang="en-AU" dirty="0"/>
              <a:t>- Improved GUI</a:t>
            </a:r>
          </a:p>
          <a:p>
            <a:r>
              <a:rPr lang="en-AU" dirty="0"/>
              <a:t>	</a:t>
            </a:r>
          </a:p>
          <a:p>
            <a:r>
              <a:rPr lang="en-AU" dirty="0"/>
              <a:t>	An improved GUI can really help out the mapping and navigation</a:t>
            </a:r>
            <a:br>
              <a:rPr lang="en-AU" dirty="0"/>
            </a:br>
            <a:endParaRPr lang="en-AU" dirty="0"/>
          </a:p>
          <a:p>
            <a:r>
              <a:rPr lang="en-AU" dirty="0"/>
              <a:t>	Rendering the trajectory on screen can be helpful to check early on if the 	generated path of the robot is a viable one (and for you to decide if you 	want to go ahead with this path / waypoint or to generate a new one 	before starting the navigation)</a:t>
            </a:r>
          </a:p>
          <a:p>
            <a:endParaRPr lang="en-AU" dirty="0"/>
          </a:p>
        </p:txBody>
      </p:sp>
      <p:pic>
        <p:nvPicPr>
          <p:cNvPr id="2" name="Picture 1">
            <a:extLst>
              <a:ext uri="{FF2B5EF4-FFF2-40B4-BE49-F238E27FC236}">
                <a16:creationId xmlns:a16="http://schemas.microsoft.com/office/drawing/2014/main" id="{1FC471D2-F34F-4AB8-4F0A-101C3579C249}"/>
              </a:ext>
            </a:extLst>
          </p:cNvPr>
          <p:cNvPicPr>
            <a:picLocks noChangeAspect="1"/>
          </p:cNvPicPr>
          <p:nvPr/>
        </p:nvPicPr>
        <p:blipFill rotWithShape="1">
          <a:blip r:embed="rId2"/>
          <a:srcRect l="3992" t="24240" r="30113" b="4397"/>
          <a:stretch/>
        </p:blipFill>
        <p:spPr>
          <a:xfrm>
            <a:off x="9005853" y="1104222"/>
            <a:ext cx="2989039" cy="3377672"/>
          </a:xfrm>
          <a:prstGeom prst="rect">
            <a:avLst/>
          </a:prstGeom>
        </p:spPr>
      </p:pic>
      <p:sp>
        <p:nvSpPr>
          <p:cNvPr id="4" name="TextBox 3">
            <a:extLst>
              <a:ext uri="{FF2B5EF4-FFF2-40B4-BE49-F238E27FC236}">
                <a16:creationId xmlns:a16="http://schemas.microsoft.com/office/drawing/2014/main" id="{E8BC462E-8726-5A8C-B7B7-50DDBF4F072B}"/>
              </a:ext>
            </a:extLst>
          </p:cNvPr>
          <p:cNvSpPr txBox="1"/>
          <p:nvPr/>
        </p:nvSpPr>
        <p:spPr>
          <a:xfrm>
            <a:off x="666931" y="4481894"/>
            <a:ext cx="11256930" cy="1754326"/>
          </a:xfrm>
          <a:prstGeom prst="rect">
            <a:avLst/>
          </a:prstGeom>
          <a:noFill/>
        </p:spPr>
        <p:txBody>
          <a:bodyPr wrap="square">
            <a:spAutoFit/>
          </a:bodyPr>
          <a:lstStyle/>
          <a:p>
            <a:endParaRPr lang="en-AU" dirty="0"/>
          </a:p>
          <a:p>
            <a:r>
              <a:rPr lang="en-AU" dirty="0"/>
              <a:t>- Path planning selection </a:t>
            </a:r>
            <a:br>
              <a:rPr lang="en-AU" dirty="0"/>
            </a:br>
            <a:r>
              <a:rPr lang="en-AU" dirty="0"/>
              <a:t>	If you are using a stochastic path planning algorithm (or multiple path planning algorithms), it may  	be beneficial to initially generate multiple potential trajectories which the robot can select from</a:t>
            </a:r>
          </a:p>
          <a:p>
            <a:br>
              <a:rPr lang="en-AU" dirty="0"/>
            </a:br>
            <a:r>
              <a:rPr lang="en-AU" dirty="0"/>
              <a:t>	Remember, you can only press ONE button to start your script</a:t>
            </a:r>
          </a:p>
        </p:txBody>
      </p:sp>
    </p:spTree>
    <p:extLst>
      <p:ext uri="{BB962C8B-B14F-4D97-AF65-F5344CB8AC3E}">
        <p14:creationId xmlns:p14="http://schemas.microsoft.com/office/powerpoint/2010/main" val="3936624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11336318" cy="4524315"/>
          </a:xfrm>
          <a:prstGeom prst="rect">
            <a:avLst/>
          </a:prstGeom>
          <a:noFill/>
        </p:spPr>
        <p:txBody>
          <a:bodyPr wrap="square" rtlCol="0">
            <a:spAutoFit/>
          </a:bodyPr>
          <a:lstStyle/>
          <a:p>
            <a:r>
              <a:rPr lang="en-AU" dirty="0">
                <a:solidFill>
                  <a:srgbClr val="FFC000"/>
                </a:solidFill>
              </a:rPr>
              <a:t>- Add a stop button</a:t>
            </a:r>
          </a:p>
          <a:p>
            <a:r>
              <a:rPr lang="en-AU" dirty="0"/>
              <a:t>	</a:t>
            </a:r>
          </a:p>
          <a:p>
            <a:r>
              <a:rPr lang="en-AU" dirty="0"/>
              <a:t>	Adding a stop button that makes the robot wheels stop without shutting the robot down or stopping 	your operate script would save some time and effort when you want to quickly start a new run.</a:t>
            </a:r>
          </a:p>
          <a:p>
            <a:endParaRPr lang="en-AU" dirty="0">
              <a:solidFill>
                <a:srgbClr val="FFC000"/>
              </a:solidFill>
            </a:endParaRPr>
          </a:p>
          <a:p>
            <a:r>
              <a:rPr lang="en-AU" dirty="0">
                <a:solidFill>
                  <a:srgbClr val="FFC000"/>
                </a:solidFill>
              </a:rPr>
              <a:t>- Optimise turning and reverse driving</a:t>
            </a:r>
          </a:p>
          <a:p>
            <a:endParaRPr lang="en-AU" dirty="0"/>
          </a:p>
          <a:p>
            <a:r>
              <a:rPr lang="en-AU" dirty="0"/>
              <a:t>	Turning is the reason to many collisions when your robot gets too close to a marker or a target. 	Optimising robot movements by turning the shorter (as opposed to fixed left turning, for example) 	and allow reverse driving would prevent this. This also reduce the driving time.</a:t>
            </a:r>
          </a:p>
          <a:p>
            <a:endParaRPr lang="en-AU" dirty="0"/>
          </a:p>
          <a:p>
            <a:r>
              <a:rPr lang="en-AU" dirty="0">
                <a:solidFill>
                  <a:srgbClr val="FFC000"/>
                </a:solidFill>
              </a:rPr>
              <a:t>- Clean up your submission</a:t>
            </a:r>
          </a:p>
          <a:p>
            <a:endParaRPr lang="en-AU" dirty="0"/>
          </a:p>
          <a:p>
            <a:r>
              <a:rPr lang="en-AU" dirty="0"/>
              <a:t>	A clean submission prevent the risk of using the wrong files for your final demo, so make sure it only 	contains the files you need.</a:t>
            </a:r>
          </a:p>
          <a:p>
            <a:endParaRPr lang="en-AU" dirty="0"/>
          </a:p>
        </p:txBody>
      </p:sp>
    </p:spTree>
    <p:extLst>
      <p:ext uri="{BB962C8B-B14F-4D97-AF65-F5344CB8AC3E}">
        <p14:creationId xmlns:p14="http://schemas.microsoft.com/office/powerpoint/2010/main" val="4221252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003554"/>
            <a:ext cx="11336318" cy="4524315"/>
          </a:xfrm>
          <a:prstGeom prst="rect">
            <a:avLst/>
          </a:prstGeom>
          <a:noFill/>
        </p:spPr>
        <p:txBody>
          <a:bodyPr wrap="square" rtlCol="0">
            <a:spAutoFit/>
          </a:bodyPr>
          <a:lstStyle/>
          <a:p>
            <a:r>
              <a:rPr lang="en-AU" dirty="0">
                <a:solidFill>
                  <a:srgbClr val="FFC000"/>
                </a:solidFill>
              </a:rPr>
              <a:t>- Optimise sample-based path planner</a:t>
            </a:r>
          </a:p>
          <a:p>
            <a:endParaRPr lang="en-AU" dirty="0"/>
          </a:p>
          <a:p>
            <a:r>
              <a:rPr lang="en-AU" dirty="0"/>
              <a:t>	Sample-based path planners like RRT does not produce the optimal path most of the time, but they 	run very fast. To further optimise this, you can generate multiple potential paths and select the best 	one based on certain criteria. For example:</a:t>
            </a:r>
          </a:p>
          <a:p>
            <a:r>
              <a:rPr lang="en-AU" dirty="0"/>
              <a:t>		- Number of waypoints</a:t>
            </a:r>
          </a:p>
          <a:p>
            <a:r>
              <a:rPr lang="en-AU" dirty="0"/>
              <a:t>		- Total distance travelled</a:t>
            </a:r>
          </a:p>
          <a:p>
            <a:r>
              <a:rPr lang="en-AU" dirty="0"/>
              <a:t>		- Average distance between the waypoints and the obstacles</a:t>
            </a:r>
            <a:endParaRPr lang="en-AU" dirty="0">
              <a:solidFill>
                <a:srgbClr val="FFC000"/>
              </a:solidFill>
            </a:endParaRPr>
          </a:p>
          <a:p>
            <a:endParaRPr lang="en-AU" dirty="0">
              <a:solidFill>
                <a:srgbClr val="FFC000"/>
              </a:solidFill>
            </a:endParaRPr>
          </a:p>
          <a:p>
            <a:r>
              <a:rPr lang="en-AU" dirty="0">
                <a:solidFill>
                  <a:srgbClr val="FFC000"/>
                </a:solidFill>
              </a:rPr>
              <a:t>- Collision detection</a:t>
            </a:r>
          </a:p>
          <a:p>
            <a:r>
              <a:rPr lang="en-AU" dirty="0"/>
              <a:t>	</a:t>
            </a:r>
          </a:p>
          <a:p>
            <a:r>
              <a:rPr lang="en-AU" dirty="0"/>
              <a:t>	Your robot can use its camera to work out the distance towards a marker (using aruco_detector.py) 	for a </a:t>
            </a:r>
            <a:r>
              <a:rPr lang="en-AU" dirty="0" err="1"/>
              <a:t>fruit&amp;veg</a:t>
            </a:r>
            <a:r>
              <a:rPr lang="en-AU" dirty="0"/>
              <a:t> (using detector.py). If the distance is too close, you will want to stop a robot and find 	a detour / back off.</a:t>
            </a:r>
          </a:p>
          <a:p>
            <a:endParaRPr lang="en-AU" dirty="0">
              <a:solidFill>
                <a:srgbClr val="FFC000"/>
              </a:solidFill>
            </a:endParaRPr>
          </a:p>
          <a:p>
            <a:endParaRPr lang="en-AU" dirty="0"/>
          </a:p>
        </p:txBody>
      </p:sp>
    </p:spTree>
    <p:extLst>
      <p:ext uri="{BB962C8B-B14F-4D97-AF65-F5344CB8AC3E}">
        <p14:creationId xmlns:p14="http://schemas.microsoft.com/office/powerpoint/2010/main" val="2773337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003554"/>
            <a:ext cx="11336318" cy="5632311"/>
          </a:xfrm>
          <a:prstGeom prst="rect">
            <a:avLst/>
          </a:prstGeom>
          <a:noFill/>
        </p:spPr>
        <p:txBody>
          <a:bodyPr wrap="square" rtlCol="0">
            <a:spAutoFit/>
          </a:bodyPr>
          <a:lstStyle/>
          <a:p>
            <a:r>
              <a:rPr lang="en-AU" dirty="0">
                <a:solidFill>
                  <a:srgbClr val="FFC000"/>
                </a:solidFill>
              </a:rPr>
              <a:t>- Everything is variable</a:t>
            </a:r>
          </a:p>
          <a:p>
            <a:endParaRPr lang="en-AU" dirty="0">
              <a:solidFill>
                <a:srgbClr val="FFC000"/>
              </a:solidFill>
            </a:endParaRPr>
          </a:p>
          <a:p>
            <a:r>
              <a:rPr lang="en-AU" dirty="0"/>
              <a:t>	As changing the submitted code is not allowed, it’s best not to hardcode your important variables and 	make them dynamic arguments than can be changed by the command line. Some important 	variables:</a:t>
            </a:r>
          </a:p>
          <a:p>
            <a:r>
              <a:rPr lang="en-AU" dirty="0"/>
              <a:t>		- Obstacle radius</a:t>
            </a:r>
          </a:p>
          <a:p>
            <a:r>
              <a:rPr lang="en-AU" dirty="0"/>
              <a:t>		- Distance to the target (to consider collection)</a:t>
            </a:r>
          </a:p>
          <a:p>
            <a:r>
              <a:rPr lang="en-AU" dirty="0"/>
              <a:t>		- Input files name</a:t>
            </a:r>
          </a:p>
          <a:p>
            <a:r>
              <a:rPr lang="en-AU" dirty="0"/>
              <a:t>		- etc.</a:t>
            </a:r>
          </a:p>
          <a:p>
            <a:r>
              <a:rPr lang="en-AU" dirty="0"/>
              <a:t>	Alternative, some of these can even dynamically change while the script is running. For example, if 	your path planner is stuck, you might want to reduce the obstacle radius automatically.</a:t>
            </a:r>
          </a:p>
          <a:p>
            <a:endParaRPr lang="en-AU" dirty="0">
              <a:solidFill>
                <a:srgbClr val="FFC000"/>
              </a:solidFill>
            </a:endParaRPr>
          </a:p>
          <a:p>
            <a:r>
              <a:rPr lang="en-AU" dirty="0">
                <a:solidFill>
                  <a:srgbClr val="FFC000"/>
                </a:solidFill>
              </a:rPr>
              <a:t>- Get out of obstacles</a:t>
            </a:r>
          </a:p>
          <a:p>
            <a:endParaRPr lang="en-AU" dirty="0">
              <a:solidFill>
                <a:srgbClr val="FFC000"/>
              </a:solidFill>
            </a:endParaRPr>
          </a:p>
          <a:p>
            <a:pPr lvl="1"/>
            <a:r>
              <a:rPr lang="en-AU" dirty="0"/>
              <a:t>Sometimes you will find your robot stuck inside an obstacle and all the proposed paths are failed due to collision. Follows are some suggestions:</a:t>
            </a:r>
          </a:p>
          <a:p>
            <a:pPr lvl="1"/>
            <a:r>
              <a:rPr lang="en-AU" dirty="0"/>
              <a:t>	- Reduce the obstacle radius automatically</a:t>
            </a:r>
          </a:p>
          <a:p>
            <a:pPr lvl="1"/>
            <a:r>
              <a:rPr lang="en-AU" dirty="0"/>
              <a:t>	- Trace back to your previous waypoints or origin</a:t>
            </a:r>
          </a:p>
          <a:p>
            <a:pPr lvl="1"/>
            <a:r>
              <a:rPr lang="en-AU" dirty="0"/>
              <a:t>	- Go to a random non-occupied point   </a:t>
            </a:r>
          </a:p>
          <a:p>
            <a:endParaRPr lang="en-AU" dirty="0"/>
          </a:p>
        </p:txBody>
      </p:sp>
    </p:spTree>
    <p:extLst>
      <p:ext uri="{BB962C8B-B14F-4D97-AF65-F5344CB8AC3E}">
        <p14:creationId xmlns:p14="http://schemas.microsoft.com/office/powerpoint/2010/main" val="3747830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7379"/>
            <a:ext cx="11713820" cy="830997"/>
          </a:xfrm>
          <a:prstGeom prst="rect">
            <a:avLst/>
          </a:prstGeom>
          <a:noFill/>
        </p:spPr>
        <p:txBody>
          <a:bodyPr wrap="square" rtlCol="0">
            <a:spAutoFit/>
          </a:bodyPr>
          <a:lstStyle/>
          <a:p>
            <a:pPr algn="ctr"/>
            <a:r>
              <a:rPr lang="en-AU" sz="4800" dirty="0"/>
              <a:t>Final Demo: Mapping</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77CEF6B-BB09-4C7B-EDC5-D0D9FC6E13C5}"/>
                  </a:ext>
                </a:extLst>
              </p:cNvPr>
              <p:cNvSpPr txBox="1"/>
              <p:nvPr/>
            </p:nvSpPr>
            <p:spPr>
              <a:xfrm>
                <a:off x="478180" y="838376"/>
                <a:ext cx="11588314" cy="7365093"/>
              </a:xfrm>
              <a:prstGeom prst="rect">
                <a:avLst/>
              </a:prstGeom>
              <a:noFill/>
            </p:spPr>
            <p:txBody>
              <a:bodyPr wrap="square" rtlCol="0">
                <a:spAutoFit/>
              </a:bodyPr>
              <a:lstStyle/>
              <a:p>
                <a:endParaRPr lang="en-US" sz="1600" dirty="0"/>
              </a:p>
              <a:p>
                <a:r>
                  <a:rPr lang="en-US" sz="1600" dirty="0"/>
                  <a:t>Mapping (30 points):</a:t>
                </a:r>
              </a:p>
              <a:p>
                <a:r>
                  <a:rPr lang="en-US" sz="1600" dirty="0"/>
                  <a:t>	</a:t>
                </a:r>
                <a:r>
                  <a:rPr lang="en-US" sz="1600" dirty="0" err="1"/>
                  <a:t>ArUco</a:t>
                </a:r>
                <a:r>
                  <a:rPr lang="en-US" sz="1600" dirty="0"/>
                  <a:t> slam map (0 ≤ </a:t>
                </a:r>
                <a:r>
                  <a:rPr lang="en-US" sz="1600" dirty="0" err="1"/>
                  <a:t>slam_score</a:t>
                </a:r>
                <a:r>
                  <a:rPr lang="en-US" sz="1600" dirty="0"/>
                  <a:t> ≤ 15pt): </a:t>
                </a:r>
              </a:p>
              <a:p>
                <a:endParaRPr lang="en-US" sz="1600" dirty="0"/>
              </a:p>
              <a:p>
                <a:endParaRPr lang="en-US" sz="1600" dirty="0"/>
              </a:p>
              <a:p>
                <a:r>
                  <a:rPr lang="en-US" sz="1600" dirty="0"/>
                  <a:t>	</a:t>
                </a:r>
              </a:p>
              <a:p>
                <a:r>
                  <a:rPr lang="en-US" sz="1600" dirty="0"/>
                  <a:t>Target map (0 ≤ </a:t>
                </a:r>
                <a:r>
                  <a:rPr lang="en-US" sz="1600" dirty="0" err="1"/>
                  <a:t>target_est_score</a:t>
                </a:r>
                <a:r>
                  <a:rPr lang="en-US" sz="1600" dirty="0"/>
                  <a:t> ≤ 15pt):</a:t>
                </a:r>
              </a:p>
              <a:p>
                <a:pPr algn="ctr"/>
                <a:r>
                  <a:rPr lang="en-US" sz="1600" dirty="0"/>
                  <a:t>	</a:t>
                </a:r>
                <a:r>
                  <a:rPr lang="en-GB" sz="1600" dirty="0">
                    <a:solidFill>
                      <a:srgbClr val="FFFF00"/>
                    </a:solidFill>
                  </a:rPr>
                  <a:t> </a:t>
                </a:r>
                <a:r>
                  <a:rPr lang="en-GB" sz="1600" dirty="0">
                    <a:solidFill>
                      <a:schemeClr val="tx1"/>
                    </a:solidFill>
                  </a:rPr>
                  <a:t>target_accuracy_rating[object] = </a:t>
                </a:r>
                <a14:m>
                  <m:oMath xmlns:m="http://schemas.openxmlformats.org/officeDocument/2006/math">
                    <m:f>
                      <m:fPr>
                        <m:ctrlPr>
                          <a:rPr lang="en-GB" sz="1600" i="1" dirty="0" smtClean="0">
                            <a:solidFill>
                              <a:schemeClr val="tx1"/>
                            </a:solidFill>
                            <a:latin typeface="Cambria Math" panose="02040503050406030204" pitchFamily="18" charset="0"/>
                          </a:rPr>
                        </m:ctrlPr>
                      </m:fPr>
                      <m:num>
                        <m:r>
                          <a:rPr lang="en-GB" sz="1600" i="1" dirty="0" smtClean="0">
                            <a:solidFill>
                              <a:schemeClr val="tx1"/>
                            </a:solidFill>
                            <a:latin typeface="Cambria Math" panose="02040503050406030204" pitchFamily="18" charset="0"/>
                          </a:rPr>
                          <m:t>0.5 − </m:t>
                        </m:r>
                        <m:r>
                          <a:rPr lang="en-GB" sz="1600" i="1" dirty="0" err="1">
                            <a:solidFill>
                              <a:schemeClr val="tx1"/>
                            </a:solidFill>
                            <a:latin typeface="Cambria Math" panose="02040503050406030204" pitchFamily="18" charset="0"/>
                          </a:rPr>
                          <m:t>𝑒𝑠𝑡𝑖𝑚𝑎𝑡𝑖𝑜𝑛</m:t>
                        </m:r>
                        <m:r>
                          <a:rPr lang="en-AU" sz="1600" b="0" i="1" dirty="0" smtClean="0">
                            <a:solidFill>
                              <a:schemeClr val="tx1"/>
                            </a:solidFill>
                            <a:latin typeface="Cambria Math" panose="02040503050406030204" pitchFamily="18" charset="0"/>
                          </a:rPr>
                          <m:t>_</m:t>
                        </m:r>
                        <m:r>
                          <a:rPr lang="en-GB" sz="1600" i="1" dirty="0" err="1">
                            <a:solidFill>
                              <a:schemeClr val="tx1"/>
                            </a:solidFill>
                            <a:latin typeface="Cambria Math" panose="02040503050406030204" pitchFamily="18" charset="0"/>
                          </a:rPr>
                          <m:t>𝑒𝑟𝑟𝑜𝑟</m:t>
                        </m:r>
                        <m:d>
                          <m:dPr>
                            <m:begChr m:val="["/>
                            <m:endChr m:val="]"/>
                            <m:ctrlPr>
                              <a:rPr lang="en-GB" sz="1600" i="1" dirty="0">
                                <a:solidFill>
                                  <a:schemeClr val="tx1"/>
                                </a:solidFill>
                                <a:latin typeface="Cambria Math" panose="02040503050406030204" pitchFamily="18" charset="0"/>
                              </a:rPr>
                            </m:ctrlPr>
                          </m:dPr>
                          <m:e>
                            <m:r>
                              <a:rPr lang="en-GB" sz="1600" i="1" dirty="0">
                                <a:solidFill>
                                  <a:schemeClr val="tx1"/>
                                </a:solidFill>
                                <a:latin typeface="Cambria Math" panose="02040503050406030204" pitchFamily="18" charset="0"/>
                              </a:rPr>
                              <m:t>𝑜𝑏𝑗𝑒𝑐𝑡</m:t>
                            </m:r>
                          </m:e>
                        </m:d>
                      </m:num>
                      <m:den>
                        <m:r>
                          <a:rPr lang="en-GB" sz="1600" i="1" dirty="0">
                            <a:solidFill>
                              <a:schemeClr val="tx1"/>
                            </a:solidFill>
                            <a:latin typeface="Cambria Math" panose="02040503050406030204" pitchFamily="18" charset="0"/>
                          </a:rPr>
                          <m:t>0.5−0.025</m:t>
                        </m:r>
                      </m:den>
                    </m:f>
                    <m:r>
                      <a:rPr lang="en-GB" sz="1600" i="1" dirty="0" smtClean="0">
                        <a:solidFill>
                          <a:schemeClr val="tx1"/>
                        </a:solidFill>
                        <a:latin typeface="Cambria Math" panose="02040503050406030204" pitchFamily="18" charset="0"/>
                      </a:rPr>
                      <m:t> </m:t>
                    </m:r>
                  </m:oMath>
                </a14:m>
                <a:r>
                  <a:rPr lang="en-GB" sz="1600" dirty="0">
                    <a:solidFill>
                      <a:schemeClr val="tx1"/>
                    </a:solidFill>
                  </a:rPr>
                  <a:t>= TAR</a:t>
                </a:r>
                <a:r>
                  <a:rPr lang="en-GB" sz="1600" dirty="0">
                    <a:solidFill>
                      <a:srgbClr val="FFFF00"/>
                    </a:solidFill>
                  </a:rPr>
                  <a:t>	</a:t>
                </a:r>
              </a:p>
              <a:p>
                <a:pPr algn="ctr"/>
                <a:r>
                  <a:rPr lang="en-GB" sz="1600" dirty="0" err="1">
                    <a:solidFill>
                      <a:schemeClr val="tx1"/>
                    </a:solidFill>
                  </a:rPr>
                  <a:t>target_est_score</a:t>
                </a:r>
                <a:r>
                  <a:rPr lang="en-GB" sz="1600" dirty="0">
                    <a:solidFill>
                      <a:schemeClr val="tx1"/>
                    </a:solidFill>
                  </a:rPr>
                  <a:t> = </a:t>
                </a:r>
                <a14:m>
                  <m:oMath xmlns:m="http://schemas.openxmlformats.org/officeDocument/2006/math">
                    <m:f>
                      <m:fPr>
                        <m:ctrlPr>
                          <a:rPr lang="en-GB" sz="1600" i="1" dirty="0">
                            <a:solidFill>
                              <a:schemeClr val="tx1"/>
                            </a:solidFill>
                            <a:latin typeface="Cambria Math" panose="02040503050406030204" pitchFamily="18" charset="0"/>
                          </a:rPr>
                        </m:ctrlPr>
                      </m:fPr>
                      <m:num>
                        <m:r>
                          <a:rPr lang="en-GB" sz="1600" i="1" dirty="0" err="1">
                            <a:solidFill>
                              <a:schemeClr val="tx1"/>
                            </a:solidFill>
                            <a:latin typeface="Cambria Math" panose="02040503050406030204" pitchFamily="18" charset="0"/>
                          </a:rPr>
                          <m:t>𝑏𝑎𝑠</m:t>
                        </m:r>
                        <m:sSup>
                          <m:sSupPr>
                            <m:ctrlPr>
                              <a:rPr lang="en-GB" sz="1600" i="1" dirty="0" err="1">
                                <a:solidFill>
                                  <a:schemeClr val="tx1"/>
                                </a:solidFill>
                                <a:latin typeface="Cambria Math" panose="02040503050406030204" pitchFamily="18" charset="0"/>
                              </a:rPr>
                            </m:ctrlPr>
                          </m:sSupPr>
                          <m:e>
                            <m:r>
                              <a:rPr lang="en-GB" sz="1600" i="1" dirty="0" err="1">
                                <a:solidFill>
                                  <a:schemeClr val="tx1"/>
                                </a:solidFill>
                                <a:latin typeface="Cambria Math" panose="02040503050406030204" pitchFamily="18" charset="0"/>
                              </a:rPr>
                              <m:t>𝑒</m:t>
                            </m:r>
                          </m:e>
                          <m:sup>
                            <m:r>
                              <a:rPr lang="en-GB" sz="1600" i="1" dirty="0" err="1">
                                <a:solidFill>
                                  <a:schemeClr val="tx1"/>
                                </a:solidFill>
                                <a:latin typeface="Cambria Math" panose="02040503050406030204" pitchFamily="18" charset="0"/>
                              </a:rPr>
                              <m:t>𝑚𝑒𝑎𝑛</m:t>
                            </m:r>
                            <m:d>
                              <m:dPr>
                                <m:ctrlPr>
                                  <a:rPr lang="en-GB" sz="1600" i="1" dirty="0">
                                    <a:solidFill>
                                      <a:schemeClr val="tx1"/>
                                    </a:solidFill>
                                    <a:latin typeface="Cambria Math" panose="02040503050406030204" pitchFamily="18" charset="0"/>
                                  </a:rPr>
                                </m:ctrlPr>
                              </m:dPr>
                              <m:e>
                                <m:r>
                                  <a:rPr lang="en-GB" sz="1600" i="1" dirty="0">
                                    <a:solidFill>
                                      <a:schemeClr val="tx1"/>
                                    </a:solidFill>
                                    <a:latin typeface="Cambria Math" panose="02040503050406030204" pitchFamily="18" charset="0"/>
                                  </a:rPr>
                                  <m:t>𝑇𝐴𝑅</m:t>
                                </m:r>
                              </m:e>
                            </m:d>
                          </m:sup>
                        </m:sSup>
                        <m:r>
                          <a:rPr lang="en-GB" sz="1600" i="1" dirty="0">
                            <a:solidFill>
                              <a:schemeClr val="tx1"/>
                            </a:solidFill>
                            <a:latin typeface="Cambria Math" panose="02040503050406030204" pitchFamily="18" charset="0"/>
                          </a:rPr>
                          <m:t>– 1</m:t>
                        </m:r>
                      </m:num>
                      <m:den>
                        <m:r>
                          <a:rPr lang="en-GB" sz="1600" i="1" dirty="0">
                            <a:solidFill>
                              <a:schemeClr val="tx1"/>
                            </a:solidFill>
                            <a:latin typeface="Cambria Math" panose="02040503050406030204" pitchFamily="18" charset="0"/>
                          </a:rPr>
                          <m:t>𝑏𝑎𝑠𝑒</m:t>
                        </m:r>
                        <m:r>
                          <a:rPr lang="en-GB" sz="1600" i="1" dirty="0">
                            <a:solidFill>
                              <a:schemeClr val="tx1"/>
                            </a:solidFill>
                            <a:latin typeface="Cambria Math" panose="02040503050406030204" pitchFamily="18" charset="0"/>
                          </a:rPr>
                          <m:t> – 1</m:t>
                        </m:r>
                      </m:den>
                    </m:f>
                    <m:r>
                      <a:rPr lang="en-GB" sz="1600" i="1" dirty="0">
                        <a:solidFill>
                          <a:schemeClr val="tx1"/>
                        </a:solidFill>
                        <a:latin typeface="Cambria Math" panose="02040503050406030204" pitchFamily="18" charset="0"/>
                      </a:rPr>
                      <m:t> ∗</m:t>
                    </m:r>
                    <m:r>
                      <a:rPr lang="en-AU" sz="1600" b="0" i="1" dirty="0" smtClean="0">
                        <a:solidFill>
                          <a:schemeClr val="tx1"/>
                        </a:solidFill>
                        <a:latin typeface="Cambria Math" panose="02040503050406030204" pitchFamily="18" charset="0"/>
                      </a:rPr>
                      <m:t>15</m:t>
                    </m:r>
                  </m:oMath>
                </a14:m>
                <a:r>
                  <a:rPr lang="en-GB" sz="1600" dirty="0">
                    <a:solidFill>
                      <a:schemeClr val="tx1"/>
                    </a:solidFill>
                  </a:rPr>
                  <a:t>, base = 8</a:t>
                </a:r>
              </a:p>
              <a:p>
                <a:pPr algn="ctr"/>
                <a:endParaRPr lang="en-GB" sz="1600" dirty="0">
                  <a:solidFill>
                    <a:schemeClr val="tx1"/>
                  </a:solidFill>
                </a:endParaRPr>
              </a:p>
              <a:p>
                <a:r>
                  <a:rPr lang="en-GB" sz="1600" dirty="0">
                    <a:solidFill>
                      <a:schemeClr val="tx1"/>
                    </a:solidFill>
                  </a:rPr>
                  <a:t>Example submission folder structure format (Please read the marking instructions </a:t>
                </a:r>
                <a:r>
                  <a:rPr lang="en-GB" sz="1600">
                    <a:solidFill>
                      <a:schemeClr val="tx1"/>
                    </a:solidFill>
                  </a:rPr>
                  <a:t>carefully for this!):</a:t>
                </a:r>
                <a:endParaRPr lang="en-GB" sz="1600" dirty="0">
                  <a:solidFill>
                    <a:schemeClr val="tx1"/>
                  </a:solidFill>
                </a:endParaRPr>
              </a:p>
              <a:p>
                <a:r>
                  <a:rPr lang="en-AU" dirty="0"/>
                  <a:t>.</a:t>
                </a:r>
              </a:p>
              <a:p>
                <a:r>
                  <a:rPr lang="en-AU" dirty="0"/>
                  <a:t>├── C2_Team_X0</a:t>
                </a:r>
              </a:p>
              <a:p>
                <a:r>
                  <a:rPr lang="en-AU" dirty="0"/>
                  <a:t>│   ├── slam_auto_4.txt</a:t>
                </a:r>
              </a:p>
              <a:p>
                <a:r>
                  <a:rPr lang="en-AU" dirty="0"/>
                  <a:t>│   ├── slam_manual_1.txt</a:t>
                </a:r>
              </a:p>
              <a:p>
                <a:r>
                  <a:rPr lang="en-AU" dirty="0"/>
                  <a:t>│   ├── slam_manual_2.txt</a:t>
                </a:r>
              </a:p>
              <a:p>
                <a:r>
                  <a:rPr lang="en-AU" dirty="0"/>
                  <a:t>│   ├── targets_auto_4.txt</a:t>
                </a:r>
              </a:p>
              <a:p>
                <a:r>
                  <a:rPr lang="en-AU" dirty="0"/>
                  <a:t>│   ├── targets_manual_1.txt </a:t>
                </a:r>
              </a:p>
              <a:p>
                <a:r>
                  <a:rPr lang="en-AU" dirty="0"/>
                  <a:t>│   ├── targets_manual_2.txt </a:t>
                </a:r>
              </a:p>
              <a:p>
                <a:endParaRPr lang="en-GB" sz="1400" dirty="0"/>
              </a:p>
              <a:p>
                <a:br>
                  <a:rPr lang="en-GB" dirty="0"/>
                </a:br>
                <a:endParaRPr lang="en-GB" dirty="0"/>
              </a:p>
              <a:p>
                <a:pPr algn="ctr"/>
                <a:endParaRPr lang="en-GB" sz="1600" dirty="0">
                  <a:solidFill>
                    <a:schemeClr val="tx1"/>
                  </a:solidFill>
                </a:endParaRPr>
              </a:p>
              <a:p>
                <a:pPr algn="ctr"/>
                <a:endParaRPr lang="en-US" sz="1600" dirty="0">
                  <a:solidFill>
                    <a:schemeClr val="tx1"/>
                  </a:solidFill>
                </a:endParaRPr>
              </a:p>
              <a:p>
                <a:endParaRPr lang="en-US" sz="1600" dirty="0"/>
              </a:p>
            </p:txBody>
          </p:sp>
        </mc:Choice>
        <mc:Fallback xmlns="">
          <p:sp>
            <p:nvSpPr>
              <p:cNvPr id="5" name="TextBox 4">
                <a:extLst>
                  <a:ext uri="{FF2B5EF4-FFF2-40B4-BE49-F238E27FC236}">
                    <a16:creationId xmlns:a16="http://schemas.microsoft.com/office/drawing/2014/main" id="{777CEF6B-BB09-4C7B-EDC5-D0D9FC6E13C5}"/>
                  </a:ext>
                </a:extLst>
              </p:cNvPr>
              <p:cNvSpPr txBox="1">
                <a:spLocks noRot="1" noChangeAspect="1" noMove="1" noResize="1" noEditPoints="1" noAdjustHandles="1" noChangeArrowheads="1" noChangeShapeType="1" noTextEdit="1"/>
              </p:cNvSpPr>
              <p:nvPr/>
            </p:nvSpPr>
            <p:spPr>
              <a:xfrm>
                <a:off x="478180" y="838376"/>
                <a:ext cx="11588314" cy="7365093"/>
              </a:xfrm>
              <a:prstGeom prst="rect">
                <a:avLst/>
              </a:prstGeom>
              <a:blipFill>
                <a:blip r:embed="rId2"/>
                <a:stretch>
                  <a:fillRect l="-421"/>
                </a:stretch>
              </a:blipFill>
            </p:spPr>
            <p:txBody>
              <a:bodyPr/>
              <a:lstStyle/>
              <a:p>
                <a:r>
                  <a:rPr lang="en-AU">
                    <a:noFill/>
                  </a:rPr>
                  <a:t> </a:t>
                </a:r>
              </a:p>
            </p:txBody>
          </p:sp>
        </mc:Fallback>
      </mc:AlternateContent>
    </p:spTree>
    <p:extLst>
      <p:ext uri="{BB962C8B-B14F-4D97-AF65-F5344CB8AC3E}">
        <p14:creationId xmlns:p14="http://schemas.microsoft.com/office/powerpoint/2010/main" val="996172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3B4D5-75D1-5E9D-D7AA-EC20CE52AB27}"/>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AF9AD15C-3374-C999-432E-189131AF1255}"/>
              </a:ext>
            </a:extLst>
          </p:cNvPr>
          <p:cNvSpPr txBox="1"/>
          <p:nvPr/>
        </p:nvSpPr>
        <p:spPr>
          <a:xfrm>
            <a:off x="478180" y="7379"/>
            <a:ext cx="11713820" cy="830997"/>
          </a:xfrm>
          <a:prstGeom prst="rect">
            <a:avLst/>
          </a:prstGeom>
          <a:noFill/>
        </p:spPr>
        <p:txBody>
          <a:bodyPr wrap="square" rtlCol="0">
            <a:spAutoFit/>
          </a:bodyPr>
          <a:lstStyle/>
          <a:p>
            <a:pPr algn="ctr"/>
            <a:r>
              <a:rPr lang="en-AU" sz="4800" dirty="0"/>
              <a:t>Final Demo: Navigation</a:t>
            </a:r>
          </a:p>
        </p:txBody>
      </p:sp>
      <p:sp>
        <p:nvSpPr>
          <p:cNvPr id="5" name="TextBox 4">
            <a:extLst>
              <a:ext uri="{FF2B5EF4-FFF2-40B4-BE49-F238E27FC236}">
                <a16:creationId xmlns:a16="http://schemas.microsoft.com/office/drawing/2014/main" id="{E4632F9E-F91D-E5AD-EB97-9AF00468704C}"/>
              </a:ext>
            </a:extLst>
          </p:cNvPr>
          <p:cNvSpPr txBox="1"/>
          <p:nvPr/>
        </p:nvSpPr>
        <p:spPr>
          <a:xfrm>
            <a:off x="478180" y="723232"/>
            <a:ext cx="11588314" cy="5693866"/>
          </a:xfrm>
          <a:prstGeom prst="rect">
            <a:avLst/>
          </a:prstGeom>
          <a:noFill/>
        </p:spPr>
        <p:txBody>
          <a:bodyPr wrap="square" rtlCol="0">
            <a:spAutoFit/>
          </a:bodyPr>
          <a:lstStyle/>
          <a:p>
            <a:r>
              <a:rPr lang="en-US" sz="1600" dirty="0"/>
              <a:t>Full auto navigation (max 70 points)</a:t>
            </a:r>
            <a:r>
              <a:rPr lang="en-AU" sz="1600" dirty="0"/>
              <a:t>:</a:t>
            </a:r>
            <a:endParaRPr lang="en-GB" dirty="0"/>
          </a:p>
          <a:p>
            <a:pPr marL="285750" indent="-285750">
              <a:buFont typeface="Arial" panose="020B0604020202020204" pitchFamily="34" charset="0"/>
              <a:buChar char="•"/>
            </a:pPr>
            <a:r>
              <a:rPr lang="en-GB" dirty="0"/>
              <a:t>Level 1  </a:t>
            </a:r>
          </a:p>
          <a:p>
            <a:pPr marL="742950" lvl="1" indent="-285750">
              <a:buFont typeface="Arial" panose="020B0604020202020204" pitchFamily="34" charset="0"/>
              <a:buChar char="•"/>
            </a:pPr>
            <a:r>
              <a:rPr lang="en-GB" dirty="0"/>
              <a:t>15 marks awarded for a qualified run.  </a:t>
            </a:r>
          </a:p>
          <a:p>
            <a:pPr marL="742950" lvl="1" indent="-285750">
              <a:buFont typeface="Arial" panose="020B0604020202020204" pitchFamily="34" charset="0"/>
              <a:buChar char="•"/>
            </a:pPr>
            <a:r>
              <a:rPr lang="en-GB" dirty="0"/>
              <a:t>Each successful collection (within 0.3 m, in the correct shopping list order) is worth 5 marks.  </a:t>
            </a:r>
          </a:p>
          <a:p>
            <a:pPr marL="742950" lvl="1" indent="-285750">
              <a:buFont typeface="Arial" panose="020B0604020202020204" pitchFamily="34" charset="0"/>
              <a:buChar char="•"/>
            </a:pPr>
            <a:r>
              <a:rPr lang="en-GB" dirty="0"/>
              <a:t>Maximum contribution: 40% of 70%.  </a:t>
            </a:r>
          </a:p>
          <a:p>
            <a:pPr marL="285750" indent="-285750">
              <a:buFont typeface="Arial" panose="020B0604020202020204" pitchFamily="34" charset="0"/>
              <a:buChar char="•"/>
            </a:pPr>
            <a:r>
              <a:rPr lang="en-GB" dirty="0"/>
              <a:t>Level 2  </a:t>
            </a:r>
          </a:p>
          <a:p>
            <a:pPr marL="742950" lvl="1" indent="-285750">
              <a:buFont typeface="Arial" panose="020B0604020202020204" pitchFamily="34" charset="0"/>
              <a:buChar char="•"/>
            </a:pPr>
            <a:r>
              <a:rPr lang="en-GB" dirty="0"/>
              <a:t>25 marks awarded for a qualified run.  </a:t>
            </a:r>
          </a:p>
          <a:p>
            <a:pPr marL="742950" lvl="1" indent="-285750">
              <a:buFont typeface="Arial" panose="020B0604020202020204" pitchFamily="34" charset="0"/>
              <a:buChar char="•"/>
            </a:pPr>
            <a:r>
              <a:rPr lang="en-GB" dirty="0"/>
              <a:t>Each successful collection (within 0.3 m, in the correct shopping list order) is worth 5 marks.  </a:t>
            </a:r>
          </a:p>
          <a:p>
            <a:pPr marL="742950" lvl="1" indent="-285750">
              <a:buFont typeface="Arial" panose="020B0604020202020204" pitchFamily="34" charset="0"/>
              <a:buChar char="•"/>
            </a:pPr>
            <a:r>
              <a:rPr lang="en-GB" dirty="0"/>
              <a:t>Maximum contribution: 50% of 70%.  </a:t>
            </a:r>
          </a:p>
          <a:p>
            <a:pPr marL="285750" indent="-285750">
              <a:buFont typeface="Arial" panose="020B0604020202020204" pitchFamily="34" charset="0"/>
              <a:buChar char="•"/>
            </a:pPr>
            <a:r>
              <a:rPr lang="en-GB" dirty="0"/>
              <a:t>Level 3  </a:t>
            </a:r>
          </a:p>
          <a:p>
            <a:pPr marL="742950" lvl="1" indent="-285750">
              <a:buFont typeface="Arial" panose="020B0604020202020204" pitchFamily="34" charset="0"/>
              <a:buChar char="•"/>
            </a:pPr>
            <a:r>
              <a:rPr lang="en-GB" dirty="0"/>
              <a:t>30 marks awarded for a qualified run.  </a:t>
            </a:r>
          </a:p>
          <a:p>
            <a:pPr marL="742950" lvl="1" indent="-285750">
              <a:buFont typeface="Arial" panose="020B0604020202020204" pitchFamily="34" charset="0"/>
              <a:buChar char="•"/>
            </a:pPr>
            <a:r>
              <a:rPr lang="en-GB" dirty="0"/>
              <a:t>Each successful collection (within 0.3 m, in the correct shopping list order) is worth 8 marks.  </a:t>
            </a:r>
          </a:p>
          <a:p>
            <a:pPr marL="742950" lvl="1" indent="-285750">
              <a:buFont typeface="Arial" panose="020B0604020202020204" pitchFamily="34" charset="0"/>
              <a:buChar char="•"/>
            </a:pPr>
            <a:r>
              <a:rPr lang="en-GB" dirty="0"/>
              <a:t>Maximum contribution: 100% of the Navigation mark (i.e. full 70%).  </a:t>
            </a:r>
            <a:endParaRPr lang="en-US" sz="1600" dirty="0"/>
          </a:p>
          <a:p>
            <a:r>
              <a:rPr lang="en-US" sz="1600" dirty="0"/>
              <a:t>	</a:t>
            </a:r>
          </a:p>
          <a:p>
            <a:r>
              <a:rPr lang="en-US" sz="1600" dirty="0"/>
              <a:t>Penalties (Max of 5 penalties total,):</a:t>
            </a:r>
          </a:p>
          <a:p>
            <a:r>
              <a:rPr lang="en-US" sz="1600" dirty="0"/>
              <a:t>	-5 points for any collision</a:t>
            </a:r>
          </a:p>
          <a:p>
            <a:endParaRPr lang="en-US" sz="1600" dirty="0"/>
          </a:p>
          <a:p>
            <a:r>
              <a:rPr lang="en-US" sz="1600" dirty="0"/>
              <a:t>Marks for reaching objects will always count, however you cannot stop a run manually until a run is qualified</a:t>
            </a:r>
          </a:p>
          <a:p>
            <a:endParaRPr lang="en-US" sz="1600" dirty="0"/>
          </a:p>
          <a:p>
            <a:r>
              <a:rPr lang="en-US" sz="1600" dirty="0"/>
              <a:t>More info see Week11/README.md</a:t>
            </a:r>
            <a:endParaRPr lang="en-US" dirty="0">
              <a:solidFill>
                <a:schemeClr val="tx1"/>
              </a:solidFill>
            </a:endParaRPr>
          </a:p>
          <a:p>
            <a:endParaRPr lang="en-US" sz="1600" dirty="0"/>
          </a:p>
        </p:txBody>
      </p:sp>
    </p:spTree>
    <p:extLst>
      <p:ext uri="{BB962C8B-B14F-4D97-AF65-F5344CB8AC3E}">
        <p14:creationId xmlns:p14="http://schemas.microsoft.com/office/powerpoint/2010/main" val="220072938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2106</TotalTime>
  <Words>1326</Words>
  <Application>Microsoft Office PowerPoint</Application>
  <PresentationFormat>Widescreen</PresentationFormat>
  <Paragraphs>159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Cambria Math</vt:lpstr>
      <vt:lpstr>Century Schoolbook</vt:lpstr>
      <vt:lpstr>Wingdings 2</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Kal</dc:creator>
  <cp:lastModifiedBy>Aaron Choong</cp:lastModifiedBy>
  <cp:revision>387</cp:revision>
  <dcterms:created xsi:type="dcterms:W3CDTF">2020-08-07T03:38:28Z</dcterms:created>
  <dcterms:modified xsi:type="dcterms:W3CDTF">2025-10-03T07:39:43Z</dcterms:modified>
</cp:coreProperties>
</file>